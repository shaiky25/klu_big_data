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6858000" cx="12191675"/>
  <p:notesSz cx="6858000" cy="9144000"/>
  <p:embeddedFontLst>
    <p:embeddedFont>
      <p:font typeface="Inter"/>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1" roundtripDataSignature="AMtx7mgN8cVu94bQ7mXV907725702cAE7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DC61D44-FBB2-4632-956C-AD5BED243261}">
  <a:tblStyle styleId="{8DC61D44-FBB2-4632-956C-AD5BED243261}"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Inter-bold.fntdata"/><Relationship Id="rId27" Type="http://schemas.openxmlformats.org/officeDocument/2006/relationships/font" Target="fonts/Inter-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Inter-italic.fntdata"/><Relationship Id="rId7" Type="http://schemas.openxmlformats.org/officeDocument/2006/relationships/slide" Target="slides/slide1.xml"/><Relationship Id="rId8" Type="http://schemas.openxmlformats.org/officeDocument/2006/relationships/slide" Target="slides/slide2.xml"/><Relationship Id="rId31" Type="http://customschemas.google.com/relationships/presentationmetadata" Target="metadata"/><Relationship Id="rId30" Type="http://schemas.openxmlformats.org/officeDocument/2006/relationships/font" Target="fonts/Inter-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 name="Google Shape;8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slide, pitched at beginners — no assumed background beyond basic algebra. This session (08/25/2026) introduces the ML/DL algorithm toolbox at an intuitive level: what each method does, why it works, and when you'd reach for it. Walk through the roadmap in plain language before diving into any formulas so the class has a mental map of where we're headed.</a:t>
            </a:r>
            <a:endParaRPr/>
          </a:p>
        </p:txBody>
      </p:sp>
      <p:sp>
        <p:nvSpPr>
          <p:cNvPr id="84" name="Google Shape;84;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ad43f2046_0_26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 name="Google Shape;98;g3fad43f2046_0_26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Ground the whole session before any formulas: traditional software is rules-in, answers-out; ML is examples-in, rules-out. Every algorithm we cover today — no matter how different it looks — is just a different choice of Representation + Evaluation + Optimization. The analytics maturity ladder also helps place today's material: most of what follows is 'predictive' analytics, building on the descriptive/diagnostic techniques from earlier sessions.</a:t>
            </a:r>
            <a:endParaRPr/>
          </a:p>
        </p:txBody>
      </p:sp>
      <p:sp>
        <p:nvSpPr>
          <p:cNvPr id="99" name="Google Shape;99;g3fad43f2046_0_26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Running example for this slide: predicting house price from square footage. Two ways to fit the same line: solve for it directly with the Normal Equation, or walk toward it step by step with Gradient Descent — like a hiker in the fog feeling out the steepest downhill direction at every step until they reach the valley floor. The direct formula gets expensive with lots of features, which is when gradient descent — and the regularization we cover next — become useful.</a:t>
            </a:r>
            <a:endParaRPr/>
          </a:p>
        </p:txBody>
      </p:sp>
      <p:sp>
        <p:nvSpPr>
          <p:cNvPr id="115" name="Google Shape;115;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Running example: predicting whether a loan applicant will default, using income and debt as features. Logistic regression takes a weighted sum of the inputs (just like linear regression) but then runs it through the sigmoid function so the output is always a valid probability between 0 and 1. Training nudges the weights so predicted probabilities line up with the true yes/no labels. Softmax is the same trick generalized to picking among several categories at once.</a:t>
            </a:r>
            <a:endParaRPr/>
          </a:p>
        </p:txBody>
      </p:sp>
      <p:sp>
        <p:nvSpPr>
          <p:cNvPr id="135" name="Google Shape;135;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problem: a model that fits the training data too perfectly often fits its noise too (overfitting). Regularization fixes this by penalizing the model for using large coefficients — it's a 'keep it simple' rule. Ridge shrinks everything a bit; Lasso can shrink some features all the way to zero, effectively deciding they're not needed at all.</a:t>
            </a:r>
            <a:endParaRPr/>
          </a:p>
        </p:txBody>
      </p:sp>
      <p:sp>
        <p:nvSpPr>
          <p:cNvPr id="156" name="Google Shape;156;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k-NN is the most intuitive algorithm in the deck: just look at what's nearby and go with that. The two design choices that matter are the distance metric (how do we measure 'nearby') and k (how many neighbors to consult). Emphasize that it needs scaled features and struggles as the number of features grows — a gentle first mention of the 'curse of dimensionality'.</a:t>
            </a:r>
            <a:endParaRPr/>
          </a:p>
        </p:txBody>
      </p:sp>
      <p:sp>
        <p:nvSpPr>
          <p:cNvPr id="172" name="Google Shape;172;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fad43f2046_8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fad43f2046_8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fad43f2046_80_5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fad43f2046_80_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fad43f2046_80_7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fad43f2046_8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fad43f2046_80_2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fad43f2046_8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fad43f2046_8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fad43f2046_8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6" name="Google Shape;236;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Random Forest is the 'wisdom of the crowd' idea applied to trees: many imperfect, slightly different trees, averaged together, tend to outperform any single one. The two sources of randomness — random data samples and random feature subsets per split — are what make the trees different enough from each other for averaging to actually help.</a:t>
            </a:r>
            <a:endParaRPr/>
          </a:p>
        </p:txBody>
      </p:sp>
      <p:sp>
        <p:nvSpPr>
          <p:cNvPr id="237" name="Google Shape;237;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fad43f2046_8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fad43f2046_8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Boosting builds trees sequentially instead of in parallel: each new tree is trained specifically to correct the mistakes the ensemble has made so far. This tends to produce very accurate models but needs care to avoid overfitting, since it will happily keep chasing residual errors. XGBoost and LightGBM are fast, well-regularized implementations of this idea.</a:t>
            </a:r>
            <a:endParaRPr/>
          </a:p>
        </p:txBody>
      </p:sp>
      <p:sp>
        <p:nvSpPr>
          <p:cNvPr id="254" name="Google Shape;254;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fad43f2046_8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fad43f2046_8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fad43f2046_8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fad43f2046_8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fad43f2046_80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fad43f2046_8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9" name="Google Shape;279;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mechanism behind today's large language models, so it's worth spending real time on the intuition before showing the formula. The core idea: for every word, compute how much it should 'pay attention to' every other word, then combine information accordingly. The formula is just the precise, matrix version of that same idea — show it, but don't dwell on the linear algebra with a beginner audience.</a:t>
            </a:r>
            <a:endParaRPr/>
          </a:p>
        </p:txBody>
      </p:sp>
      <p:sp>
        <p:nvSpPr>
          <p:cNvPr id="280" name="Google Shape;280;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0" name="Google Shape;290;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two failure modes to teach clearly: underfitting (model too dumb) and overfitting (model too good at memorizing training data, bad at new data). For classification metrics, use a concrete relatable example (spam filter, medical test) to make precision vs. recall stick — the tradeoff between 'catching everything' and 'not crying wolf' is intuitive once grounded in a real scenario.</a:t>
            </a:r>
            <a:endParaRPr/>
          </a:p>
        </p:txBody>
      </p:sp>
      <p:sp>
        <p:nvSpPr>
          <p:cNvPr id="291" name="Google Shape;291;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1" name="Google Shape;301;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Closing slide: there's no single 'best' algorithm — the right choice depends on your data size, whether you need to explain the model, and what kind of data you have (tabular, image, text). Encourage students to start simple (a regression or a single tree) and only reach for something more complex once a simple baseline stops being good enough.</a:t>
            </a:r>
            <a:endParaRPr/>
          </a:p>
        </p:txBody>
      </p:sp>
      <p:sp>
        <p:nvSpPr>
          <p:cNvPr id="302" name="Google Shape;302;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5"/>
          <p:cNvSpPr/>
          <p:nvPr>
            <p:ph idx="2" type="pic"/>
          </p:nvPr>
        </p:nvSpPr>
        <p:spPr>
          <a:xfrm>
            <a:off x="1792288" y="612775"/>
            <a:ext cx="5486400" cy="4114800"/>
          </a:xfrm>
          <a:prstGeom prst="rect">
            <a:avLst/>
          </a:prstGeom>
          <a:noFill/>
          <a:ln>
            <a:noFill/>
          </a:ln>
        </p:spPr>
      </p:sp>
      <p:sp>
        <p:nvSpPr>
          <p:cNvPr id="64" name="Google Shape;64;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85641b423_13_0)">
  <p:cSld name="Generated (g3f85641b423_13_0)">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 name="Shape 85"/>
        <p:cNvGrpSpPr/>
        <p:nvPr/>
      </p:nvGrpSpPr>
      <p:grpSpPr>
        <a:xfrm>
          <a:off x="0" y="0"/>
          <a:ext cx="0" cy="0"/>
          <a:chOff x="0" y="0"/>
          <a:chExt cx="0" cy="0"/>
        </a:xfrm>
      </p:grpSpPr>
      <p:sp>
        <p:nvSpPr>
          <p:cNvPr id="86" name="Google Shape;86;p1"/>
          <p:cNvSpPr txBox="1"/>
          <p:nvPr/>
        </p:nvSpPr>
        <p:spPr>
          <a:xfrm>
            <a:off x="548640" y="476250"/>
            <a:ext cx="110946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0F172A"/>
                </a:solidFill>
                <a:latin typeface="Arial"/>
                <a:ea typeface="Arial"/>
                <a:cs typeface="Arial"/>
                <a:sym typeface="Arial"/>
              </a:rPr>
              <a:t>Machine Learning &amp; Deep Learning: An Introduction</a:t>
            </a:r>
            <a:endParaRPr b="1" sz="3200">
              <a:solidFill>
                <a:srgbClr val="0F172A"/>
              </a:solidFill>
              <a:latin typeface="Arial"/>
              <a:ea typeface="Arial"/>
              <a:cs typeface="Arial"/>
              <a:sym typeface="Arial"/>
            </a:endParaRPr>
          </a:p>
          <a:p>
            <a:pPr indent="0" lvl="0" marL="0" rtl="0" algn="l">
              <a:spcBef>
                <a:spcPts val="600"/>
              </a:spcBef>
              <a:spcAft>
                <a:spcPts val="0"/>
              </a:spcAft>
              <a:buNone/>
            </a:pPr>
            <a:r>
              <a:rPr b="1" lang="en-US" sz="1400">
                <a:solidFill>
                  <a:srgbClr val="0E7490"/>
                </a:solidFill>
                <a:latin typeface="Arial"/>
                <a:ea typeface="Arial"/>
                <a:cs typeface="Arial"/>
                <a:sym typeface="Arial"/>
              </a:rPr>
              <a:t>A Beginner-Friendly Tour of the Algorithms Behind Modern AI — Session 08/25/2026</a:t>
            </a:r>
            <a:endParaRPr b="1" sz="1400">
              <a:solidFill>
                <a:srgbClr val="0E7490"/>
              </a:solidFill>
              <a:latin typeface="Arial"/>
              <a:ea typeface="Arial"/>
              <a:cs typeface="Arial"/>
              <a:sym typeface="Arial"/>
            </a:endParaRPr>
          </a:p>
        </p:txBody>
      </p:sp>
      <p:grpSp>
        <p:nvGrpSpPr>
          <p:cNvPr id="87" name="Google Shape;87;p1"/>
          <p:cNvGrpSpPr/>
          <p:nvPr/>
        </p:nvGrpSpPr>
        <p:grpSpPr>
          <a:xfrm>
            <a:off x="548640" y="1905000"/>
            <a:ext cx="3429000" cy="4381500"/>
            <a:chOff x="0" y="0"/>
            <a:chExt cx="3429000" cy="4381500"/>
          </a:xfrm>
        </p:grpSpPr>
        <p:sp>
          <p:nvSpPr>
            <p:cNvPr id="88" name="Google Shape;88;p1"/>
            <p:cNvSpPr/>
            <p:nvPr/>
          </p:nvSpPr>
          <p:spPr>
            <a:xfrm>
              <a:off x="0" y="0"/>
              <a:ext cx="3429000" cy="4381500"/>
            </a:xfrm>
            <a:prstGeom prst="roundRect">
              <a:avLst>
                <a:gd fmla="val 4444" name="adj"/>
              </a:avLst>
            </a:prstGeom>
            <a:solidFill>
              <a:srgbClr val="F1F5F9"/>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 name="Google Shape;89;p1"/>
            <p:cNvSpPr txBox="1"/>
            <p:nvPr/>
          </p:nvSpPr>
          <p:spPr>
            <a:xfrm>
              <a:off x="0" y="0"/>
              <a:ext cx="3429000" cy="4381500"/>
            </a:xfrm>
            <a:prstGeom prst="rect">
              <a:avLst/>
            </a:prstGeom>
            <a:noFill/>
            <a:ln>
              <a:noFill/>
            </a:ln>
          </p:spPr>
          <p:txBody>
            <a:bodyPr anchorCtr="0" anchor="t" bIns="285750" lIns="228600" spcFirstLastPara="1" rIns="228600" wrap="square" tIns="285750">
              <a:noAutofit/>
            </a:bodyPr>
            <a:lstStyle/>
            <a:p>
              <a:pPr indent="0" lvl="0" marL="0" rtl="0" algn="l">
                <a:spcBef>
                  <a:spcPts val="0"/>
                </a:spcBef>
                <a:spcAft>
                  <a:spcPts val="0"/>
                </a:spcAft>
                <a:buNone/>
              </a:pPr>
              <a:r>
                <a:rPr b="1" lang="en-US" sz="1100">
                  <a:solidFill>
                    <a:srgbClr val="1D4ED8"/>
                  </a:solidFill>
                  <a:latin typeface="Arial"/>
                  <a:ea typeface="Arial"/>
                  <a:cs typeface="Arial"/>
                  <a:sym typeface="Arial"/>
                </a:rPr>
                <a:t>01 / FOUNDATIONS</a:t>
              </a:r>
              <a:endParaRPr b="1" sz="1100">
                <a:solidFill>
                  <a:srgbClr val="1D4ED8"/>
                </a:solidFill>
                <a:latin typeface="Arial"/>
                <a:ea typeface="Arial"/>
                <a:cs typeface="Arial"/>
                <a:sym typeface="Arial"/>
              </a:endParaRPr>
            </a:p>
            <a:p>
              <a:pPr indent="0" lvl="0" marL="0" rtl="0" algn="l">
                <a:spcBef>
                  <a:spcPts val="1200"/>
                </a:spcBef>
                <a:spcAft>
                  <a:spcPts val="0"/>
                </a:spcAft>
                <a:buNone/>
              </a:pPr>
              <a:r>
                <a:rPr b="1" lang="en-US" sz="1600">
                  <a:solidFill>
                    <a:srgbClr val="0F172A"/>
                  </a:solidFill>
                  <a:latin typeface="Arial"/>
                  <a:ea typeface="Arial"/>
                  <a:cs typeface="Arial"/>
                  <a:sym typeface="Arial"/>
                </a:rPr>
                <a:t>Core Concepts</a:t>
              </a:r>
              <a:endParaRPr b="1" sz="1600">
                <a:solidFill>
                  <a:srgbClr val="0F172A"/>
                </a:solidFill>
                <a:latin typeface="Arial"/>
                <a:ea typeface="Arial"/>
                <a:cs typeface="Arial"/>
                <a:sym typeface="Arial"/>
              </a:endParaRPr>
            </a:p>
            <a:p>
              <a:pPr indent="-304800" lvl="0" marL="457200" rtl="0" algn="l">
                <a:spcBef>
                  <a:spcPts val="1800"/>
                </a:spcBef>
                <a:spcAft>
                  <a:spcPts val="0"/>
                </a:spcAft>
                <a:buClr>
                  <a:srgbClr val="0F172A"/>
                </a:buClr>
                <a:buSzPts val="1200"/>
                <a:buFont typeface="Arial"/>
                <a:buChar char="●"/>
              </a:pPr>
              <a:r>
                <a:rPr b="1" lang="en-US" sz="1200">
                  <a:solidFill>
                    <a:srgbClr val="0F172A"/>
                  </a:solidFill>
                  <a:latin typeface="Arial"/>
                  <a:ea typeface="Arial"/>
                  <a:cs typeface="Arial"/>
                  <a:sym typeface="Arial"/>
                </a:rPr>
                <a:t>What is ML, really?</a:t>
              </a:r>
              <a:br>
                <a:rPr b="1" lang="en-US" sz="1200">
                  <a:solidFill>
                    <a:srgbClr val="0F172A"/>
                  </a:solidFill>
                  <a:latin typeface="Arial"/>
                  <a:ea typeface="Arial"/>
                  <a:cs typeface="Arial"/>
                  <a:sym typeface="Arial"/>
                </a:rPr>
              </a:br>
              <a:r>
                <a:rPr b="0" lang="en-US" sz="1100">
                  <a:solidFill>
                    <a:srgbClr val="475569"/>
                  </a:solidFill>
                  <a:latin typeface="Arial"/>
                  <a:ea typeface="Arial"/>
                  <a:cs typeface="Arial"/>
                  <a:sym typeface="Arial"/>
                </a:rPr>
                <a:t>From hand-written rules to learned rules</a:t>
              </a:r>
              <a:endParaRPr b="1" sz="1200">
                <a:solidFill>
                  <a:srgbClr val="0F172A"/>
                </a:solidFill>
                <a:latin typeface="Arial"/>
                <a:ea typeface="Arial"/>
                <a:cs typeface="Arial"/>
                <a:sym typeface="Arial"/>
              </a:endParaRPr>
            </a:p>
            <a:p>
              <a:pPr indent="-304800" lvl="0" marL="457200" rtl="0" algn="l">
                <a:spcBef>
                  <a:spcPts val="1350"/>
                </a:spcBef>
                <a:spcAft>
                  <a:spcPts val="0"/>
                </a:spcAft>
                <a:buClr>
                  <a:srgbClr val="0F172A"/>
                </a:buClr>
                <a:buSzPts val="1200"/>
                <a:buFont typeface="Arial"/>
                <a:buChar char="●"/>
              </a:pPr>
              <a:r>
                <a:rPr b="1" lang="en-US" sz="1200">
                  <a:solidFill>
                    <a:srgbClr val="0F172A"/>
                  </a:solidFill>
                  <a:latin typeface="Arial"/>
                  <a:ea typeface="Arial"/>
                  <a:cs typeface="Arial"/>
                  <a:sym typeface="Arial"/>
                </a:rPr>
                <a:t>Linear Regression</a:t>
              </a:r>
              <a:br>
                <a:rPr b="1" lang="en-US" sz="1200">
                  <a:solidFill>
                    <a:srgbClr val="0F172A"/>
                  </a:solidFill>
                  <a:latin typeface="Arial"/>
                  <a:ea typeface="Arial"/>
                  <a:cs typeface="Arial"/>
                  <a:sym typeface="Arial"/>
                </a:rPr>
              </a:br>
              <a:r>
                <a:rPr b="0" lang="en-US" sz="1100">
                  <a:solidFill>
                    <a:srgbClr val="475569"/>
                  </a:solidFill>
                  <a:latin typeface="Arial"/>
                  <a:ea typeface="Arial"/>
                  <a:cs typeface="Arial"/>
                  <a:sym typeface="Arial"/>
                </a:rPr>
                <a:t>Predicting continuous numbers</a:t>
              </a:r>
              <a:endParaRPr b="1" sz="1200">
                <a:solidFill>
                  <a:srgbClr val="0F172A"/>
                </a:solidFill>
                <a:latin typeface="Arial"/>
                <a:ea typeface="Arial"/>
                <a:cs typeface="Arial"/>
                <a:sym typeface="Arial"/>
              </a:endParaRPr>
            </a:p>
            <a:p>
              <a:pPr indent="-304800" lvl="0" marL="457200" rtl="0" algn="l">
                <a:spcBef>
                  <a:spcPts val="1350"/>
                </a:spcBef>
                <a:spcAft>
                  <a:spcPts val="0"/>
                </a:spcAft>
                <a:buClr>
                  <a:srgbClr val="0F172A"/>
                </a:buClr>
                <a:buSzPts val="1200"/>
                <a:buFont typeface="Arial"/>
                <a:buChar char="●"/>
              </a:pPr>
              <a:r>
                <a:rPr b="1" lang="en-US" sz="1200">
                  <a:solidFill>
                    <a:srgbClr val="0F172A"/>
                  </a:solidFill>
                  <a:latin typeface="Arial"/>
                  <a:ea typeface="Arial"/>
                  <a:cs typeface="Arial"/>
                  <a:sym typeface="Arial"/>
                </a:rPr>
                <a:t>Regularization</a:t>
              </a:r>
              <a:br>
                <a:rPr b="1" lang="en-US" sz="1200">
                  <a:solidFill>
                    <a:srgbClr val="0F172A"/>
                  </a:solidFill>
                  <a:latin typeface="Arial"/>
                  <a:ea typeface="Arial"/>
                  <a:cs typeface="Arial"/>
                  <a:sym typeface="Arial"/>
                </a:rPr>
              </a:br>
              <a:r>
                <a:rPr b="0" lang="en-US" sz="1100">
                  <a:solidFill>
                    <a:srgbClr val="475569"/>
                  </a:solidFill>
                  <a:latin typeface="Arial"/>
                  <a:ea typeface="Arial"/>
                  <a:cs typeface="Arial"/>
                  <a:sym typeface="Arial"/>
                </a:rPr>
                <a:t>Keeping models simple (Ridge &amp; Lasso)</a:t>
              </a:r>
              <a:endParaRPr b="1" sz="1200">
                <a:solidFill>
                  <a:srgbClr val="0F172A"/>
                </a:solidFill>
                <a:latin typeface="Arial"/>
                <a:ea typeface="Arial"/>
                <a:cs typeface="Arial"/>
                <a:sym typeface="Arial"/>
              </a:endParaRPr>
            </a:p>
            <a:p>
              <a:pPr indent="-304800" lvl="0" marL="457200" rtl="0" algn="l">
                <a:spcBef>
                  <a:spcPts val="1350"/>
                </a:spcBef>
                <a:spcAft>
                  <a:spcPts val="0"/>
                </a:spcAft>
                <a:buClr>
                  <a:srgbClr val="0F172A"/>
                </a:buClr>
                <a:buSzPts val="1200"/>
                <a:buFont typeface="Arial"/>
                <a:buChar char="●"/>
              </a:pPr>
              <a:r>
                <a:rPr b="1" lang="en-US" sz="1200">
                  <a:solidFill>
                    <a:srgbClr val="0F172A"/>
                  </a:solidFill>
                  <a:latin typeface="Arial"/>
                  <a:ea typeface="Arial"/>
                  <a:cs typeface="Arial"/>
                  <a:sym typeface="Arial"/>
                </a:rPr>
                <a:t>Logistic Regression</a:t>
              </a:r>
              <a:br>
                <a:rPr b="1" lang="en-US" sz="1200">
                  <a:solidFill>
                    <a:srgbClr val="0F172A"/>
                  </a:solidFill>
                  <a:latin typeface="Arial"/>
                  <a:ea typeface="Arial"/>
                  <a:cs typeface="Arial"/>
                  <a:sym typeface="Arial"/>
                </a:rPr>
              </a:br>
              <a:r>
                <a:rPr b="0" lang="en-US" sz="1100">
                  <a:solidFill>
                    <a:srgbClr val="475569"/>
                  </a:solidFill>
                  <a:latin typeface="Arial"/>
                  <a:ea typeface="Arial"/>
                  <a:cs typeface="Arial"/>
                  <a:sym typeface="Arial"/>
                </a:rPr>
                <a:t>Predicting yes/no probabilities</a:t>
              </a:r>
              <a:endParaRPr b="1" sz="1200">
                <a:solidFill>
                  <a:srgbClr val="0F172A"/>
                </a:solidFill>
                <a:latin typeface="Arial"/>
                <a:ea typeface="Arial"/>
                <a:cs typeface="Arial"/>
                <a:sym typeface="Arial"/>
              </a:endParaRPr>
            </a:p>
          </p:txBody>
        </p:sp>
      </p:grpSp>
      <p:grpSp>
        <p:nvGrpSpPr>
          <p:cNvPr id="90" name="Google Shape;90;p1"/>
          <p:cNvGrpSpPr/>
          <p:nvPr/>
        </p:nvGrpSpPr>
        <p:grpSpPr>
          <a:xfrm>
            <a:off x="4381500" y="1905000"/>
            <a:ext cx="3429000" cy="4381500"/>
            <a:chOff x="0" y="0"/>
            <a:chExt cx="3429000" cy="4381500"/>
          </a:xfrm>
        </p:grpSpPr>
        <p:sp>
          <p:nvSpPr>
            <p:cNvPr id="91" name="Google Shape;91;p1"/>
            <p:cNvSpPr/>
            <p:nvPr/>
          </p:nvSpPr>
          <p:spPr>
            <a:xfrm>
              <a:off x="0" y="0"/>
              <a:ext cx="3429000" cy="4381500"/>
            </a:xfrm>
            <a:prstGeom prst="roundRect">
              <a:avLst>
                <a:gd fmla="val 4444" name="adj"/>
              </a:avLst>
            </a:prstGeom>
            <a:solidFill>
              <a:srgbClr val="F1F5F9"/>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 name="Google Shape;92;p1"/>
            <p:cNvSpPr txBox="1"/>
            <p:nvPr/>
          </p:nvSpPr>
          <p:spPr>
            <a:xfrm>
              <a:off x="0" y="0"/>
              <a:ext cx="3429000" cy="4381500"/>
            </a:xfrm>
            <a:prstGeom prst="rect">
              <a:avLst/>
            </a:prstGeom>
            <a:noFill/>
            <a:ln>
              <a:noFill/>
            </a:ln>
          </p:spPr>
          <p:txBody>
            <a:bodyPr anchorCtr="0" anchor="t" bIns="285750" lIns="228600" spcFirstLastPara="1" rIns="228600" wrap="square" tIns="285750">
              <a:noAutofit/>
            </a:bodyPr>
            <a:lstStyle/>
            <a:p>
              <a:pPr indent="0" lvl="0" marL="0" rtl="0" algn="l">
                <a:spcBef>
                  <a:spcPts val="0"/>
                </a:spcBef>
                <a:spcAft>
                  <a:spcPts val="0"/>
                </a:spcAft>
                <a:buNone/>
              </a:pPr>
              <a:r>
                <a:rPr b="1" lang="en-US" sz="1100">
                  <a:solidFill>
                    <a:srgbClr val="1D4ED8"/>
                  </a:solidFill>
                  <a:latin typeface="Arial"/>
                  <a:ea typeface="Arial"/>
                  <a:cs typeface="Arial"/>
                  <a:sym typeface="Arial"/>
                </a:rPr>
                <a:t>02 / CLASSIC ALGORITHMS</a:t>
              </a:r>
              <a:endParaRPr b="1" sz="1100">
                <a:solidFill>
                  <a:srgbClr val="1D4ED8"/>
                </a:solidFill>
                <a:latin typeface="Arial"/>
                <a:ea typeface="Arial"/>
                <a:cs typeface="Arial"/>
                <a:sym typeface="Arial"/>
              </a:endParaRPr>
            </a:p>
            <a:p>
              <a:pPr indent="0" lvl="0" marL="0" rtl="0" algn="l">
                <a:spcBef>
                  <a:spcPts val="1200"/>
                </a:spcBef>
                <a:spcAft>
                  <a:spcPts val="0"/>
                </a:spcAft>
                <a:buNone/>
              </a:pPr>
              <a:r>
                <a:rPr b="1" lang="en-US" sz="1600">
                  <a:solidFill>
                    <a:srgbClr val="0F172A"/>
                  </a:solidFill>
                  <a:latin typeface="Arial"/>
                  <a:ea typeface="Arial"/>
                  <a:cs typeface="Arial"/>
                  <a:sym typeface="Arial"/>
                </a:rPr>
                <a:t>Classification &amp; Ensembles</a:t>
              </a:r>
              <a:endParaRPr b="1" sz="1600">
                <a:solidFill>
                  <a:srgbClr val="0F172A"/>
                </a:solidFill>
                <a:latin typeface="Arial"/>
                <a:ea typeface="Arial"/>
                <a:cs typeface="Arial"/>
                <a:sym typeface="Arial"/>
              </a:endParaRPr>
            </a:p>
            <a:p>
              <a:pPr indent="-304800" lvl="0" marL="457200" rtl="0" algn="l">
                <a:spcBef>
                  <a:spcPts val="1800"/>
                </a:spcBef>
                <a:spcAft>
                  <a:spcPts val="0"/>
                </a:spcAft>
                <a:buClr>
                  <a:srgbClr val="0F172A"/>
                </a:buClr>
                <a:buSzPts val="1200"/>
                <a:buFont typeface="Arial"/>
                <a:buChar char="●"/>
              </a:pPr>
              <a:r>
                <a:rPr b="1" lang="en-US" sz="1200">
                  <a:solidFill>
                    <a:srgbClr val="0F172A"/>
                  </a:solidFill>
                  <a:latin typeface="Arial"/>
                  <a:ea typeface="Arial"/>
                  <a:cs typeface="Arial"/>
                  <a:sym typeface="Arial"/>
                </a:rPr>
                <a:t>Neighbors, Margins &amp; Trees</a:t>
              </a:r>
              <a:br>
                <a:rPr b="1" lang="en-US" sz="1200">
                  <a:solidFill>
                    <a:srgbClr val="0F172A"/>
                  </a:solidFill>
                  <a:latin typeface="Arial"/>
                  <a:ea typeface="Arial"/>
                  <a:cs typeface="Arial"/>
                  <a:sym typeface="Arial"/>
                </a:rPr>
              </a:br>
              <a:r>
                <a:rPr b="0" lang="en-US" sz="1100">
                  <a:solidFill>
                    <a:srgbClr val="475569"/>
                  </a:solidFill>
                  <a:latin typeface="Arial"/>
                  <a:ea typeface="Arial"/>
                  <a:cs typeface="Arial"/>
                  <a:sym typeface="Arial"/>
                </a:rPr>
                <a:t>k-NN, SVM, and Decision Trees</a:t>
              </a:r>
              <a:endParaRPr b="1" sz="1200">
                <a:solidFill>
                  <a:srgbClr val="0F172A"/>
                </a:solidFill>
                <a:latin typeface="Arial"/>
                <a:ea typeface="Arial"/>
                <a:cs typeface="Arial"/>
                <a:sym typeface="Arial"/>
              </a:endParaRPr>
            </a:p>
            <a:p>
              <a:pPr indent="-304800" lvl="0" marL="457200" rtl="0" algn="l">
                <a:spcBef>
                  <a:spcPts val="1350"/>
                </a:spcBef>
                <a:spcAft>
                  <a:spcPts val="0"/>
                </a:spcAft>
                <a:buClr>
                  <a:srgbClr val="0F172A"/>
                </a:buClr>
                <a:buSzPts val="1200"/>
                <a:buFont typeface="Arial"/>
                <a:buChar char="●"/>
              </a:pPr>
              <a:r>
                <a:rPr b="1" lang="en-US" sz="1200">
                  <a:solidFill>
                    <a:srgbClr val="0F172A"/>
                  </a:solidFill>
                  <a:latin typeface="Arial"/>
                  <a:ea typeface="Arial"/>
                  <a:cs typeface="Arial"/>
                  <a:sym typeface="Arial"/>
                </a:rPr>
                <a:t>Teamwork Models</a:t>
              </a:r>
              <a:br>
                <a:rPr b="1" lang="en-US" sz="1200">
                  <a:solidFill>
                    <a:srgbClr val="0F172A"/>
                  </a:solidFill>
                  <a:latin typeface="Arial"/>
                  <a:ea typeface="Arial"/>
                  <a:cs typeface="Arial"/>
                  <a:sym typeface="Arial"/>
                </a:rPr>
              </a:br>
              <a:r>
                <a:rPr b="0" lang="en-US" sz="1100">
                  <a:solidFill>
                    <a:srgbClr val="475569"/>
                  </a:solidFill>
                  <a:latin typeface="Arial"/>
                  <a:ea typeface="Arial"/>
                  <a:cs typeface="Arial"/>
                  <a:sym typeface="Arial"/>
                </a:rPr>
                <a:t>Random Forests &amp; Boosting</a:t>
              </a:r>
              <a:endParaRPr b="1" sz="1200">
                <a:solidFill>
                  <a:srgbClr val="0F172A"/>
                </a:solidFill>
                <a:latin typeface="Arial"/>
                <a:ea typeface="Arial"/>
                <a:cs typeface="Arial"/>
                <a:sym typeface="Arial"/>
              </a:endParaRPr>
            </a:p>
            <a:p>
              <a:pPr indent="-304800" lvl="0" marL="457200" rtl="0" algn="l">
                <a:spcBef>
                  <a:spcPts val="1350"/>
                </a:spcBef>
                <a:spcAft>
                  <a:spcPts val="0"/>
                </a:spcAft>
                <a:buClr>
                  <a:srgbClr val="0F172A"/>
                </a:buClr>
                <a:buSzPts val="1200"/>
                <a:buFont typeface="Arial"/>
                <a:buChar char="●"/>
              </a:pPr>
              <a:r>
                <a:rPr b="1" lang="en-US" sz="1200">
                  <a:solidFill>
                    <a:srgbClr val="0F172A"/>
                  </a:solidFill>
                  <a:latin typeface="Arial"/>
                  <a:ea typeface="Arial"/>
                  <a:cs typeface="Arial"/>
                  <a:sym typeface="Arial"/>
                </a:rPr>
                <a:t>Bonus Analytics Tools</a:t>
              </a:r>
              <a:br>
                <a:rPr b="1" lang="en-US" sz="1200">
                  <a:solidFill>
                    <a:srgbClr val="0F172A"/>
                  </a:solidFill>
                  <a:latin typeface="Arial"/>
                  <a:ea typeface="Arial"/>
                  <a:cs typeface="Arial"/>
                  <a:sym typeface="Arial"/>
                </a:rPr>
              </a:br>
              <a:r>
                <a:rPr b="0" lang="en-US" sz="1100">
                  <a:solidFill>
                    <a:srgbClr val="475569"/>
                  </a:solidFill>
                  <a:latin typeface="Arial"/>
                  <a:ea typeface="Arial"/>
                  <a:cs typeface="Arial"/>
                  <a:sym typeface="Arial"/>
                </a:rPr>
                <a:t>Forecasting, cause vs. coincidence, and catching outliers</a:t>
              </a:r>
              <a:endParaRPr b="1" sz="1200">
                <a:solidFill>
                  <a:srgbClr val="0F172A"/>
                </a:solidFill>
                <a:latin typeface="Arial"/>
                <a:ea typeface="Arial"/>
                <a:cs typeface="Arial"/>
                <a:sym typeface="Arial"/>
              </a:endParaRPr>
            </a:p>
          </p:txBody>
        </p:sp>
      </p:grpSp>
      <p:grpSp>
        <p:nvGrpSpPr>
          <p:cNvPr id="93" name="Google Shape;93;p1"/>
          <p:cNvGrpSpPr/>
          <p:nvPr/>
        </p:nvGrpSpPr>
        <p:grpSpPr>
          <a:xfrm>
            <a:off x="8214360" y="1905000"/>
            <a:ext cx="3429000" cy="4381500"/>
            <a:chOff x="0" y="0"/>
            <a:chExt cx="3429000" cy="4381500"/>
          </a:xfrm>
        </p:grpSpPr>
        <p:sp>
          <p:nvSpPr>
            <p:cNvPr id="94" name="Google Shape;94;p1"/>
            <p:cNvSpPr/>
            <p:nvPr/>
          </p:nvSpPr>
          <p:spPr>
            <a:xfrm>
              <a:off x="0" y="0"/>
              <a:ext cx="3429000" cy="4381500"/>
            </a:xfrm>
            <a:prstGeom prst="roundRect">
              <a:avLst>
                <a:gd fmla="val 4444" name="adj"/>
              </a:avLst>
            </a:prstGeom>
            <a:solidFill>
              <a:srgbClr val="F1F5F9"/>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
            <p:cNvSpPr txBox="1"/>
            <p:nvPr/>
          </p:nvSpPr>
          <p:spPr>
            <a:xfrm>
              <a:off x="0" y="0"/>
              <a:ext cx="3429000" cy="4381500"/>
            </a:xfrm>
            <a:prstGeom prst="rect">
              <a:avLst/>
            </a:prstGeom>
            <a:noFill/>
            <a:ln>
              <a:noFill/>
            </a:ln>
          </p:spPr>
          <p:txBody>
            <a:bodyPr anchorCtr="0" anchor="t" bIns="285750" lIns="228600" spcFirstLastPara="1" rIns="228600" wrap="square" tIns="285750">
              <a:noAutofit/>
            </a:bodyPr>
            <a:lstStyle/>
            <a:p>
              <a:pPr indent="0" lvl="0" marL="0" rtl="0" algn="l">
                <a:spcBef>
                  <a:spcPts val="0"/>
                </a:spcBef>
                <a:spcAft>
                  <a:spcPts val="0"/>
                </a:spcAft>
                <a:buNone/>
              </a:pPr>
              <a:r>
                <a:rPr b="1" lang="en-US" sz="1100">
                  <a:solidFill>
                    <a:srgbClr val="1D4ED8"/>
                  </a:solidFill>
                  <a:latin typeface="Arial"/>
                  <a:ea typeface="Arial"/>
                  <a:cs typeface="Arial"/>
                  <a:sym typeface="Arial"/>
                </a:rPr>
                <a:t>03 / DEEP LEARNING &amp; BEYOND</a:t>
              </a:r>
              <a:endParaRPr b="1" sz="1100">
                <a:solidFill>
                  <a:srgbClr val="1D4ED8"/>
                </a:solidFill>
                <a:latin typeface="Arial"/>
                <a:ea typeface="Arial"/>
                <a:cs typeface="Arial"/>
                <a:sym typeface="Arial"/>
              </a:endParaRPr>
            </a:p>
            <a:p>
              <a:pPr indent="0" lvl="0" marL="0" rtl="0" algn="l">
                <a:spcBef>
                  <a:spcPts val="1200"/>
                </a:spcBef>
                <a:spcAft>
                  <a:spcPts val="0"/>
                </a:spcAft>
                <a:buNone/>
              </a:pPr>
              <a:r>
                <a:rPr b="1" lang="en-US" sz="1600">
                  <a:solidFill>
                    <a:srgbClr val="0F172A"/>
                  </a:solidFill>
                  <a:latin typeface="Arial"/>
                  <a:ea typeface="Arial"/>
                  <a:cs typeface="Arial"/>
                  <a:sym typeface="Arial"/>
                </a:rPr>
                <a:t>Neural Networks &amp; Success</a:t>
              </a:r>
              <a:endParaRPr b="1" sz="1600">
                <a:solidFill>
                  <a:srgbClr val="0F172A"/>
                </a:solidFill>
                <a:latin typeface="Arial"/>
                <a:ea typeface="Arial"/>
                <a:cs typeface="Arial"/>
                <a:sym typeface="Arial"/>
              </a:endParaRPr>
            </a:p>
            <a:p>
              <a:pPr indent="-304800" lvl="0" marL="457200" rtl="0" algn="l">
                <a:spcBef>
                  <a:spcPts val="1800"/>
                </a:spcBef>
                <a:spcAft>
                  <a:spcPts val="0"/>
                </a:spcAft>
                <a:buClr>
                  <a:srgbClr val="0F172A"/>
                </a:buClr>
                <a:buSzPts val="1200"/>
                <a:buFont typeface="Arial"/>
                <a:buChar char="●"/>
              </a:pPr>
              <a:r>
                <a:rPr b="1" lang="en-US" sz="1200">
                  <a:solidFill>
                    <a:srgbClr val="0F172A"/>
                  </a:solidFill>
                  <a:latin typeface="Arial"/>
                  <a:ea typeface="Arial"/>
                  <a:cs typeface="Arial"/>
                  <a:sym typeface="Arial"/>
                </a:rPr>
                <a:t>How Networks Learn</a:t>
              </a:r>
              <a:br>
                <a:rPr b="1" lang="en-US" sz="1200">
                  <a:solidFill>
                    <a:srgbClr val="0F172A"/>
                  </a:solidFill>
                  <a:latin typeface="Arial"/>
                  <a:ea typeface="Arial"/>
                  <a:cs typeface="Arial"/>
                  <a:sym typeface="Arial"/>
                </a:rPr>
              </a:br>
              <a:r>
                <a:rPr b="0" lang="en-US" sz="1100">
                  <a:solidFill>
                    <a:srgbClr val="475569"/>
                  </a:solidFill>
                  <a:latin typeface="Arial"/>
                  <a:ea typeface="Arial"/>
                  <a:cs typeface="Arial"/>
                  <a:sym typeface="Arial"/>
                </a:rPr>
                <a:t>Layers, weights, and gradient descent</a:t>
              </a:r>
              <a:endParaRPr b="1" sz="1200">
                <a:solidFill>
                  <a:srgbClr val="0F172A"/>
                </a:solidFill>
                <a:latin typeface="Arial"/>
                <a:ea typeface="Arial"/>
                <a:cs typeface="Arial"/>
                <a:sym typeface="Arial"/>
              </a:endParaRPr>
            </a:p>
            <a:p>
              <a:pPr indent="-304800" lvl="0" marL="457200" rtl="0" algn="l">
                <a:spcBef>
                  <a:spcPts val="1350"/>
                </a:spcBef>
                <a:spcAft>
                  <a:spcPts val="0"/>
                </a:spcAft>
                <a:buClr>
                  <a:srgbClr val="0F172A"/>
                </a:buClr>
                <a:buSzPts val="1200"/>
                <a:buFont typeface="Arial"/>
                <a:buChar char="●"/>
              </a:pPr>
              <a:r>
                <a:rPr b="1" lang="en-US" sz="1200">
                  <a:solidFill>
                    <a:srgbClr val="0F172A"/>
                  </a:solidFill>
                  <a:latin typeface="Arial"/>
                  <a:ea typeface="Arial"/>
                  <a:cs typeface="Arial"/>
                  <a:sym typeface="Arial"/>
                </a:rPr>
                <a:t>Attention &amp; Transformers</a:t>
              </a:r>
              <a:br>
                <a:rPr b="1" lang="en-US" sz="1200">
                  <a:solidFill>
                    <a:srgbClr val="0F172A"/>
                  </a:solidFill>
                  <a:latin typeface="Arial"/>
                  <a:ea typeface="Arial"/>
                  <a:cs typeface="Arial"/>
                  <a:sym typeface="Arial"/>
                </a:rPr>
              </a:br>
              <a:r>
                <a:rPr b="0" lang="en-US" sz="1100">
                  <a:solidFill>
                    <a:srgbClr val="475569"/>
                  </a:solidFill>
                  <a:latin typeface="Arial"/>
                  <a:ea typeface="Arial"/>
                  <a:cs typeface="Arial"/>
                  <a:sym typeface="Arial"/>
                </a:rPr>
                <a:t>The revolutionary idea behind ChatGPT</a:t>
              </a:r>
              <a:endParaRPr b="1" sz="1200">
                <a:solidFill>
                  <a:srgbClr val="0F172A"/>
                </a:solidFill>
                <a:latin typeface="Arial"/>
                <a:ea typeface="Arial"/>
                <a:cs typeface="Arial"/>
                <a:sym typeface="Arial"/>
              </a:endParaRPr>
            </a:p>
            <a:p>
              <a:pPr indent="-304800" lvl="0" marL="457200" rtl="0" algn="l">
                <a:spcBef>
                  <a:spcPts val="1350"/>
                </a:spcBef>
                <a:spcAft>
                  <a:spcPts val="0"/>
                </a:spcAft>
                <a:buClr>
                  <a:srgbClr val="0F172A"/>
                </a:buClr>
                <a:buSzPts val="1200"/>
                <a:buFont typeface="Arial"/>
                <a:buChar char="●"/>
              </a:pPr>
              <a:r>
                <a:rPr b="1" lang="en-US" sz="1200">
                  <a:solidFill>
                    <a:srgbClr val="0F172A"/>
                  </a:solidFill>
                  <a:latin typeface="Arial"/>
                  <a:ea typeface="Arial"/>
                  <a:cs typeface="Arial"/>
                  <a:sym typeface="Arial"/>
                </a:rPr>
                <a:t>Model Evaluation</a:t>
              </a:r>
              <a:br>
                <a:rPr b="1" lang="en-US" sz="1200">
                  <a:solidFill>
                    <a:srgbClr val="0F172A"/>
                  </a:solidFill>
                  <a:latin typeface="Arial"/>
                  <a:ea typeface="Arial"/>
                  <a:cs typeface="Arial"/>
                  <a:sym typeface="Arial"/>
                </a:rPr>
              </a:br>
              <a:r>
                <a:rPr b="0" lang="en-US" sz="1100">
                  <a:solidFill>
                    <a:srgbClr val="475569"/>
                  </a:solidFill>
                  <a:latin typeface="Arial"/>
                  <a:ea typeface="Arial"/>
                  <a:cs typeface="Arial"/>
                  <a:sym typeface="Arial"/>
                </a:rPr>
                <a:t>How do we know if a model is actually any good?</a:t>
              </a:r>
              <a:endParaRPr b="1" sz="1200">
                <a:solidFill>
                  <a:srgbClr val="0F172A"/>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 name="Shape 100"/>
        <p:cNvGrpSpPr/>
        <p:nvPr/>
      </p:nvGrpSpPr>
      <p:grpSpPr>
        <a:xfrm>
          <a:off x="0" y="0"/>
          <a:ext cx="0" cy="0"/>
          <a:chOff x="0" y="0"/>
          <a:chExt cx="0" cy="0"/>
        </a:xfrm>
      </p:grpSpPr>
      <p:sp>
        <p:nvSpPr>
          <p:cNvPr id="101" name="Google Shape;101;g3fad43f2046_0_267"/>
          <p:cNvSpPr txBox="1"/>
          <p:nvPr/>
        </p:nvSpPr>
        <p:spPr>
          <a:xfrm>
            <a:off x="548640" y="320040"/>
            <a:ext cx="105156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0E7490"/>
                </a:solidFill>
                <a:latin typeface="Arial"/>
                <a:ea typeface="Arial"/>
                <a:cs typeface="Arial"/>
                <a:sym typeface="Arial"/>
              </a:rPr>
              <a:t>FROM HAND-WRITTEN RULES TO LEARNED RULES</a:t>
            </a:r>
            <a:endParaRPr/>
          </a:p>
        </p:txBody>
      </p:sp>
      <p:sp>
        <p:nvSpPr>
          <p:cNvPr id="102" name="Google Shape;102;g3fad43f2046_0_267"/>
          <p:cNvSpPr txBox="1"/>
          <p:nvPr/>
        </p:nvSpPr>
        <p:spPr>
          <a:xfrm>
            <a:off x="548640" y="621792"/>
            <a:ext cx="110643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0F172A"/>
                </a:solidFill>
                <a:latin typeface="Arial"/>
                <a:ea typeface="Arial"/>
                <a:cs typeface="Arial"/>
                <a:sym typeface="Arial"/>
              </a:rPr>
              <a:t>What Is Machine Learning, Really?</a:t>
            </a:r>
            <a:endParaRPr/>
          </a:p>
        </p:txBody>
      </p:sp>
      <p:grpSp>
        <p:nvGrpSpPr>
          <p:cNvPr id="103" name="Google Shape;103;g3fad43f2046_0_267"/>
          <p:cNvGrpSpPr/>
          <p:nvPr/>
        </p:nvGrpSpPr>
        <p:grpSpPr>
          <a:xfrm>
            <a:off x="548640" y="1714500"/>
            <a:ext cx="3429000" cy="4572000"/>
            <a:chOff x="0" y="0"/>
            <a:chExt cx="3429000" cy="4572000"/>
          </a:xfrm>
        </p:grpSpPr>
        <p:sp>
          <p:nvSpPr>
            <p:cNvPr id="104" name="Google Shape;104;g3fad43f2046_0_267"/>
            <p:cNvSpPr/>
            <p:nvPr/>
          </p:nvSpPr>
          <p:spPr>
            <a:xfrm>
              <a:off x="0" y="0"/>
              <a:ext cx="3429000" cy="4572000"/>
            </a:xfrm>
            <a:prstGeom prst="roundRect">
              <a:avLst>
                <a:gd fmla="val 4444" name="adj"/>
              </a:avLst>
            </a:prstGeom>
            <a:solidFill>
              <a:srgbClr val="F1F5F9"/>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 name="Google Shape;105;g3fad43f2046_0_267"/>
            <p:cNvSpPr txBox="1"/>
            <p:nvPr/>
          </p:nvSpPr>
          <p:spPr>
            <a:xfrm>
              <a:off x="0" y="0"/>
              <a:ext cx="3429000" cy="4572000"/>
            </a:xfrm>
            <a:prstGeom prst="rect">
              <a:avLst/>
            </a:prstGeom>
            <a:solidFill>
              <a:srgbClr val="000000">
                <a:alpha val="0"/>
              </a:srgbClr>
            </a:solidFill>
            <a:ln>
              <a:noFill/>
            </a:ln>
          </p:spPr>
          <p:txBody>
            <a:bodyPr anchorCtr="0" anchor="t" bIns="285750" lIns="228600" spcFirstLastPara="1" rIns="228600" wrap="square" tIns="285750">
              <a:noAutofit/>
            </a:bodyPr>
            <a:lstStyle/>
            <a:p>
              <a:pPr indent="0" lvl="0" marL="0" rtl="0" algn="l">
                <a:spcBef>
                  <a:spcPts val="0"/>
                </a:spcBef>
                <a:spcAft>
                  <a:spcPts val="0"/>
                </a:spcAft>
                <a:buNone/>
              </a:pPr>
              <a:r>
                <a:rPr b="1" lang="en-US" sz="1200">
                  <a:solidFill>
                    <a:srgbClr val="1D4ED8"/>
                  </a:solidFill>
                  <a:latin typeface="Arial"/>
                  <a:ea typeface="Arial"/>
                  <a:cs typeface="Arial"/>
                  <a:sym typeface="Arial"/>
                </a:rPr>
                <a:t>01 / PARADIGM SHIFT</a:t>
              </a:r>
              <a:endParaRPr b="1" sz="1200">
                <a:solidFill>
                  <a:srgbClr val="1D4ED8"/>
                </a:solidFill>
                <a:latin typeface="Arial"/>
                <a:ea typeface="Arial"/>
                <a:cs typeface="Arial"/>
                <a:sym typeface="Arial"/>
              </a:endParaRPr>
            </a:p>
            <a:p>
              <a:pPr indent="0" lvl="0" marL="0" rtl="0" algn="l">
                <a:spcBef>
                  <a:spcPts val="900"/>
                </a:spcBef>
                <a:spcAft>
                  <a:spcPts val="0"/>
                </a:spcAft>
                <a:buNone/>
              </a:pPr>
              <a:r>
                <a:rPr b="1" lang="en-US" sz="2000">
                  <a:solidFill>
                    <a:srgbClr val="0F172A"/>
                  </a:solidFill>
                  <a:latin typeface="Arial"/>
                  <a:ea typeface="Arial"/>
                  <a:cs typeface="Arial"/>
                  <a:sym typeface="Arial"/>
                </a:rPr>
                <a:t>Traditional vs. ML</a:t>
              </a:r>
              <a:endParaRPr b="1" sz="1200">
                <a:solidFill>
                  <a:srgbClr val="1D4ED8"/>
                </a:solidFill>
                <a:latin typeface="Arial"/>
                <a:ea typeface="Arial"/>
                <a:cs typeface="Arial"/>
                <a:sym typeface="Arial"/>
              </a:endParaRPr>
            </a:p>
            <a:p>
              <a:pPr indent="0" lvl="0" marL="0" rtl="0" algn="l">
                <a:spcBef>
                  <a:spcPts val="1500"/>
                </a:spcBef>
                <a:spcAft>
                  <a:spcPts val="0"/>
                </a:spcAft>
                <a:buNone/>
              </a:pPr>
              <a:r>
                <a:rPr b="1" lang="en-US" sz="1400">
                  <a:solidFill>
                    <a:srgbClr val="0F172A"/>
                  </a:solidFill>
                  <a:latin typeface="Arial"/>
                  <a:ea typeface="Arial"/>
                  <a:cs typeface="Arial"/>
                  <a:sym typeface="Arial"/>
                </a:rPr>
                <a:t>Traditional Programming</a:t>
              </a:r>
              <a:br>
                <a:rPr b="1" lang="en-US" sz="1200">
                  <a:solidFill>
                    <a:srgbClr val="1D4ED8"/>
                  </a:solidFill>
                  <a:latin typeface="Arial"/>
                  <a:ea typeface="Arial"/>
                  <a:cs typeface="Arial"/>
                  <a:sym typeface="Arial"/>
                </a:rPr>
              </a:br>
              <a:r>
                <a:rPr b="0" lang="en-US" sz="1200">
                  <a:solidFill>
                    <a:srgbClr val="475569"/>
                  </a:solidFill>
                  <a:latin typeface="Arial"/>
                  <a:ea typeface="Arial"/>
                  <a:cs typeface="Arial"/>
                  <a:sym typeface="Arial"/>
                </a:rPr>
                <a:t>You write the rules, feed in the data, and get answers.</a:t>
              </a:r>
              <a:endParaRPr b="1" sz="1200">
                <a:solidFill>
                  <a:srgbClr val="1D4ED8"/>
                </a:solidFill>
                <a:latin typeface="Arial"/>
                <a:ea typeface="Arial"/>
                <a:cs typeface="Arial"/>
                <a:sym typeface="Arial"/>
              </a:endParaRPr>
            </a:p>
            <a:p>
              <a:pPr indent="0" lvl="0" marL="0" rtl="0" algn="l">
                <a:spcBef>
                  <a:spcPts val="1050"/>
                </a:spcBef>
                <a:spcAft>
                  <a:spcPts val="0"/>
                </a:spcAft>
                <a:buNone/>
              </a:pPr>
              <a:r>
                <a:rPr b="1" lang="en-US" sz="1400">
                  <a:solidFill>
                    <a:srgbClr val="0F172A"/>
                  </a:solidFill>
                  <a:latin typeface="Arial"/>
                  <a:ea typeface="Arial"/>
                  <a:cs typeface="Arial"/>
                  <a:sym typeface="Arial"/>
                </a:rPr>
                <a:t>Machine Learning Flips It</a:t>
              </a:r>
              <a:br>
                <a:rPr b="1" lang="en-US" sz="1200">
                  <a:solidFill>
                    <a:srgbClr val="1D4ED8"/>
                  </a:solidFill>
                  <a:latin typeface="Arial"/>
                  <a:ea typeface="Arial"/>
                  <a:cs typeface="Arial"/>
                  <a:sym typeface="Arial"/>
                </a:rPr>
              </a:br>
              <a:r>
                <a:rPr b="0" lang="en-US" sz="1200">
                  <a:solidFill>
                    <a:srgbClr val="475569"/>
                  </a:solidFill>
                  <a:latin typeface="Arial"/>
                  <a:ea typeface="Arial"/>
                  <a:cs typeface="Arial"/>
                  <a:sym typeface="Arial"/>
                </a:rPr>
                <a:t>You feed in data + known answers, and the computer works out the rules.</a:t>
              </a:r>
              <a:endParaRPr b="1" sz="1200">
                <a:solidFill>
                  <a:srgbClr val="1D4ED8"/>
                </a:solidFill>
                <a:latin typeface="Arial"/>
                <a:ea typeface="Arial"/>
                <a:cs typeface="Arial"/>
                <a:sym typeface="Arial"/>
              </a:endParaRPr>
            </a:p>
            <a:p>
              <a:pPr indent="0" lvl="0" marL="0" rtl="0" algn="l">
                <a:spcBef>
                  <a:spcPts val="1050"/>
                </a:spcBef>
                <a:spcAft>
                  <a:spcPts val="0"/>
                </a:spcAft>
                <a:buNone/>
              </a:pPr>
              <a:r>
                <a:rPr b="1" lang="en-US" sz="1200">
                  <a:solidFill>
                    <a:srgbClr val="0F172A"/>
                  </a:solidFill>
                  <a:latin typeface="Arial"/>
                  <a:ea typeface="Arial"/>
                  <a:cs typeface="Arial"/>
                  <a:sym typeface="Arial"/>
                </a:rPr>
                <a:t>Example:</a:t>
              </a:r>
              <a:r>
                <a:rPr b="1" lang="en-US" sz="1200">
                  <a:solidFill>
                    <a:srgbClr val="1D4ED8"/>
                  </a:solidFill>
                  <a:latin typeface="Arial"/>
                  <a:ea typeface="Arial"/>
                  <a:cs typeface="Arial"/>
                  <a:sym typeface="Arial"/>
                </a:rPr>
                <a:t> </a:t>
              </a:r>
              <a:r>
                <a:rPr b="0" i="1" lang="en-US" sz="1150">
                  <a:solidFill>
                    <a:srgbClr val="475569"/>
                  </a:solidFill>
                  <a:latin typeface="Arial"/>
                  <a:ea typeface="Arial"/>
                  <a:cs typeface="Arial"/>
                  <a:sym typeface="Arial"/>
                </a:rPr>
                <a:t>Instead of hand-coding complex loan approval rules, show the model thousands of past outcomes and let it detect patterns.</a:t>
              </a:r>
              <a:endParaRPr b="1" sz="1200">
                <a:solidFill>
                  <a:srgbClr val="1D4ED8"/>
                </a:solidFill>
                <a:latin typeface="Arial"/>
                <a:ea typeface="Arial"/>
                <a:cs typeface="Arial"/>
                <a:sym typeface="Arial"/>
              </a:endParaRPr>
            </a:p>
          </p:txBody>
        </p:sp>
      </p:grpSp>
      <p:grpSp>
        <p:nvGrpSpPr>
          <p:cNvPr id="106" name="Google Shape;106;g3fad43f2046_0_267"/>
          <p:cNvGrpSpPr/>
          <p:nvPr/>
        </p:nvGrpSpPr>
        <p:grpSpPr>
          <a:xfrm>
            <a:off x="4381500" y="1714500"/>
            <a:ext cx="3429000" cy="4572000"/>
            <a:chOff x="0" y="0"/>
            <a:chExt cx="3429000" cy="4572000"/>
          </a:xfrm>
        </p:grpSpPr>
        <p:sp>
          <p:nvSpPr>
            <p:cNvPr id="107" name="Google Shape;107;g3fad43f2046_0_267"/>
            <p:cNvSpPr/>
            <p:nvPr/>
          </p:nvSpPr>
          <p:spPr>
            <a:xfrm>
              <a:off x="0" y="0"/>
              <a:ext cx="3429000" cy="4572000"/>
            </a:xfrm>
            <a:prstGeom prst="roundRect">
              <a:avLst>
                <a:gd fmla="val 4444" name="adj"/>
              </a:avLst>
            </a:prstGeom>
            <a:solidFill>
              <a:srgbClr val="F1F5F9"/>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 name="Google Shape;108;g3fad43f2046_0_267"/>
            <p:cNvSpPr txBox="1"/>
            <p:nvPr/>
          </p:nvSpPr>
          <p:spPr>
            <a:xfrm>
              <a:off x="0" y="0"/>
              <a:ext cx="3429000" cy="4572000"/>
            </a:xfrm>
            <a:prstGeom prst="rect">
              <a:avLst/>
            </a:prstGeom>
            <a:solidFill>
              <a:srgbClr val="000000">
                <a:alpha val="0"/>
              </a:srgbClr>
            </a:solidFill>
            <a:ln>
              <a:noFill/>
            </a:ln>
          </p:spPr>
          <p:txBody>
            <a:bodyPr anchorCtr="0" anchor="t" bIns="285750" lIns="228600" spcFirstLastPara="1" rIns="228600" wrap="square" tIns="285750">
              <a:noAutofit/>
            </a:bodyPr>
            <a:lstStyle/>
            <a:p>
              <a:pPr indent="0" lvl="0" marL="0" rtl="0" algn="l">
                <a:spcBef>
                  <a:spcPts val="0"/>
                </a:spcBef>
                <a:spcAft>
                  <a:spcPts val="0"/>
                </a:spcAft>
                <a:buNone/>
              </a:pPr>
              <a:r>
                <a:rPr b="1" lang="en-US" sz="1200">
                  <a:solidFill>
                    <a:srgbClr val="1D4ED8"/>
                  </a:solidFill>
                  <a:latin typeface="Arial"/>
                  <a:ea typeface="Arial"/>
                  <a:cs typeface="Arial"/>
                  <a:sym typeface="Arial"/>
                </a:rPr>
                <a:t>02 / CORE COMPONENTS</a:t>
              </a:r>
              <a:endParaRPr b="1" sz="1200">
                <a:solidFill>
                  <a:srgbClr val="1D4ED8"/>
                </a:solidFill>
                <a:latin typeface="Arial"/>
                <a:ea typeface="Arial"/>
                <a:cs typeface="Arial"/>
                <a:sym typeface="Arial"/>
              </a:endParaRPr>
            </a:p>
            <a:p>
              <a:pPr indent="0" lvl="0" marL="0" rtl="0" algn="l">
                <a:spcBef>
                  <a:spcPts val="900"/>
                </a:spcBef>
                <a:spcAft>
                  <a:spcPts val="0"/>
                </a:spcAft>
                <a:buNone/>
              </a:pPr>
              <a:r>
                <a:rPr b="1" lang="en-US" sz="2000">
                  <a:solidFill>
                    <a:srgbClr val="0F172A"/>
                  </a:solidFill>
                  <a:latin typeface="Arial"/>
                  <a:ea typeface="Arial"/>
                  <a:cs typeface="Arial"/>
                  <a:sym typeface="Arial"/>
                </a:rPr>
                <a:t>Every Model Has 3 Parts</a:t>
              </a:r>
              <a:endParaRPr b="1" sz="1200">
                <a:solidFill>
                  <a:srgbClr val="1D4ED8"/>
                </a:solidFill>
                <a:latin typeface="Arial"/>
                <a:ea typeface="Arial"/>
                <a:cs typeface="Arial"/>
                <a:sym typeface="Arial"/>
              </a:endParaRPr>
            </a:p>
            <a:p>
              <a:pPr indent="0" lvl="0" marL="0" rtl="0" algn="l">
                <a:spcBef>
                  <a:spcPts val="1500"/>
                </a:spcBef>
                <a:spcAft>
                  <a:spcPts val="0"/>
                </a:spcAft>
                <a:buNone/>
              </a:pPr>
              <a:r>
                <a:rPr b="1" lang="en-US" sz="1400">
                  <a:solidFill>
                    <a:srgbClr val="0F172A"/>
                  </a:solidFill>
                  <a:latin typeface="Arial"/>
                  <a:ea typeface="Arial"/>
                  <a:cs typeface="Arial"/>
                  <a:sym typeface="Arial"/>
                </a:rPr>
                <a:t>1. Representation</a:t>
              </a:r>
              <a:br>
                <a:rPr b="1" lang="en-US" sz="1200">
                  <a:solidFill>
                    <a:srgbClr val="1D4ED8"/>
                  </a:solidFill>
                  <a:latin typeface="Arial"/>
                  <a:ea typeface="Arial"/>
                  <a:cs typeface="Arial"/>
                  <a:sym typeface="Arial"/>
                </a:rPr>
              </a:br>
              <a:r>
                <a:rPr b="0" lang="en-US" sz="1200">
                  <a:solidFill>
                    <a:srgbClr val="475569"/>
                  </a:solidFill>
                  <a:latin typeface="Arial"/>
                  <a:ea typeface="Arial"/>
                  <a:cs typeface="Arial"/>
                  <a:sym typeface="Arial"/>
                </a:rPr>
                <a:t>How the model turns inputs into a prediction (a line, a decision tree, or a neural network).</a:t>
              </a:r>
              <a:endParaRPr b="1" sz="1200">
                <a:solidFill>
                  <a:srgbClr val="1D4ED8"/>
                </a:solidFill>
                <a:latin typeface="Arial"/>
                <a:ea typeface="Arial"/>
                <a:cs typeface="Arial"/>
                <a:sym typeface="Arial"/>
              </a:endParaRPr>
            </a:p>
            <a:p>
              <a:pPr indent="0" lvl="0" marL="0" rtl="0" algn="l">
                <a:spcBef>
                  <a:spcPts val="1050"/>
                </a:spcBef>
                <a:spcAft>
                  <a:spcPts val="0"/>
                </a:spcAft>
                <a:buNone/>
              </a:pPr>
              <a:r>
                <a:rPr b="1" lang="en-US" sz="1400">
                  <a:solidFill>
                    <a:srgbClr val="0F172A"/>
                  </a:solidFill>
                  <a:latin typeface="Arial"/>
                  <a:ea typeface="Arial"/>
                  <a:cs typeface="Arial"/>
                  <a:sym typeface="Arial"/>
                </a:rPr>
                <a:t>2. Evaluation</a:t>
              </a:r>
              <a:br>
                <a:rPr b="1" lang="en-US" sz="1200">
                  <a:solidFill>
                    <a:srgbClr val="1D4ED8"/>
                  </a:solidFill>
                  <a:latin typeface="Arial"/>
                  <a:ea typeface="Arial"/>
                  <a:cs typeface="Arial"/>
                  <a:sym typeface="Arial"/>
                </a:rPr>
              </a:br>
              <a:r>
                <a:rPr b="0" lang="en-US" sz="1200">
                  <a:solidFill>
                    <a:srgbClr val="475569"/>
                  </a:solidFill>
                  <a:latin typeface="Arial"/>
                  <a:ea typeface="Arial"/>
                  <a:cs typeface="Arial"/>
                  <a:sym typeface="Arial"/>
                </a:rPr>
                <a:t>A loss function that scores how far off or "wrong" a prediction was from reality.</a:t>
              </a:r>
              <a:endParaRPr b="1" sz="1200">
                <a:solidFill>
                  <a:srgbClr val="1D4ED8"/>
                </a:solidFill>
                <a:latin typeface="Arial"/>
                <a:ea typeface="Arial"/>
                <a:cs typeface="Arial"/>
                <a:sym typeface="Arial"/>
              </a:endParaRPr>
            </a:p>
            <a:p>
              <a:pPr indent="0" lvl="0" marL="0" rtl="0" algn="l">
                <a:spcBef>
                  <a:spcPts val="1050"/>
                </a:spcBef>
                <a:spcAft>
                  <a:spcPts val="0"/>
                </a:spcAft>
                <a:buNone/>
              </a:pPr>
              <a:r>
                <a:rPr b="1" lang="en-US" sz="1400">
                  <a:solidFill>
                    <a:srgbClr val="0F172A"/>
                  </a:solidFill>
                  <a:latin typeface="Arial"/>
                  <a:ea typeface="Arial"/>
                  <a:cs typeface="Arial"/>
                  <a:sym typeface="Arial"/>
                </a:rPr>
                <a:t>3. Optimization</a:t>
              </a:r>
              <a:br>
                <a:rPr b="1" lang="en-US" sz="1200">
                  <a:solidFill>
                    <a:srgbClr val="1D4ED8"/>
                  </a:solidFill>
                  <a:latin typeface="Arial"/>
                  <a:ea typeface="Arial"/>
                  <a:cs typeface="Arial"/>
                  <a:sym typeface="Arial"/>
                </a:rPr>
              </a:br>
              <a:r>
                <a:rPr b="0" lang="en-US" sz="1200">
                  <a:solidFill>
                    <a:srgbClr val="475569"/>
                  </a:solidFill>
                  <a:latin typeface="Arial"/>
                  <a:ea typeface="Arial"/>
                  <a:cs typeface="Arial"/>
                  <a:sym typeface="Arial"/>
                </a:rPr>
                <a:t>An algorithm to systematically adjust the model parameters to make that loss smaller.</a:t>
              </a:r>
              <a:endParaRPr b="1" sz="1200">
                <a:solidFill>
                  <a:srgbClr val="1D4ED8"/>
                </a:solidFill>
                <a:latin typeface="Arial"/>
                <a:ea typeface="Arial"/>
                <a:cs typeface="Arial"/>
                <a:sym typeface="Arial"/>
              </a:endParaRPr>
            </a:p>
          </p:txBody>
        </p:sp>
      </p:grpSp>
      <p:grpSp>
        <p:nvGrpSpPr>
          <p:cNvPr id="109" name="Google Shape;109;g3fad43f2046_0_267"/>
          <p:cNvGrpSpPr/>
          <p:nvPr/>
        </p:nvGrpSpPr>
        <p:grpSpPr>
          <a:xfrm>
            <a:off x="8214360" y="1714500"/>
            <a:ext cx="3429000" cy="4572000"/>
            <a:chOff x="0" y="0"/>
            <a:chExt cx="3429000" cy="4572000"/>
          </a:xfrm>
        </p:grpSpPr>
        <p:sp>
          <p:nvSpPr>
            <p:cNvPr id="110" name="Google Shape;110;g3fad43f2046_0_267"/>
            <p:cNvSpPr/>
            <p:nvPr/>
          </p:nvSpPr>
          <p:spPr>
            <a:xfrm>
              <a:off x="0" y="0"/>
              <a:ext cx="3429000" cy="4572000"/>
            </a:xfrm>
            <a:prstGeom prst="roundRect">
              <a:avLst>
                <a:gd fmla="val 4444" name="adj"/>
              </a:avLst>
            </a:prstGeom>
            <a:solidFill>
              <a:srgbClr val="F1F5F9"/>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g3fad43f2046_0_267"/>
            <p:cNvSpPr txBox="1"/>
            <p:nvPr/>
          </p:nvSpPr>
          <p:spPr>
            <a:xfrm>
              <a:off x="0" y="0"/>
              <a:ext cx="3429000" cy="4572000"/>
            </a:xfrm>
            <a:prstGeom prst="rect">
              <a:avLst/>
            </a:prstGeom>
            <a:solidFill>
              <a:srgbClr val="000000">
                <a:alpha val="0"/>
              </a:srgbClr>
            </a:solidFill>
            <a:ln>
              <a:noFill/>
            </a:ln>
          </p:spPr>
          <p:txBody>
            <a:bodyPr anchorCtr="0" anchor="t" bIns="285750" lIns="228600" spcFirstLastPara="1" rIns="228600" wrap="square" tIns="285750">
              <a:noAutofit/>
            </a:bodyPr>
            <a:lstStyle/>
            <a:p>
              <a:pPr indent="0" lvl="0" marL="0" rtl="0" algn="l">
                <a:spcBef>
                  <a:spcPts val="0"/>
                </a:spcBef>
                <a:spcAft>
                  <a:spcPts val="0"/>
                </a:spcAft>
                <a:buNone/>
              </a:pPr>
              <a:r>
                <a:rPr b="1" lang="en-US" sz="1200">
                  <a:solidFill>
                    <a:srgbClr val="1D4ED8"/>
                  </a:solidFill>
                  <a:latin typeface="Arial"/>
                  <a:ea typeface="Arial"/>
                  <a:cs typeface="Arial"/>
                  <a:sym typeface="Arial"/>
                </a:rPr>
                <a:t>03 / EVOLUTION</a:t>
              </a:r>
              <a:endParaRPr b="1" sz="1200">
                <a:solidFill>
                  <a:srgbClr val="1D4ED8"/>
                </a:solidFill>
                <a:latin typeface="Arial"/>
                <a:ea typeface="Arial"/>
                <a:cs typeface="Arial"/>
                <a:sym typeface="Arial"/>
              </a:endParaRPr>
            </a:p>
            <a:p>
              <a:pPr indent="0" lvl="0" marL="0" rtl="0" algn="l">
                <a:spcBef>
                  <a:spcPts val="900"/>
                </a:spcBef>
                <a:spcAft>
                  <a:spcPts val="0"/>
                </a:spcAft>
                <a:buNone/>
              </a:pPr>
              <a:r>
                <a:rPr b="1" lang="en-US" sz="2000">
                  <a:solidFill>
                    <a:srgbClr val="0F172A"/>
                  </a:solidFill>
                  <a:latin typeface="Arial"/>
                  <a:ea typeface="Arial"/>
                  <a:cs typeface="Arial"/>
                  <a:sym typeface="Arial"/>
                </a:rPr>
                <a:t>The Maturity Ladder</a:t>
              </a:r>
              <a:endParaRPr b="1" sz="1200">
                <a:solidFill>
                  <a:srgbClr val="1D4ED8"/>
                </a:solidFill>
                <a:latin typeface="Arial"/>
                <a:ea typeface="Arial"/>
                <a:cs typeface="Arial"/>
                <a:sym typeface="Arial"/>
              </a:endParaRPr>
            </a:p>
            <a:p>
              <a:pPr indent="0" lvl="0" marL="0" rtl="0" algn="l">
                <a:spcBef>
                  <a:spcPts val="1500"/>
                </a:spcBef>
                <a:spcAft>
                  <a:spcPts val="0"/>
                </a:spcAft>
                <a:buNone/>
              </a:pPr>
              <a:r>
                <a:rPr b="1" lang="en-US" sz="1350">
                  <a:solidFill>
                    <a:srgbClr val="0F172A"/>
                  </a:solidFill>
                  <a:latin typeface="Arial"/>
                  <a:ea typeface="Arial"/>
                  <a:cs typeface="Arial"/>
                  <a:sym typeface="Arial"/>
                </a:rPr>
                <a:t>Descriptive</a:t>
              </a:r>
              <a:br>
                <a:rPr b="1" lang="en-US" sz="1200">
                  <a:solidFill>
                    <a:srgbClr val="1D4ED8"/>
                  </a:solidFill>
                  <a:latin typeface="Arial"/>
                  <a:ea typeface="Arial"/>
                  <a:cs typeface="Arial"/>
                  <a:sym typeface="Arial"/>
                </a:rPr>
              </a:br>
              <a:r>
                <a:rPr b="0" lang="en-US" sz="1150">
                  <a:solidFill>
                    <a:srgbClr val="475569"/>
                  </a:solidFill>
                  <a:latin typeface="Arial"/>
                  <a:ea typeface="Arial"/>
                  <a:cs typeface="Arial"/>
                  <a:sym typeface="Arial"/>
                </a:rPr>
                <a:t>What happened? (dashboards, simple aggregations)</a:t>
              </a:r>
              <a:endParaRPr b="1" sz="1200">
                <a:solidFill>
                  <a:srgbClr val="1D4ED8"/>
                </a:solidFill>
                <a:latin typeface="Arial"/>
                <a:ea typeface="Arial"/>
                <a:cs typeface="Arial"/>
                <a:sym typeface="Arial"/>
              </a:endParaRPr>
            </a:p>
            <a:p>
              <a:pPr indent="0" lvl="0" marL="0" rtl="0" algn="l">
                <a:spcBef>
                  <a:spcPts val="750"/>
                </a:spcBef>
                <a:spcAft>
                  <a:spcPts val="0"/>
                </a:spcAft>
                <a:buNone/>
              </a:pPr>
              <a:r>
                <a:rPr b="1" lang="en-US" sz="1350">
                  <a:solidFill>
                    <a:srgbClr val="0F172A"/>
                  </a:solidFill>
                  <a:latin typeface="Arial"/>
                  <a:ea typeface="Arial"/>
                  <a:cs typeface="Arial"/>
                  <a:sym typeface="Arial"/>
                </a:rPr>
                <a:t>Diagnostic</a:t>
              </a:r>
              <a:br>
                <a:rPr b="1" lang="en-US" sz="1200">
                  <a:solidFill>
                    <a:srgbClr val="1D4ED8"/>
                  </a:solidFill>
                  <a:latin typeface="Arial"/>
                  <a:ea typeface="Arial"/>
                  <a:cs typeface="Arial"/>
                  <a:sym typeface="Arial"/>
                </a:rPr>
              </a:br>
              <a:r>
                <a:rPr b="0" lang="en-US" sz="1150">
                  <a:solidFill>
                    <a:srgbClr val="475569"/>
                  </a:solidFill>
                  <a:latin typeface="Arial"/>
                  <a:ea typeface="Arial"/>
                  <a:cs typeface="Arial"/>
                  <a:sym typeface="Arial"/>
                </a:rPr>
                <a:t>Why did it happen? (root-cause, correlation studies)</a:t>
              </a:r>
              <a:endParaRPr b="1" sz="1200">
                <a:solidFill>
                  <a:srgbClr val="1D4ED8"/>
                </a:solidFill>
                <a:latin typeface="Arial"/>
                <a:ea typeface="Arial"/>
                <a:cs typeface="Arial"/>
                <a:sym typeface="Arial"/>
              </a:endParaRPr>
            </a:p>
            <a:p>
              <a:pPr indent="0" lvl="0" marL="0" rtl="0" algn="l">
                <a:spcBef>
                  <a:spcPts val="750"/>
                </a:spcBef>
                <a:spcAft>
                  <a:spcPts val="0"/>
                </a:spcAft>
                <a:buNone/>
              </a:pPr>
              <a:r>
                <a:rPr b="1" lang="en-US" sz="1350">
                  <a:solidFill>
                    <a:srgbClr val="1D4ED8"/>
                  </a:solidFill>
                  <a:latin typeface="Arial"/>
                  <a:ea typeface="Arial"/>
                  <a:cs typeface="Arial"/>
                  <a:sym typeface="Arial"/>
                </a:rPr>
                <a:t>Predictive </a:t>
              </a:r>
              <a:r>
                <a:rPr b="1" lang="en-US" sz="950">
                  <a:solidFill>
                    <a:srgbClr val="0E7490"/>
                  </a:solidFill>
                  <a:highlight>
                    <a:srgbClr val="E0F2FE"/>
                  </a:highlight>
                  <a:latin typeface="Arial"/>
                  <a:ea typeface="Arial"/>
                  <a:cs typeface="Arial"/>
                  <a:sym typeface="Arial"/>
                </a:rPr>
                <a:t>ML MAIN ZONE</a:t>
              </a:r>
              <a:br>
                <a:rPr b="1" lang="en-US" sz="1200">
                  <a:solidFill>
                    <a:srgbClr val="1D4ED8"/>
                  </a:solidFill>
                  <a:latin typeface="Arial"/>
                  <a:ea typeface="Arial"/>
                  <a:cs typeface="Arial"/>
                  <a:sym typeface="Arial"/>
                </a:rPr>
              </a:br>
              <a:r>
                <a:rPr b="0" lang="en-US" sz="1150">
                  <a:solidFill>
                    <a:srgbClr val="475569"/>
                  </a:solidFill>
                  <a:latin typeface="Arial"/>
                  <a:ea typeface="Arial"/>
                  <a:cs typeface="Arial"/>
                  <a:sym typeface="Arial"/>
                </a:rPr>
                <a:t>What will happen next? This is where most modern ML algorithms live.</a:t>
              </a:r>
              <a:endParaRPr b="1" sz="1200">
                <a:solidFill>
                  <a:srgbClr val="1D4ED8"/>
                </a:solidFill>
                <a:latin typeface="Arial"/>
                <a:ea typeface="Arial"/>
                <a:cs typeface="Arial"/>
                <a:sym typeface="Arial"/>
              </a:endParaRPr>
            </a:p>
            <a:p>
              <a:pPr indent="0" lvl="0" marL="0" rtl="0" algn="l">
                <a:spcBef>
                  <a:spcPts val="750"/>
                </a:spcBef>
                <a:spcAft>
                  <a:spcPts val="0"/>
                </a:spcAft>
                <a:buNone/>
              </a:pPr>
              <a:r>
                <a:rPr b="1" lang="en-US" sz="1350">
                  <a:solidFill>
                    <a:srgbClr val="0F172A"/>
                  </a:solidFill>
                  <a:latin typeface="Arial"/>
                  <a:ea typeface="Arial"/>
                  <a:cs typeface="Arial"/>
                  <a:sym typeface="Arial"/>
                </a:rPr>
                <a:t>Prescriptive</a:t>
              </a:r>
              <a:br>
                <a:rPr b="1" lang="en-US" sz="1200">
                  <a:solidFill>
                    <a:srgbClr val="1D4ED8"/>
                  </a:solidFill>
                  <a:latin typeface="Arial"/>
                  <a:ea typeface="Arial"/>
                  <a:cs typeface="Arial"/>
                  <a:sym typeface="Arial"/>
                </a:rPr>
              </a:br>
              <a:r>
                <a:rPr b="0" lang="en-US" sz="1150">
                  <a:solidFill>
                    <a:srgbClr val="475569"/>
                  </a:solidFill>
                  <a:latin typeface="Arial"/>
                  <a:ea typeface="Arial"/>
                  <a:cs typeface="Arial"/>
                  <a:sym typeface="Arial"/>
                </a:rPr>
                <a:t>What should we do? (decision engines, optimization)</a:t>
              </a:r>
              <a:endParaRPr b="1" sz="1200">
                <a:solidFill>
                  <a:srgbClr val="1D4ED8"/>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6" name="Shape 116"/>
        <p:cNvGrpSpPr/>
        <p:nvPr/>
      </p:nvGrpSpPr>
      <p:grpSpPr>
        <a:xfrm>
          <a:off x="0" y="0"/>
          <a:ext cx="0" cy="0"/>
          <a:chOff x="0" y="0"/>
          <a:chExt cx="0" cy="0"/>
        </a:xfrm>
      </p:grpSpPr>
      <p:grpSp>
        <p:nvGrpSpPr>
          <p:cNvPr id="117" name="Google Shape;117;p3"/>
          <p:cNvGrpSpPr/>
          <p:nvPr/>
        </p:nvGrpSpPr>
        <p:grpSpPr>
          <a:xfrm>
            <a:off x="571500" y="476250"/>
            <a:ext cx="11049000" cy="952500"/>
            <a:chOff x="0" y="0"/>
            <a:chExt cx="11049000" cy="952500"/>
          </a:xfrm>
        </p:grpSpPr>
        <p:sp>
          <p:nvSpPr>
            <p:cNvPr id="118" name="Google Shape;118;p3"/>
            <p:cNvSpPr txBox="1"/>
            <p:nvPr/>
          </p:nvSpPr>
          <p:spPr>
            <a:xfrm>
              <a:off x="0" y="0"/>
              <a:ext cx="110490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E7490"/>
                  </a:solidFill>
                  <a:latin typeface="Arial"/>
                  <a:ea typeface="Arial"/>
                  <a:cs typeface="Arial"/>
                  <a:sym typeface="Arial"/>
                </a:rPr>
                <a:t>Predicting a Number</a:t>
              </a:r>
              <a:endParaRPr b="1" sz="1200">
                <a:solidFill>
                  <a:srgbClr val="0E7490"/>
                </a:solidFill>
                <a:latin typeface="Arial"/>
                <a:ea typeface="Arial"/>
                <a:cs typeface="Arial"/>
                <a:sym typeface="Arial"/>
              </a:endParaRPr>
            </a:p>
            <a:p>
              <a:pPr indent="0" lvl="0" marL="0" rtl="0" algn="l">
                <a:spcBef>
                  <a:spcPts val="375"/>
                </a:spcBef>
                <a:spcAft>
                  <a:spcPts val="0"/>
                </a:spcAft>
                <a:buNone/>
              </a:pPr>
              <a:r>
                <a:rPr b="1" lang="en-US" sz="3200">
                  <a:solidFill>
                    <a:srgbClr val="0F172A"/>
                  </a:solidFill>
                  <a:latin typeface="Arial"/>
                  <a:ea typeface="Arial"/>
                  <a:cs typeface="Arial"/>
                  <a:sym typeface="Arial"/>
                </a:rPr>
                <a:t>Linear Regression</a:t>
              </a:r>
              <a:endParaRPr b="1" sz="3200">
                <a:solidFill>
                  <a:srgbClr val="0F172A"/>
                </a:solidFill>
                <a:latin typeface="Arial"/>
                <a:ea typeface="Arial"/>
                <a:cs typeface="Arial"/>
                <a:sym typeface="Arial"/>
              </a:endParaRPr>
            </a:p>
          </p:txBody>
        </p:sp>
        <p:sp>
          <p:nvSpPr>
            <p:cNvPr id="119" name="Google Shape;119;p3"/>
            <p:cNvSpPr/>
            <p:nvPr/>
          </p:nvSpPr>
          <p:spPr>
            <a:xfrm>
              <a:off x="0" y="809625"/>
              <a:ext cx="762000" cy="38100"/>
            </a:xfrm>
            <a:prstGeom prst="rect">
              <a:avLst/>
            </a:prstGeom>
            <a:solidFill>
              <a:srgbClr val="1D4ED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20" name="Google Shape;120;p3"/>
          <p:cNvGrpSpPr/>
          <p:nvPr/>
        </p:nvGrpSpPr>
        <p:grpSpPr>
          <a:xfrm>
            <a:off x="571500" y="1714500"/>
            <a:ext cx="5238900" cy="4476900"/>
            <a:chOff x="0" y="0"/>
            <a:chExt cx="5238900" cy="4476900"/>
          </a:xfrm>
        </p:grpSpPr>
        <p:sp>
          <p:nvSpPr>
            <p:cNvPr id="121" name="Google Shape;121;p3"/>
            <p:cNvSpPr/>
            <p:nvPr/>
          </p:nvSpPr>
          <p:spPr>
            <a:xfrm>
              <a:off x="0" y="0"/>
              <a:ext cx="5238900" cy="4476900"/>
            </a:xfrm>
            <a:prstGeom prst="roundRect">
              <a:avLst>
                <a:gd fmla="val 340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3"/>
            <p:cNvSpPr/>
            <p:nvPr/>
          </p:nvSpPr>
          <p:spPr>
            <a:xfrm>
              <a:off x="0" y="0"/>
              <a:ext cx="5238900" cy="1047900"/>
            </a:xfrm>
            <a:prstGeom prst="roundRect">
              <a:avLst>
                <a:gd fmla="val 14545"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3"/>
            <p:cNvSpPr/>
            <p:nvPr/>
          </p:nvSpPr>
          <p:spPr>
            <a:xfrm>
              <a:off x="0" y="895350"/>
              <a:ext cx="5238900" cy="152400"/>
            </a:xfrm>
            <a:prstGeom prst="rect">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3"/>
            <p:cNvSpPr txBox="1"/>
            <p:nvPr/>
          </p:nvSpPr>
          <p:spPr>
            <a:xfrm>
              <a:off x="228600" y="190500"/>
              <a:ext cx="47817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i="1" lang="en-US" sz="2000">
                  <a:solidFill>
                    <a:srgbClr val="1D4ED8"/>
                  </a:solidFill>
                  <a:latin typeface="Arial"/>
                  <a:ea typeface="Arial"/>
                  <a:cs typeface="Arial"/>
                  <a:sym typeface="Arial"/>
                </a:rPr>
                <a:t>θ = (XᵀX)⁻¹Xᵀy</a:t>
              </a:r>
              <a:endParaRPr b="1" i="1" sz="2000">
                <a:solidFill>
                  <a:srgbClr val="1D4ED8"/>
                </a:solidFill>
                <a:latin typeface="Arial"/>
                <a:ea typeface="Arial"/>
                <a:cs typeface="Arial"/>
                <a:sym typeface="Arial"/>
              </a:endParaRPr>
            </a:p>
            <a:p>
              <a:pPr indent="0" lvl="0" marL="0" rtl="0" algn="ctr">
                <a:spcBef>
                  <a:spcPts val="300"/>
                </a:spcBef>
                <a:spcAft>
                  <a:spcPts val="0"/>
                </a:spcAft>
                <a:buNone/>
              </a:pPr>
              <a:r>
                <a:rPr b="0" lang="en-US" sz="1100">
                  <a:solidFill>
                    <a:srgbClr val="475569"/>
                  </a:solidFill>
                  <a:latin typeface="Arial"/>
                  <a:ea typeface="Arial"/>
                  <a:cs typeface="Arial"/>
                  <a:sym typeface="Arial"/>
                </a:rPr>
                <a:t>The formula that finds the best-fit line directly</a:t>
              </a:r>
              <a:endParaRPr b="0" sz="1100">
                <a:solidFill>
                  <a:srgbClr val="475569"/>
                </a:solidFill>
                <a:latin typeface="Arial"/>
                <a:ea typeface="Arial"/>
                <a:cs typeface="Arial"/>
                <a:sym typeface="Arial"/>
              </a:endParaRPr>
            </a:p>
          </p:txBody>
        </p:sp>
        <p:sp>
          <p:nvSpPr>
            <p:cNvPr id="125" name="Google Shape;125;p3"/>
            <p:cNvSpPr txBox="1"/>
            <p:nvPr/>
          </p:nvSpPr>
          <p:spPr>
            <a:xfrm>
              <a:off x="285750" y="1238250"/>
              <a:ext cx="46674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0F172A"/>
                  </a:solidFill>
                  <a:latin typeface="Arial"/>
                  <a:ea typeface="Arial"/>
                  <a:cs typeface="Arial"/>
                  <a:sym typeface="Arial"/>
                </a:rPr>
                <a:t>What Linear Regression Does</a:t>
              </a:r>
              <a:endParaRPr b="1" sz="1600">
                <a:solidFill>
                  <a:srgbClr val="0F172A"/>
                </a:solidFill>
                <a:latin typeface="Arial"/>
                <a:ea typeface="Arial"/>
                <a:cs typeface="Arial"/>
                <a:sym typeface="Arial"/>
              </a:endParaRPr>
            </a:p>
            <a:p>
              <a:pPr indent="-304800" lvl="0" marL="457200" rtl="0" algn="l">
                <a:spcBef>
                  <a:spcPts val="1200"/>
                </a:spcBef>
                <a:spcAft>
                  <a:spcPts val="0"/>
                </a:spcAft>
                <a:buClr>
                  <a:srgbClr val="334155"/>
                </a:buClr>
                <a:buSzPts val="1200"/>
                <a:buFont typeface="Arial"/>
                <a:buChar char="●"/>
              </a:pPr>
              <a:r>
                <a:rPr b="1" lang="en-US" sz="1200">
                  <a:solidFill>
                    <a:srgbClr val="0F172A"/>
                  </a:solidFill>
                  <a:latin typeface="Arial"/>
                  <a:ea typeface="Arial"/>
                  <a:cs typeface="Arial"/>
                  <a:sym typeface="Arial"/>
                </a:rPr>
                <a:t>Best-Fit Line:</a:t>
              </a:r>
              <a:r>
                <a:rPr lang="en-US" sz="1200">
                  <a:solidFill>
                    <a:srgbClr val="334155"/>
                  </a:solidFill>
                  <a:latin typeface="Arial"/>
                  <a:ea typeface="Arial"/>
                  <a:cs typeface="Arial"/>
                  <a:sym typeface="Arial"/>
                </a:rPr>
                <a:t> Draws the straight line that best fits a scatter of points.</a:t>
              </a:r>
              <a:endParaRPr sz="1200">
                <a:solidFill>
                  <a:srgbClr val="334155"/>
                </a:solidFill>
                <a:latin typeface="Arial"/>
                <a:ea typeface="Arial"/>
                <a:cs typeface="Arial"/>
                <a:sym typeface="Arial"/>
              </a:endParaRPr>
            </a:p>
            <a:p>
              <a:pPr indent="-304800" lvl="0" marL="457200" rtl="0" algn="l">
                <a:spcBef>
                  <a:spcPts val="1050"/>
                </a:spcBef>
                <a:spcAft>
                  <a:spcPts val="0"/>
                </a:spcAft>
                <a:buClr>
                  <a:srgbClr val="334155"/>
                </a:buClr>
                <a:buSzPts val="1200"/>
                <a:buFont typeface="Arial"/>
                <a:buChar char="●"/>
              </a:pPr>
              <a:r>
                <a:rPr b="1" lang="en-US" sz="1200">
                  <a:solidFill>
                    <a:srgbClr val="0F172A"/>
                  </a:solidFill>
                  <a:latin typeface="Arial"/>
                  <a:ea typeface="Arial"/>
                  <a:cs typeface="Arial"/>
                  <a:sym typeface="Arial"/>
                </a:rPr>
                <a:t>Least Squares:</a:t>
              </a:r>
              <a:r>
                <a:rPr lang="en-US" sz="1200">
                  <a:solidFill>
                    <a:srgbClr val="334155"/>
                  </a:solidFill>
                  <a:latin typeface="Arial"/>
                  <a:ea typeface="Arial"/>
                  <a:cs typeface="Arial"/>
                  <a:sym typeface="Arial"/>
                </a:rPr>
                <a:t> 'Best fit' means the line that minimizes total squared distance to every point.</a:t>
              </a:r>
              <a:endParaRPr sz="1200">
                <a:solidFill>
                  <a:srgbClr val="334155"/>
                </a:solidFill>
                <a:latin typeface="Arial"/>
                <a:ea typeface="Arial"/>
                <a:cs typeface="Arial"/>
                <a:sym typeface="Arial"/>
              </a:endParaRPr>
            </a:p>
            <a:p>
              <a:pPr indent="-304800" lvl="0" marL="457200" rtl="0" algn="l">
                <a:spcBef>
                  <a:spcPts val="1050"/>
                </a:spcBef>
                <a:spcAft>
                  <a:spcPts val="0"/>
                </a:spcAft>
                <a:buClr>
                  <a:srgbClr val="334155"/>
                </a:buClr>
                <a:buSzPts val="1200"/>
                <a:buFont typeface="Arial"/>
                <a:buChar char="●"/>
              </a:pPr>
              <a:r>
                <a:rPr b="1" lang="en-US" sz="1200">
                  <a:solidFill>
                    <a:srgbClr val="0F172A"/>
                  </a:solidFill>
                  <a:latin typeface="Arial"/>
                  <a:ea typeface="Arial"/>
                  <a:cs typeface="Arial"/>
                  <a:sym typeface="Arial"/>
                </a:rPr>
                <a:t>One-Step Solution:</a:t>
              </a:r>
              <a:r>
                <a:rPr lang="en-US" sz="1200">
                  <a:solidFill>
                    <a:srgbClr val="334155"/>
                  </a:solidFill>
                  <a:latin typeface="Arial"/>
                  <a:ea typeface="Arial"/>
                  <a:cs typeface="Arial"/>
                  <a:sym typeface="Arial"/>
                </a:rPr>
                <a:t> Can be solved exactly in one step using the Normal Equation formula.</a:t>
              </a:r>
              <a:endParaRPr sz="1200">
                <a:solidFill>
                  <a:srgbClr val="334155"/>
                </a:solidFill>
                <a:latin typeface="Arial"/>
                <a:ea typeface="Arial"/>
                <a:cs typeface="Arial"/>
                <a:sym typeface="Arial"/>
              </a:endParaRPr>
            </a:p>
            <a:p>
              <a:pPr indent="-304800" lvl="0" marL="457200" rtl="0" algn="l">
                <a:spcBef>
                  <a:spcPts val="1050"/>
                </a:spcBef>
                <a:spcAft>
                  <a:spcPts val="0"/>
                </a:spcAft>
                <a:buClr>
                  <a:srgbClr val="334155"/>
                </a:buClr>
                <a:buSzPts val="1200"/>
                <a:buFont typeface="Arial"/>
                <a:buChar char="●"/>
              </a:pPr>
              <a:r>
                <a:rPr b="1" lang="en-US" sz="1200">
                  <a:solidFill>
                    <a:srgbClr val="0F172A"/>
                  </a:solidFill>
                  <a:latin typeface="Arial"/>
                  <a:ea typeface="Arial"/>
                  <a:cs typeface="Arial"/>
                  <a:sym typeface="Arial"/>
                </a:rPr>
                <a:t>Linearity:</a:t>
              </a:r>
              <a:r>
                <a:rPr lang="en-US" sz="1200">
                  <a:solidFill>
                    <a:srgbClr val="334155"/>
                  </a:solidFill>
                  <a:latin typeface="Arial"/>
                  <a:ea typeface="Arial"/>
                  <a:cs typeface="Arial"/>
                  <a:sym typeface="Arial"/>
                </a:rPr>
                <a:t> Works best when the relationship really is roughly a straight line.</a:t>
              </a:r>
              <a:endParaRPr sz="1200">
                <a:solidFill>
                  <a:srgbClr val="334155"/>
                </a:solidFill>
                <a:latin typeface="Arial"/>
                <a:ea typeface="Arial"/>
                <a:cs typeface="Arial"/>
                <a:sym typeface="Arial"/>
              </a:endParaRPr>
            </a:p>
          </p:txBody>
        </p:sp>
      </p:grpSp>
      <p:grpSp>
        <p:nvGrpSpPr>
          <p:cNvPr id="126" name="Google Shape;126;p3"/>
          <p:cNvGrpSpPr/>
          <p:nvPr/>
        </p:nvGrpSpPr>
        <p:grpSpPr>
          <a:xfrm>
            <a:off x="6381750" y="1714500"/>
            <a:ext cx="5238900" cy="4476900"/>
            <a:chOff x="0" y="0"/>
            <a:chExt cx="5238900" cy="4476900"/>
          </a:xfrm>
        </p:grpSpPr>
        <p:sp>
          <p:nvSpPr>
            <p:cNvPr id="127" name="Google Shape;127;p3"/>
            <p:cNvSpPr/>
            <p:nvPr/>
          </p:nvSpPr>
          <p:spPr>
            <a:xfrm>
              <a:off x="0" y="0"/>
              <a:ext cx="5238900" cy="4476900"/>
            </a:xfrm>
            <a:prstGeom prst="roundRect">
              <a:avLst>
                <a:gd fmla="val 340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p3"/>
            <p:cNvSpPr/>
            <p:nvPr/>
          </p:nvSpPr>
          <p:spPr>
            <a:xfrm>
              <a:off x="0" y="0"/>
              <a:ext cx="5238900" cy="1047900"/>
            </a:xfrm>
            <a:prstGeom prst="roundRect">
              <a:avLst>
                <a:gd fmla="val 14545" name="adj"/>
              </a:avLst>
            </a:prstGeom>
            <a:solidFill>
              <a:srgbClr val="F0FDF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 name="Google Shape;129;p3"/>
            <p:cNvSpPr/>
            <p:nvPr/>
          </p:nvSpPr>
          <p:spPr>
            <a:xfrm>
              <a:off x="0" y="895350"/>
              <a:ext cx="5238900" cy="152400"/>
            </a:xfrm>
            <a:prstGeom prst="rect">
              <a:avLst/>
            </a:prstGeom>
            <a:solidFill>
              <a:srgbClr val="F0FDF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3"/>
            <p:cNvSpPr txBox="1"/>
            <p:nvPr/>
          </p:nvSpPr>
          <p:spPr>
            <a:xfrm>
              <a:off x="228600" y="190500"/>
              <a:ext cx="47817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i="1" lang="en-US" sz="1700">
                  <a:solidFill>
                    <a:srgbClr val="16A34A"/>
                  </a:solidFill>
                  <a:latin typeface="Arial"/>
                  <a:ea typeface="Arial"/>
                  <a:cs typeface="Arial"/>
                  <a:sym typeface="Arial"/>
                </a:rPr>
                <a:t>Error = average of (actual − predicted)²</a:t>
              </a:r>
              <a:endParaRPr b="1" i="1" sz="1700">
                <a:solidFill>
                  <a:srgbClr val="16A34A"/>
                </a:solidFill>
                <a:latin typeface="Arial"/>
                <a:ea typeface="Arial"/>
                <a:cs typeface="Arial"/>
                <a:sym typeface="Arial"/>
              </a:endParaRPr>
            </a:p>
            <a:p>
              <a:pPr indent="0" lvl="0" marL="0" rtl="0" algn="ctr">
                <a:spcBef>
                  <a:spcPts val="300"/>
                </a:spcBef>
                <a:spcAft>
                  <a:spcPts val="0"/>
                </a:spcAft>
                <a:buNone/>
              </a:pPr>
              <a:r>
                <a:rPr b="0" lang="en-US" sz="1100">
                  <a:solidFill>
                    <a:srgbClr val="475569"/>
                  </a:solidFill>
                  <a:latin typeface="Arial"/>
                  <a:ea typeface="Arial"/>
                  <a:cs typeface="Arial"/>
                  <a:sym typeface="Arial"/>
                </a:rPr>
                <a:t>How we measure how 'wrong' a line is</a:t>
              </a:r>
              <a:endParaRPr b="0" sz="1100">
                <a:solidFill>
                  <a:srgbClr val="475569"/>
                </a:solidFill>
                <a:latin typeface="Arial"/>
                <a:ea typeface="Arial"/>
                <a:cs typeface="Arial"/>
                <a:sym typeface="Arial"/>
              </a:endParaRPr>
            </a:p>
          </p:txBody>
        </p:sp>
        <p:sp>
          <p:nvSpPr>
            <p:cNvPr id="131" name="Google Shape;131;p3"/>
            <p:cNvSpPr txBox="1"/>
            <p:nvPr/>
          </p:nvSpPr>
          <p:spPr>
            <a:xfrm>
              <a:off x="285750" y="1238250"/>
              <a:ext cx="46674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0F172A"/>
                  </a:solidFill>
                  <a:latin typeface="Arial"/>
                  <a:ea typeface="Arial"/>
                  <a:cs typeface="Arial"/>
                  <a:sym typeface="Arial"/>
                </a:rPr>
                <a:t>Gradient Descent (Alternative Fit)</a:t>
              </a:r>
              <a:endParaRPr b="1" sz="1600">
                <a:solidFill>
                  <a:srgbClr val="0F172A"/>
                </a:solidFill>
                <a:latin typeface="Arial"/>
                <a:ea typeface="Arial"/>
                <a:cs typeface="Arial"/>
                <a:sym typeface="Arial"/>
              </a:endParaRPr>
            </a:p>
            <a:p>
              <a:pPr indent="-304800" lvl="0" marL="457200" rtl="0" algn="l">
                <a:spcBef>
                  <a:spcPts val="1200"/>
                </a:spcBef>
                <a:spcAft>
                  <a:spcPts val="0"/>
                </a:spcAft>
                <a:buClr>
                  <a:srgbClr val="334155"/>
                </a:buClr>
                <a:buSzPts val="1200"/>
                <a:buFont typeface="Arial"/>
                <a:buChar char="●"/>
              </a:pPr>
              <a:r>
                <a:rPr b="1" lang="en-US" sz="1200">
                  <a:solidFill>
                    <a:srgbClr val="0F172A"/>
                  </a:solidFill>
                  <a:latin typeface="Arial"/>
                  <a:ea typeface="Arial"/>
                  <a:cs typeface="Arial"/>
                  <a:sym typeface="Arial"/>
                </a:rPr>
                <a:t>The Analogy:</a:t>
              </a:r>
              <a:r>
                <a:rPr lang="en-US" sz="1200">
                  <a:solidFill>
                    <a:srgbClr val="334155"/>
                  </a:solidFill>
                  <a:latin typeface="Arial"/>
                  <a:ea typeface="Arial"/>
                  <a:cs typeface="Arial"/>
                  <a:sym typeface="Arial"/>
                </a:rPr>
                <a:t> Like a hiker lost in thick fog, feeling for the steepest downhill slope underfoot at each step.</a:t>
              </a:r>
              <a:endParaRPr sz="1200">
                <a:solidFill>
                  <a:srgbClr val="334155"/>
                </a:solidFill>
                <a:latin typeface="Arial"/>
                <a:ea typeface="Arial"/>
                <a:cs typeface="Arial"/>
                <a:sym typeface="Arial"/>
              </a:endParaRPr>
            </a:p>
            <a:p>
              <a:pPr indent="-304800" lvl="0" marL="457200" rtl="0" algn="l">
                <a:spcBef>
                  <a:spcPts val="900"/>
                </a:spcBef>
                <a:spcAft>
                  <a:spcPts val="0"/>
                </a:spcAft>
                <a:buClr>
                  <a:srgbClr val="334155"/>
                </a:buClr>
                <a:buSzPts val="1200"/>
                <a:buFont typeface="Arial"/>
                <a:buChar char="●"/>
              </a:pPr>
              <a:r>
                <a:rPr b="1" lang="en-US" sz="1200">
                  <a:solidFill>
                    <a:srgbClr val="0F172A"/>
                  </a:solidFill>
                  <a:latin typeface="Arial"/>
                  <a:ea typeface="Arial"/>
                  <a:cs typeface="Arial"/>
                  <a:sym typeface="Arial"/>
                </a:rPr>
                <a:t>Scalability:</a:t>
              </a:r>
              <a:r>
                <a:rPr lang="en-US" sz="1200">
                  <a:solidFill>
                    <a:srgbClr val="334155"/>
                  </a:solidFill>
                  <a:latin typeface="Arial"/>
                  <a:ea typeface="Arial"/>
                  <a:cs typeface="Arial"/>
                  <a:sym typeface="Arial"/>
                </a:rPr>
                <a:t> Useful when the exact formula is too slow (huge datasets, many features).</a:t>
              </a:r>
              <a:endParaRPr sz="1200">
                <a:solidFill>
                  <a:srgbClr val="334155"/>
                </a:solidFill>
                <a:latin typeface="Arial"/>
                <a:ea typeface="Arial"/>
                <a:cs typeface="Arial"/>
                <a:sym typeface="Arial"/>
              </a:endParaRPr>
            </a:p>
            <a:p>
              <a:pPr indent="-304800" lvl="0" marL="457200" rtl="0" algn="l">
                <a:spcBef>
                  <a:spcPts val="900"/>
                </a:spcBef>
                <a:spcAft>
                  <a:spcPts val="0"/>
                </a:spcAft>
                <a:buClr>
                  <a:srgbClr val="334155"/>
                </a:buClr>
                <a:buSzPts val="1200"/>
                <a:buFont typeface="Arial"/>
                <a:buChar char="●"/>
              </a:pPr>
              <a:r>
                <a:rPr b="1" lang="en-US" sz="1200">
                  <a:solidFill>
                    <a:srgbClr val="0F172A"/>
                  </a:solidFill>
                  <a:latin typeface="Arial"/>
                  <a:ea typeface="Arial"/>
                  <a:cs typeface="Arial"/>
                  <a:sym typeface="Arial"/>
                </a:rPr>
                <a:t>Learning Rate:</a:t>
              </a:r>
              <a:r>
                <a:rPr lang="en-US" sz="1200">
                  <a:solidFill>
                    <a:srgbClr val="334155"/>
                  </a:solidFill>
                  <a:latin typeface="Arial"/>
                  <a:ea typeface="Arial"/>
                  <a:cs typeface="Arial"/>
                  <a:sym typeface="Arial"/>
                </a:rPr>
                <a:t> The step size controls how big each downhill step is.</a:t>
              </a:r>
              <a:endParaRPr sz="1200">
                <a:solidFill>
                  <a:srgbClr val="334155"/>
                </a:solidFill>
                <a:latin typeface="Arial"/>
                <a:ea typeface="Arial"/>
                <a:cs typeface="Arial"/>
                <a:sym typeface="Arial"/>
              </a:endParaRPr>
            </a:p>
            <a:p>
              <a:pPr indent="-304800" lvl="0" marL="457200" rtl="0" algn="l">
                <a:spcBef>
                  <a:spcPts val="900"/>
                </a:spcBef>
                <a:spcAft>
                  <a:spcPts val="0"/>
                </a:spcAft>
                <a:buClr>
                  <a:srgbClr val="334155"/>
                </a:buClr>
                <a:buSzPts val="1200"/>
                <a:buFont typeface="Arial"/>
                <a:buChar char="●"/>
              </a:pPr>
              <a:r>
                <a:rPr b="1" lang="en-US" sz="1200">
                  <a:solidFill>
                    <a:srgbClr val="0F172A"/>
                  </a:solidFill>
                  <a:latin typeface="Arial"/>
                  <a:ea typeface="Arial"/>
                  <a:cs typeface="Arial"/>
                  <a:sym typeface="Arial"/>
                </a:rPr>
                <a:t>Step Tuning:</a:t>
              </a:r>
              <a:r>
                <a:rPr lang="en-US" sz="1200">
                  <a:solidFill>
                    <a:srgbClr val="334155"/>
                  </a:solidFill>
                  <a:latin typeface="Arial"/>
                  <a:ea typeface="Arial"/>
                  <a:cs typeface="Arial"/>
                  <a:sym typeface="Arial"/>
                </a:rPr>
                <a:t> Too big a step overshoots; too small takes forever to reach the bottom.</a:t>
              </a:r>
              <a:endParaRPr sz="1200">
                <a:solidFill>
                  <a:srgbClr val="334155"/>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 name="Shape 136"/>
        <p:cNvGrpSpPr/>
        <p:nvPr/>
      </p:nvGrpSpPr>
      <p:grpSpPr>
        <a:xfrm>
          <a:off x="0" y="0"/>
          <a:ext cx="0" cy="0"/>
          <a:chOff x="0" y="0"/>
          <a:chExt cx="0" cy="0"/>
        </a:xfrm>
      </p:grpSpPr>
      <p:pic>
        <p:nvPicPr>
          <p:cNvPr id="137" name="Google Shape;137;p5"/>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138" name="Google Shape;138;p5"/>
          <p:cNvGrpSpPr/>
          <p:nvPr/>
        </p:nvGrpSpPr>
        <p:grpSpPr>
          <a:xfrm>
            <a:off x="571500" y="476250"/>
            <a:ext cx="11049000" cy="952500"/>
            <a:chOff x="0" y="0"/>
            <a:chExt cx="11049000" cy="952500"/>
          </a:xfrm>
        </p:grpSpPr>
        <p:sp>
          <p:nvSpPr>
            <p:cNvPr id="139" name="Google Shape;139;p5"/>
            <p:cNvSpPr txBox="1"/>
            <p:nvPr/>
          </p:nvSpPr>
          <p:spPr>
            <a:xfrm>
              <a:off x="0" y="0"/>
              <a:ext cx="11049000" cy="952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E7490"/>
                  </a:solidFill>
                  <a:latin typeface="Arial"/>
                  <a:ea typeface="Arial"/>
                  <a:cs typeface="Arial"/>
                  <a:sym typeface="Arial"/>
                </a:rPr>
                <a:t>PREDICTING YES/NO (OR ONE OF SEVERAL CLASSES)</a:t>
              </a:r>
              <a:endParaRPr b="1" sz="1200">
                <a:solidFill>
                  <a:srgbClr val="0E7490"/>
                </a:solidFill>
                <a:latin typeface="Arial"/>
                <a:ea typeface="Arial"/>
                <a:cs typeface="Arial"/>
                <a:sym typeface="Arial"/>
              </a:endParaRPr>
            </a:p>
            <a:p>
              <a:pPr indent="0" lvl="0" marL="0" rtl="0" algn="l">
                <a:spcBef>
                  <a:spcPts val="375"/>
                </a:spcBef>
                <a:spcAft>
                  <a:spcPts val="0"/>
                </a:spcAft>
                <a:buNone/>
              </a:pPr>
              <a:r>
                <a:rPr b="1" lang="en-US" sz="3200">
                  <a:solidFill>
                    <a:srgbClr val="0F172A"/>
                  </a:solidFill>
                  <a:latin typeface="Arial"/>
                  <a:ea typeface="Arial"/>
                  <a:cs typeface="Arial"/>
                  <a:sym typeface="Arial"/>
                </a:rPr>
                <a:t>Logistic Regression</a:t>
              </a:r>
              <a:endParaRPr b="1" sz="1200">
                <a:solidFill>
                  <a:srgbClr val="0E7490"/>
                </a:solidFill>
                <a:latin typeface="Arial"/>
                <a:ea typeface="Arial"/>
                <a:cs typeface="Arial"/>
                <a:sym typeface="Arial"/>
              </a:endParaRPr>
            </a:p>
          </p:txBody>
        </p:sp>
        <p:sp>
          <p:nvSpPr>
            <p:cNvPr id="140" name="Google Shape;140;p5"/>
            <p:cNvSpPr/>
            <p:nvPr/>
          </p:nvSpPr>
          <p:spPr>
            <a:xfrm>
              <a:off x="0" y="809625"/>
              <a:ext cx="762000" cy="38100"/>
            </a:xfrm>
            <a:prstGeom prst="rect">
              <a:avLst/>
            </a:prstGeom>
            <a:solidFill>
              <a:srgbClr val="1D4ED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41" name="Google Shape;141;p5"/>
          <p:cNvGrpSpPr/>
          <p:nvPr/>
        </p:nvGrpSpPr>
        <p:grpSpPr>
          <a:xfrm>
            <a:off x="571500" y="1714500"/>
            <a:ext cx="5238900" cy="4476900"/>
            <a:chOff x="0" y="0"/>
            <a:chExt cx="5238900" cy="4476900"/>
          </a:xfrm>
        </p:grpSpPr>
        <p:sp>
          <p:nvSpPr>
            <p:cNvPr id="142" name="Google Shape;142;p5"/>
            <p:cNvSpPr/>
            <p:nvPr/>
          </p:nvSpPr>
          <p:spPr>
            <a:xfrm>
              <a:off x="0" y="0"/>
              <a:ext cx="5238900" cy="4476900"/>
            </a:xfrm>
            <a:prstGeom prst="roundRect">
              <a:avLst>
                <a:gd fmla="val 340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 name="Google Shape;143;p5"/>
            <p:cNvSpPr/>
            <p:nvPr/>
          </p:nvSpPr>
          <p:spPr>
            <a:xfrm>
              <a:off x="0" y="0"/>
              <a:ext cx="5238900" cy="1047900"/>
            </a:xfrm>
            <a:prstGeom prst="roundRect">
              <a:avLst>
                <a:gd fmla="val 14545"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5"/>
            <p:cNvSpPr/>
            <p:nvPr/>
          </p:nvSpPr>
          <p:spPr>
            <a:xfrm>
              <a:off x="0" y="895350"/>
              <a:ext cx="5238900" cy="152400"/>
            </a:xfrm>
            <a:prstGeom prst="rect">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5"/>
            <p:cNvSpPr txBox="1"/>
            <p:nvPr/>
          </p:nvSpPr>
          <p:spPr>
            <a:xfrm>
              <a:off x="228600" y="190500"/>
              <a:ext cx="47817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1" lang="en-US" sz="2000">
                  <a:solidFill>
                    <a:srgbClr val="1D4ED8"/>
                  </a:solidFill>
                  <a:latin typeface="Arial"/>
                  <a:ea typeface="Arial"/>
                  <a:cs typeface="Arial"/>
                  <a:sym typeface="Arial"/>
                </a:rPr>
                <a:t>σ(z) = 1 / (1 + e⁻ᶻ)</a:t>
              </a:r>
              <a:endParaRPr b="1" i="1" sz="2000">
                <a:solidFill>
                  <a:srgbClr val="1D4ED8"/>
                </a:solidFill>
                <a:latin typeface="Arial"/>
                <a:ea typeface="Arial"/>
                <a:cs typeface="Arial"/>
                <a:sym typeface="Arial"/>
              </a:endParaRPr>
            </a:p>
            <a:p>
              <a:pPr indent="0" lvl="0" marL="0" rtl="0" algn="ctr">
                <a:spcBef>
                  <a:spcPts val="300"/>
                </a:spcBef>
                <a:spcAft>
                  <a:spcPts val="0"/>
                </a:spcAft>
                <a:buNone/>
              </a:pPr>
              <a:r>
                <a:rPr b="0" i="0" lang="en-US" sz="1100">
                  <a:solidFill>
                    <a:srgbClr val="475569"/>
                  </a:solidFill>
                  <a:latin typeface="Arial"/>
                  <a:ea typeface="Arial"/>
                  <a:cs typeface="Arial"/>
                  <a:sym typeface="Arial"/>
                </a:rPr>
                <a:t>The Sigmoid — squashes any number into a 0–1 probability</a:t>
              </a:r>
              <a:endParaRPr b="0" i="0" sz="1100">
                <a:solidFill>
                  <a:srgbClr val="475569"/>
                </a:solidFill>
                <a:latin typeface="Arial"/>
                <a:ea typeface="Arial"/>
                <a:cs typeface="Arial"/>
                <a:sym typeface="Arial"/>
              </a:endParaRPr>
            </a:p>
          </p:txBody>
        </p:sp>
        <p:sp>
          <p:nvSpPr>
            <p:cNvPr id="146" name="Google Shape;146;p5"/>
            <p:cNvSpPr txBox="1"/>
            <p:nvPr/>
          </p:nvSpPr>
          <p:spPr>
            <a:xfrm>
              <a:off x="285750" y="1238250"/>
              <a:ext cx="4667400" cy="2952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0F172A"/>
                  </a:solidFill>
                  <a:latin typeface="Arial"/>
                  <a:ea typeface="Arial"/>
                  <a:cs typeface="Arial"/>
                  <a:sym typeface="Arial"/>
                </a:rPr>
                <a:t>How It's Trained &amp; Used</a:t>
              </a:r>
              <a:endParaRPr b="1" sz="1600">
                <a:solidFill>
                  <a:srgbClr val="0F172A"/>
                </a:solidFill>
                <a:latin typeface="Arial"/>
                <a:ea typeface="Arial"/>
                <a:cs typeface="Arial"/>
                <a:sym typeface="Arial"/>
              </a:endParaRPr>
            </a:p>
            <a:p>
              <a:pPr indent="-330200" lvl="0" marL="457200" rtl="0" algn="l">
                <a:spcBef>
                  <a:spcPts val="1200"/>
                </a:spcBef>
                <a:spcAft>
                  <a:spcPts val="0"/>
                </a:spcAft>
                <a:buClr>
                  <a:srgbClr val="0F172A"/>
                </a:buClr>
                <a:buSzPts val="1600"/>
                <a:buFont typeface="Arial"/>
                <a:buChar char="●"/>
              </a:pPr>
              <a:r>
                <a:rPr b="1" lang="en-US" sz="1200">
                  <a:solidFill>
                    <a:srgbClr val="0F172A"/>
                  </a:solidFill>
                  <a:latin typeface="Arial"/>
                  <a:ea typeface="Arial"/>
                  <a:cs typeface="Arial"/>
                  <a:sym typeface="Arial"/>
                </a:rPr>
                <a:t>Probability Output:</a:t>
              </a:r>
              <a:r>
                <a:rPr b="0" lang="en-US" sz="1200">
                  <a:solidFill>
                    <a:srgbClr val="334155"/>
                  </a:solidFill>
                  <a:latin typeface="Arial"/>
                  <a:ea typeface="Arial"/>
                  <a:cs typeface="Arial"/>
                  <a:sym typeface="Arial"/>
                </a:rPr>
                <a:t> Maps inputs to a continuous value between 0 and 1, representing class probability.</a:t>
              </a:r>
              <a:endParaRPr b="1" sz="1600">
                <a:solidFill>
                  <a:srgbClr val="0F172A"/>
                </a:solidFill>
                <a:latin typeface="Arial"/>
                <a:ea typeface="Arial"/>
                <a:cs typeface="Arial"/>
                <a:sym typeface="Arial"/>
              </a:endParaRPr>
            </a:p>
            <a:p>
              <a:pPr indent="-330200" lvl="0" marL="457200" rtl="0" algn="l">
                <a:spcBef>
                  <a:spcPts val="1200"/>
                </a:spcBef>
                <a:spcAft>
                  <a:spcPts val="0"/>
                </a:spcAft>
                <a:buClr>
                  <a:srgbClr val="0F172A"/>
                </a:buClr>
                <a:buSzPts val="1600"/>
                <a:buFont typeface="Arial"/>
                <a:buChar char="●"/>
              </a:pPr>
              <a:r>
                <a:rPr b="1" lang="en-US" sz="1200">
                  <a:solidFill>
                    <a:srgbClr val="0F172A"/>
                  </a:solidFill>
                  <a:latin typeface="Arial"/>
                  <a:ea typeface="Arial"/>
                  <a:cs typeface="Arial"/>
                  <a:sym typeface="Arial"/>
                </a:rPr>
                <a:t>Loss Function:</a:t>
              </a:r>
              <a:r>
                <a:rPr b="0" lang="en-US" sz="1200">
                  <a:solidFill>
                    <a:srgbClr val="334155"/>
                  </a:solidFill>
                  <a:latin typeface="Arial"/>
                  <a:ea typeface="Arial"/>
                  <a:cs typeface="Arial"/>
                  <a:sym typeface="Arial"/>
                </a:rPr>
                <a:t> Uses cross-entropy loss to measure how far predictions are from the true 0 or 1 labels.</a:t>
              </a:r>
              <a:endParaRPr b="1" sz="1600">
                <a:solidFill>
                  <a:srgbClr val="0F172A"/>
                </a:solidFill>
                <a:latin typeface="Arial"/>
                <a:ea typeface="Arial"/>
                <a:cs typeface="Arial"/>
                <a:sym typeface="Arial"/>
              </a:endParaRPr>
            </a:p>
            <a:p>
              <a:pPr indent="-330200" lvl="0" marL="457200" rtl="0" algn="l">
                <a:spcBef>
                  <a:spcPts val="1200"/>
                </a:spcBef>
                <a:spcAft>
                  <a:spcPts val="0"/>
                </a:spcAft>
                <a:buClr>
                  <a:srgbClr val="0F172A"/>
                </a:buClr>
                <a:buSzPts val="1600"/>
                <a:buFont typeface="Arial"/>
                <a:buChar char="●"/>
              </a:pPr>
              <a:r>
                <a:rPr b="1" lang="en-US" sz="1200">
                  <a:solidFill>
                    <a:srgbClr val="0F172A"/>
                  </a:solidFill>
                  <a:latin typeface="Arial"/>
                  <a:ea typeface="Arial"/>
                  <a:cs typeface="Arial"/>
                  <a:sym typeface="Arial"/>
                </a:rPr>
                <a:t>Optimization:</a:t>
              </a:r>
              <a:r>
                <a:rPr b="0" lang="en-US" sz="1200">
                  <a:solidFill>
                    <a:srgbClr val="334155"/>
                  </a:solidFill>
                  <a:latin typeface="Arial"/>
                  <a:ea typeface="Arial"/>
                  <a:cs typeface="Arial"/>
                  <a:sym typeface="Arial"/>
                </a:rPr>
                <a:t> Adjusts model weights iteratively to maximize correct class confidence and shrink total loss.</a:t>
              </a:r>
              <a:endParaRPr b="1" sz="1600">
                <a:solidFill>
                  <a:srgbClr val="0F172A"/>
                </a:solidFill>
                <a:latin typeface="Arial"/>
                <a:ea typeface="Arial"/>
                <a:cs typeface="Arial"/>
                <a:sym typeface="Arial"/>
              </a:endParaRPr>
            </a:p>
          </p:txBody>
        </p:sp>
      </p:grpSp>
      <p:grpSp>
        <p:nvGrpSpPr>
          <p:cNvPr id="147" name="Google Shape;147;p5"/>
          <p:cNvGrpSpPr/>
          <p:nvPr/>
        </p:nvGrpSpPr>
        <p:grpSpPr>
          <a:xfrm>
            <a:off x="6381750" y="1714500"/>
            <a:ext cx="5238900" cy="4476900"/>
            <a:chOff x="0" y="0"/>
            <a:chExt cx="5238900" cy="4476900"/>
          </a:xfrm>
        </p:grpSpPr>
        <p:sp>
          <p:nvSpPr>
            <p:cNvPr id="148" name="Google Shape;148;p5"/>
            <p:cNvSpPr/>
            <p:nvPr/>
          </p:nvSpPr>
          <p:spPr>
            <a:xfrm>
              <a:off x="0" y="0"/>
              <a:ext cx="5238900" cy="4476900"/>
            </a:xfrm>
            <a:prstGeom prst="roundRect">
              <a:avLst>
                <a:gd fmla="val 340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 name="Google Shape;149;p5"/>
            <p:cNvSpPr/>
            <p:nvPr/>
          </p:nvSpPr>
          <p:spPr>
            <a:xfrm>
              <a:off x="0" y="0"/>
              <a:ext cx="5238900" cy="1047900"/>
            </a:xfrm>
            <a:prstGeom prst="roundRect">
              <a:avLst>
                <a:gd fmla="val 14545" name="adj"/>
              </a:avLst>
            </a:prstGeom>
            <a:solidFill>
              <a:srgbClr val="F0FDF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 name="Google Shape;150;p5"/>
            <p:cNvSpPr/>
            <p:nvPr/>
          </p:nvSpPr>
          <p:spPr>
            <a:xfrm>
              <a:off x="0" y="895350"/>
              <a:ext cx="5238900" cy="152400"/>
            </a:xfrm>
            <a:prstGeom prst="rect">
              <a:avLst/>
            </a:prstGeom>
            <a:solidFill>
              <a:srgbClr val="F0FDF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 name="Google Shape;151;p5"/>
            <p:cNvSpPr txBox="1"/>
            <p:nvPr/>
          </p:nvSpPr>
          <p:spPr>
            <a:xfrm>
              <a:off x="228600" y="190500"/>
              <a:ext cx="47817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1" lang="en-US" sz="1800">
                  <a:solidFill>
                    <a:srgbClr val="16A34A"/>
                  </a:solidFill>
                  <a:latin typeface="Arial"/>
                  <a:ea typeface="Arial"/>
                  <a:cs typeface="Arial"/>
                  <a:sym typeface="Arial"/>
                </a:rPr>
                <a:t>softmax → picks probabilities</a:t>
              </a:r>
              <a:endParaRPr b="1" i="1" sz="1800">
                <a:solidFill>
                  <a:srgbClr val="16A34A"/>
                </a:solidFill>
                <a:latin typeface="Arial"/>
                <a:ea typeface="Arial"/>
                <a:cs typeface="Arial"/>
                <a:sym typeface="Arial"/>
              </a:endParaRPr>
            </a:p>
            <a:p>
              <a:pPr indent="0" lvl="0" marL="0" rtl="0" algn="ctr">
                <a:spcBef>
                  <a:spcPts val="300"/>
                </a:spcBef>
                <a:spcAft>
                  <a:spcPts val="0"/>
                </a:spcAft>
                <a:buNone/>
              </a:pPr>
              <a:r>
                <a:rPr b="0" i="0" lang="en-US" sz="1100">
                  <a:solidFill>
                    <a:srgbClr val="475569"/>
                  </a:solidFill>
                  <a:latin typeface="Arial"/>
                  <a:ea typeface="Arial"/>
                  <a:cs typeface="Arial"/>
                  <a:sym typeface="Arial"/>
                </a:rPr>
                <a:t>Same core concept, extended to multi-class scenarios</a:t>
              </a:r>
              <a:endParaRPr b="0" i="0" sz="1100">
                <a:solidFill>
                  <a:srgbClr val="475569"/>
                </a:solidFill>
                <a:latin typeface="Arial"/>
                <a:ea typeface="Arial"/>
                <a:cs typeface="Arial"/>
                <a:sym typeface="Arial"/>
              </a:endParaRPr>
            </a:p>
          </p:txBody>
        </p:sp>
        <p:sp>
          <p:nvSpPr>
            <p:cNvPr id="152" name="Google Shape;152;p5"/>
            <p:cNvSpPr txBox="1"/>
            <p:nvPr/>
          </p:nvSpPr>
          <p:spPr>
            <a:xfrm>
              <a:off x="285750" y="1238250"/>
              <a:ext cx="4667400" cy="2952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0F172A"/>
                  </a:solidFill>
                  <a:latin typeface="Arial"/>
                  <a:ea typeface="Arial"/>
                  <a:cs typeface="Arial"/>
                  <a:sym typeface="Arial"/>
                </a:rPr>
                <a:t>Reading the Model</a:t>
              </a:r>
              <a:endParaRPr b="1" sz="1600">
                <a:solidFill>
                  <a:srgbClr val="0F172A"/>
                </a:solidFill>
                <a:latin typeface="Arial"/>
                <a:ea typeface="Arial"/>
                <a:cs typeface="Arial"/>
                <a:sym typeface="Arial"/>
              </a:endParaRPr>
            </a:p>
            <a:p>
              <a:pPr indent="-330200" lvl="0" marL="457200" rtl="0" algn="l">
                <a:spcBef>
                  <a:spcPts val="1200"/>
                </a:spcBef>
                <a:spcAft>
                  <a:spcPts val="0"/>
                </a:spcAft>
                <a:buClr>
                  <a:srgbClr val="0F172A"/>
                </a:buClr>
                <a:buSzPts val="1600"/>
                <a:buFont typeface="Arial"/>
                <a:buChar char="●"/>
              </a:pPr>
              <a:r>
                <a:rPr b="1" lang="en-US" sz="1200">
                  <a:solidFill>
                    <a:srgbClr val="0F172A"/>
                  </a:solidFill>
                  <a:latin typeface="Arial"/>
                  <a:ea typeface="Arial"/>
                  <a:cs typeface="Arial"/>
                  <a:sym typeface="Arial"/>
                </a:rPr>
                <a:t>Classification:</a:t>
              </a:r>
              <a:r>
                <a:rPr b="0" lang="en-US" sz="1200">
                  <a:solidFill>
                    <a:srgbClr val="334155"/>
                  </a:solidFill>
                  <a:latin typeface="Arial"/>
                  <a:ea typeface="Arial"/>
                  <a:cs typeface="Arial"/>
                  <a:sym typeface="Arial"/>
                </a:rPr>
                <a:t> Despite its name, it is fundamentally a classification method, not a regression one.</a:t>
              </a:r>
              <a:endParaRPr b="1" sz="1600">
                <a:solidFill>
                  <a:srgbClr val="0F172A"/>
                </a:solidFill>
                <a:latin typeface="Arial"/>
                <a:ea typeface="Arial"/>
                <a:cs typeface="Arial"/>
                <a:sym typeface="Arial"/>
              </a:endParaRPr>
            </a:p>
            <a:p>
              <a:pPr indent="-330200" lvl="0" marL="457200" rtl="0" algn="l">
                <a:spcBef>
                  <a:spcPts val="1050"/>
                </a:spcBef>
                <a:spcAft>
                  <a:spcPts val="0"/>
                </a:spcAft>
                <a:buClr>
                  <a:srgbClr val="0F172A"/>
                </a:buClr>
                <a:buSzPts val="1600"/>
                <a:buFont typeface="Arial"/>
                <a:buChar char="●"/>
              </a:pPr>
              <a:r>
                <a:rPr b="1" lang="en-US" sz="1200">
                  <a:solidFill>
                    <a:srgbClr val="0F172A"/>
                  </a:solidFill>
                  <a:latin typeface="Arial"/>
                  <a:ea typeface="Arial"/>
                  <a:cs typeface="Arial"/>
                  <a:sym typeface="Arial"/>
                </a:rPr>
                <a:t>Decision Boundary:</a:t>
              </a:r>
              <a:r>
                <a:rPr b="0" lang="en-US" sz="1200">
                  <a:solidFill>
                    <a:srgbClr val="334155"/>
                  </a:solidFill>
                  <a:latin typeface="Arial"/>
                  <a:ea typeface="Arial"/>
                  <a:cs typeface="Arial"/>
                  <a:sym typeface="Arial"/>
                </a:rPr>
                <a:t> Draws a straight decision boundary that separates classes as cleanly as possible.</a:t>
              </a:r>
              <a:endParaRPr b="1" sz="1600">
                <a:solidFill>
                  <a:srgbClr val="0F172A"/>
                </a:solidFill>
                <a:latin typeface="Arial"/>
                <a:ea typeface="Arial"/>
                <a:cs typeface="Arial"/>
                <a:sym typeface="Arial"/>
              </a:endParaRPr>
            </a:p>
            <a:p>
              <a:pPr indent="-330200" lvl="0" marL="457200" rtl="0" algn="l">
                <a:spcBef>
                  <a:spcPts val="1050"/>
                </a:spcBef>
                <a:spcAft>
                  <a:spcPts val="0"/>
                </a:spcAft>
                <a:buClr>
                  <a:srgbClr val="0F172A"/>
                </a:buClr>
                <a:buSzPts val="1600"/>
                <a:buFont typeface="Arial"/>
                <a:buChar char="●"/>
              </a:pPr>
              <a:r>
                <a:rPr b="1" lang="en-US" sz="1200">
                  <a:solidFill>
                    <a:srgbClr val="0F172A"/>
                  </a:solidFill>
                  <a:latin typeface="Arial"/>
                  <a:ea typeface="Arial"/>
                  <a:cs typeface="Arial"/>
                  <a:sym typeface="Arial"/>
                </a:rPr>
                <a:t>Coefficients:</a:t>
              </a:r>
              <a:r>
                <a:rPr b="0" lang="en-US" sz="1200">
                  <a:solidFill>
                    <a:srgbClr val="334155"/>
                  </a:solidFill>
                  <a:latin typeface="Arial"/>
                  <a:ea typeface="Arial"/>
                  <a:cs typeface="Arial"/>
                  <a:sym typeface="Arial"/>
                </a:rPr>
                <a:t> Each coefficient indicates how strongly a specific feature pushes the output toward 'yes' or 'no'.</a:t>
              </a:r>
              <a:endParaRPr b="1" sz="1600">
                <a:solidFill>
                  <a:srgbClr val="0F172A"/>
                </a:solidFill>
                <a:latin typeface="Arial"/>
                <a:ea typeface="Arial"/>
                <a:cs typeface="Arial"/>
                <a:sym typeface="Arial"/>
              </a:endParaRPr>
            </a:p>
            <a:p>
              <a:pPr indent="-330200" lvl="0" marL="457200" rtl="0" algn="l">
                <a:spcBef>
                  <a:spcPts val="1050"/>
                </a:spcBef>
                <a:spcAft>
                  <a:spcPts val="0"/>
                </a:spcAft>
                <a:buClr>
                  <a:srgbClr val="0F172A"/>
                </a:buClr>
                <a:buSzPts val="1600"/>
                <a:buFont typeface="Arial"/>
                <a:buChar char="●"/>
              </a:pPr>
              <a:r>
                <a:rPr b="1" lang="en-US" sz="1200">
                  <a:solidFill>
                    <a:srgbClr val="0F172A"/>
                  </a:solidFill>
                  <a:latin typeface="Arial"/>
                  <a:ea typeface="Arial"/>
                  <a:cs typeface="Arial"/>
                  <a:sym typeface="Arial"/>
                </a:rPr>
                <a:t>Multi-Class:</a:t>
              </a:r>
              <a:r>
                <a:rPr b="0" lang="en-US" sz="1200">
                  <a:solidFill>
                    <a:srgbClr val="334155"/>
                  </a:solidFill>
                  <a:latin typeface="Arial"/>
                  <a:ea typeface="Arial"/>
                  <a:cs typeface="Arial"/>
                  <a:sym typeface="Arial"/>
                </a:rPr>
                <a:t> Extends naturally to predict multiple categories (e.g., cat, dog, bird) using a softmax layer.</a:t>
              </a:r>
              <a:endParaRPr b="1" sz="1600">
                <a:solidFill>
                  <a:srgbClr val="0F172A"/>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sp>
        <p:nvSpPr>
          <p:cNvPr id="158" name="Google Shape;158;p4"/>
          <p:cNvSpPr txBox="1"/>
          <p:nvPr/>
        </p:nvSpPr>
        <p:spPr>
          <a:xfrm>
            <a:off x="548640" y="320040"/>
            <a:ext cx="105156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0E7490"/>
                </a:solidFill>
                <a:latin typeface="Arial"/>
                <a:ea typeface="Arial"/>
                <a:cs typeface="Arial"/>
                <a:sym typeface="Arial"/>
              </a:rPr>
              <a:t>RIDGE VS. LASSO VS. ELASTICNET</a:t>
            </a:r>
            <a:endParaRPr/>
          </a:p>
        </p:txBody>
      </p:sp>
      <p:sp>
        <p:nvSpPr>
          <p:cNvPr id="159" name="Google Shape;159;p4"/>
          <p:cNvSpPr txBox="1"/>
          <p:nvPr/>
        </p:nvSpPr>
        <p:spPr>
          <a:xfrm>
            <a:off x="548640" y="621792"/>
            <a:ext cx="110643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0F172A"/>
                </a:solidFill>
                <a:latin typeface="Arial"/>
                <a:ea typeface="Arial"/>
                <a:cs typeface="Arial"/>
                <a:sym typeface="Arial"/>
              </a:rPr>
              <a:t>Keeping Models Simple: Regularization</a:t>
            </a:r>
            <a:endParaRPr/>
          </a:p>
        </p:txBody>
      </p:sp>
      <p:grpSp>
        <p:nvGrpSpPr>
          <p:cNvPr id="160" name="Google Shape;160;p4"/>
          <p:cNvGrpSpPr/>
          <p:nvPr/>
        </p:nvGrpSpPr>
        <p:grpSpPr>
          <a:xfrm>
            <a:off x="548640" y="1714500"/>
            <a:ext cx="3429000" cy="4572000"/>
            <a:chOff x="0" y="0"/>
            <a:chExt cx="3429000" cy="4572000"/>
          </a:xfrm>
        </p:grpSpPr>
        <p:sp>
          <p:nvSpPr>
            <p:cNvPr id="161" name="Google Shape;161;p4"/>
            <p:cNvSpPr/>
            <p:nvPr/>
          </p:nvSpPr>
          <p:spPr>
            <a:xfrm>
              <a:off x="0" y="0"/>
              <a:ext cx="3429000" cy="4572000"/>
            </a:xfrm>
            <a:prstGeom prst="roundRect">
              <a:avLst>
                <a:gd fmla="val 4444" name="adj"/>
              </a:avLst>
            </a:prstGeom>
            <a:solidFill>
              <a:srgbClr val="F1F5F9"/>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 name="Google Shape;162;p4"/>
            <p:cNvSpPr txBox="1"/>
            <p:nvPr/>
          </p:nvSpPr>
          <p:spPr>
            <a:xfrm>
              <a:off x="0" y="0"/>
              <a:ext cx="3429000" cy="4572000"/>
            </a:xfrm>
            <a:prstGeom prst="rect">
              <a:avLst/>
            </a:prstGeom>
            <a:solidFill>
              <a:srgbClr val="000000">
                <a:alpha val="0"/>
              </a:srgbClr>
            </a:solidFill>
            <a:ln>
              <a:noFill/>
            </a:ln>
          </p:spPr>
          <p:txBody>
            <a:bodyPr anchorCtr="0" anchor="t" bIns="285750" lIns="228600" spcFirstLastPara="1" rIns="228600" wrap="square" tIns="285750">
              <a:noAutofit/>
            </a:bodyPr>
            <a:lstStyle/>
            <a:p>
              <a:pPr indent="0" lvl="0" marL="0" rtl="0" algn="l">
                <a:spcBef>
                  <a:spcPts val="0"/>
                </a:spcBef>
                <a:spcAft>
                  <a:spcPts val="0"/>
                </a:spcAft>
                <a:buNone/>
              </a:pPr>
              <a:r>
                <a:rPr b="1" lang="en-US" sz="1300">
                  <a:solidFill>
                    <a:srgbClr val="1D4ED8"/>
                  </a:solidFill>
                  <a:latin typeface="Arial"/>
                  <a:ea typeface="Arial"/>
                  <a:cs typeface="Arial"/>
                  <a:sym typeface="Arial"/>
                </a:rPr>
                <a:t>01 / L2 Regularization</a:t>
              </a:r>
              <a:endParaRPr b="1" sz="1300">
                <a:solidFill>
                  <a:srgbClr val="1D4ED8"/>
                </a:solidFill>
                <a:latin typeface="Arial"/>
                <a:ea typeface="Arial"/>
                <a:cs typeface="Arial"/>
                <a:sym typeface="Arial"/>
              </a:endParaRPr>
            </a:p>
            <a:p>
              <a:pPr indent="0" lvl="0" marL="0" rtl="0" algn="l">
                <a:spcBef>
                  <a:spcPts val="600"/>
                </a:spcBef>
                <a:spcAft>
                  <a:spcPts val="0"/>
                </a:spcAft>
                <a:buNone/>
              </a:pPr>
              <a:r>
                <a:rPr b="1" lang="en-US" sz="3000">
                  <a:solidFill>
                    <a:srgbClr val="0F172A"/>
                  </a:solidFill>
                  <a:latin typeface="Arial"/>
                  <a:ea typeface="Arial"/>
                  <a:cs typeface="Arial"/>
                  <a:sym typeface="Arial"/>
                </a:rPr>
                <a:t>Ridge</a:t>
              </a:r>
              <a:endParaRPr b="1" sz="1300">
                <a:solidFill>
                  <a:srgbClr val="1D4ED8"/>
                </a:solidFill>
                <a:latin typeface="Arial"/>
                <a:ea typeface="Arial"/>
                <a:cs typeface="Arial"/>
                <a:sym typeface="Arial"/>
              </a:endParaRPr>
            </a:p>
            <a:p>
              <a:pPr indent="0" lvl="0" marL="0" rtl="0" algn="l">
                <a:spcBef>
                  <a:spcPts val="1050"/>
                </a:spcBef>
                <a:spcAft>
                  <a:spcPts val="0"/>
                </a:spcAft>
                <a:buNone/>
              </a:pPr>
              <a:r>
                <a:rPr b="1" i="1" lang="en-US" sz="1300">
                  <a:solidFill>
                    <a:srgbClr val="0E7490"/>
                  </a:solidFill>
                  <a:highlight>
                    <a:srgbClr val="E0F2FE"/>
                  </a:highlight>
                  <a:latin typeface="Arial"/>
                  <a:ea typeface="Arial"/>
                  <a:cs typeface="Arial"/>
                  <a:sym typeface="Arial"/>
                </a:rPr>
                <a:t>Error + a penalty for large coefficients</a:t>
              </a:r>
              <a:br>
                <a:rPr b="1" lang="en-US" sz="1300">
                  <a:solidFill>
                    <a:srgbClr val="1D4ED8"/>
                  </a:solidFill>
                  <a:latin typeface="Arial"/>
                  <a:ea typeface="Arial"/>
                  <a:cs typeface="Arial"/>
                  <a:sym typeface="Arial"/>
                </a:rPr>
              </a:br>
              <a:r>
                <a:rPr b="0" lang="en-US" sz="1150">
                  <a:solidFill>
                    <a:srgbClr val="475569"/>
                  </a:solidFill>
                  <a:highlight>
                    <a:srgbClr val="E0F2FE"/>
                  </a:highlight>
                  <a:latin typeface="Arial"/>
                  <a:ea typeface="Arial"/>
                  <a:cs typeface="Arial"/>
                  <a:sym typeface="Arial"/>
                </a:rPr>
                <a:t>Shrinks every coefficient a little</a:t>
              </a:r>
              <a:endParaRPr b="1" sz="1300">
                <a:solidFill>
                  <a:srgbClr val="1D4ED8"/>
                </a:solidFill>
                <a:latin typeface="Arial"/>
                <a:ea typeface="Arial"/>
                <a:cs typeface="Arial"/>
                <a:sym typeface="Arial"/>
              </a:endParaRPr>
            </a:p>
            <a:p>
              <a:pPr indent="0" lvl="0" marL="0" rtl="0" algn="l">
                <a:spcBef>
                  <a:spcPts val="1200"/>
                </a:spcBef>
                <a:spcAft>
                  <a:spcPts val="0"/>
                </a:spcAft>
                <a:buNone/>
              </a:pPr>
              <a:r>
                <a:rPr b="1" lang="en-US" sz="1350">
                  <a:solidFill>
                    <a:srgbClr val="1D4ED8"/>
                  </a:solidFill>
                  <a:latin typeface="Arial"/>
                  <a:ea typeface="Arial"/>
                  <a:cs typeface="Arial"/>
                  <a:sym typeface="Arial"/>
                </a:rPr>
                <a:t>In Plain Words:</a:t>
              </a:r>
              <a:br>
                <a:rPr b="1" lang="en-US" sz="1300">
                  <a:solidFill>
                    <a:srgbClr val="1D4ED8"/>
                  </a:solidFill>
                  <a:latin typeface="Arial"/>
                  <a:ea typeface="Arial"/>
                  <a:cs typeface="Arial"/>
                  <a:sym typeface="Arial"/>
                </a:rPr>
              </a:br>
              <a:r>
                <a:rPr b="0" lang="en-US" sz="1250">
                  <a:solidFill>
                    <a:srgbClr val="475569"/>
                  </a:solidFill>
                  <a:latin typeface="Arial"/>
                  <a:ea typeface="Arial"/>
                  <a:cs typeface="Arial"/>
                  <a:sym typeface="Arial"/>
                </a:rPr>
                <a:t>Discourages any coefficient from getting too big</a:t>
              </a:r>
              <a:endParaRPr b="1" sz="1300">
                <a:solidFill>
                  <a:srgbClr val="1D4ED8"/>
                </a:solidFill>
                <a:latin typeface="Arial"/>
                <a:ea typeface="Arial"/>
                <a:cs typeface="Arial"/>
                <a:sym typeface="Arial"/>
              </a:endParaRPr>
            </a:p>
            <a:p>
              <a:pPr indent="0" lvl="0" marL="0" rtl="0" algn="l">
                <a:spcBef>
                  <a:spcPts val="900"/>
                </a:spcBef>
                <a:spcAft>
                  <a:spcPts val="0"/>
                </a:spcAft>
                <a:buNone/>
              </a:pPr>
              <a:r>
                <a:rPr b="1" lang="en-US" sz="1350">
                  <a:solidFill>
                    <a:srgbClr val="1D4ED8"/>
                  </a:solidFill>
                  <a:latin typeface="Arial"/>
                  <a:ea typeface="Arial"/>
                  <a:cs typeface="Arial"/>
                  <a:sym typeface="Arial"/>
                </a:rPr>
                <a:t>Effect:</a:t>
              </a:r>
              <a:br>
                <a:rPr b="1" lang="en-US" sz="1300">
                  <a:solidFill>
                    <a:srgbClr val="1D4ED8"/>
                  </a:solidFill>
                  <a:latin typeface="Arial"/>
                  <a:ea typeface="Arial"/>
                  <a:cs typeface="Arial"/>
                  <a:sym typeface="Arial"/>
                </a:rPr>
              </a:br>
              <a:r>
                <a:rPr b="0" lang="en-US" sz="1250">
                  <a:solidFill>
                    <a:srgbClr val="475569"/>
                  </a:solidFill>
                  <a:latin typeface="Arial"/>
                  <a:ea typeface="Arial"/>
                  <a:cs typeface="Arial"/>
                  <a:sym typeface="Arial"/>
                </a:rPr>
                <a:t>Shrinks all coefficients, none reach zero</a:t>
              </a:r>
              <a:endParaRPr b="1" sz="1300">
                <a:solidFill>
                  <a:srgbClr val="1D4ED8"/>
                </a:solidFill>
                <a:latin typeface="Arial"/>
                <a:ea typeface="Arial"/>
                <a:cs typeface="Arial"/>
                <a:sym typeface="Arial"/>
              </a:endParaRPr>
            </a:p>
            <a:p>
              <a:pPr indent="0" lvl="0" marL="0" rtl="0" algn="l">
                <a:spcBef>
                  <a:spcPts val="900"/>
                </a:spcBef>
                <a:spcAft>
                  <a:spcPts val="0"/>
                </a:spcAft>
                <a:buNone/>
              </a:pPr>
              <a:r>
                <a:rPr b="1" lang="en-US" sz="1350">
                  <a:solidFill>
                    <a:srgbClr val="1D4ED8"/>
                  </a:solidFill>
                  <a:latin typeface="Arial"/>
                  <a:ea typeface="Arial"/>
                  <a:cs typeface="Arial"/>
                  <a:sym typeface="Arial"/>
                </a:rPr>
                <a:t>Best Use Case:</a:t>
              </a:r>
              <a:br>
                <a:rPr b="1" lang="en-US" sz="1300">
                  <a:solidFill>
                    <a:srgbClr val="1D4ED8"/>
                  </a:solidFill>
                  <a:latin typeface="Arial"/>
                  <a:ea typeface="Arial"/>
                  <a:cs typeface="Arial"/>
                  <a:sym typeface="Arial"/>
                </a:rPr>
              </a:br>
              <a:r>
                <a:rPr b="0" lang="en-US" sz="1250">
                  <a:solidFill>
                    <a:srgbClr val="475569"/>
                  </a:solidFill>
                  <a:latin typeface="Arial"/>
                  <a:ea typeface="Arial"/>
                  <a:cs typeface="Arial"/>
                  <a:sym typeface="Arial"/>
                </a:rPr>
                <a:t>Many features that overlap/correlate</a:t>
              </a:r>
              <a:endParaRPr b="1" sz="1300">
                <a:solidFill>
                  <a:srgbClr val="1D4ED8"/>
                </a:solidFill>
                <a:latin typeface="Arial"/>
                <a:ea typeface="Arial"/>
                <a:cs typeface="Arial"/>
                <a:sym typeface="Arial"/>
              </a:endParaRPr>
            </a:p>
          </p:txBody>
        </p:sp>
      </p:grpSp>
      <p:grpSp>
        <p:nvGrpSpPr>
          <p:cNvPr id="163" name="Google Shape;163;p4"/>
          <p:cNvGrpSpPr/>
          <p:nvPr/>
        </p:nvGrpSpPr>
        <p:grpSpPr>
          <a:xfrm>
            <a:off x="4381500" y="1714500"/>
            <a:ext cx="3429000" cy="4572000"/>
            <a:chOff x="0" y="0"/>
            <a:chExt cx="3429000" cy="4572000"/>
          </a:xfrm>
        </p:grpSpPr>
        <p:sp>
          <p:nvSpPr>
            <p:cNvPr id="164" name="Google Shape;164;p4"/>
            <p:cNvSpPr/>
            <p:nvPr/>
          </p:nvSpPr>
          <p:spPr>
            <a:xfrm>
              <a:off x="0" y="0"/>
              <a:ext cx="3429000" cy="4572000"/>
            </a:xfrm>
            <a:prstGeom prst="roundRect">
              <a:avLst>
                <a:gd fmla="val 4444" name="adj"/>
              </a:avLst>
            </a:prstGeom>
            <a:solidFill>
              <a:srgbClr val="F1F5F9"/>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 name="Google Shape;165;p4"/>
            <p:cNvSpPr txBox="1"/>
            <p:nvPr/>
          </p:nvSpPr>
          <p:spPr>
            <a:xfrm>
              <a:off x="0" y="0"/>
              <a:ext cx="3429000" cy="4572000"/>
            </a:xfrm>
            <a:prstGeom prst="rect">
              <a:avLst/>
            </a:prstGeom>
            <a:solidFill>
              <a:srgbClr val="000000">
                <a:alpha val="0"/>
              </a:srgbClr>
            </a:solidFill>
            <a:ln>
              <a:noFill/>
            </a:ln>
          </p:spPr>
          <p:txBody>
            <a:bodyPr anchorCtr="0" anchor="t" bIns="285750" lIns="228600" spcFirstLastPara="1" rIns="228600" wrap="square" tIns="285750">
              <a:noAutofit/>
            </a:bodyPr>
            <a:lstStyle/>
            <a:p>
              <a:pPr indent="0" lvl="0" marL="0" rtl="0" algn="l">
                <a:spcBef>
                  <a:spcPts val="0"/>
                </a:spcBef>
                <a:spcAft>
                  <a:spcPts val="0"/>
                </a:spcAft>
                <a:buNone/>
              </a:pPr>
              <a:r>
                <a:rPr b="1" lang="en-US" sz="1300">
                  <a:solidFill>
                    <a:srgbClr val="1D4ED8"/>
                  </a:solidFill>
                  <a:latin typeface="Arial"/>
                  <a:ea typeface="Arial"/>
                  <a:cs typeface="Arial"/>
                  <a:sym typeface="Arial"/>
                </a:rPr>
                <a:t>02 / L1 Regularization</a:t>
              </a:r>
              <a:endParaRPr b="1" sz="1300">
                <a:solidFill>
                  <a:srgbClr val="1D4ED8"/>
                </a:solidFill>
                <a:latin typeface="Arial"/>
                <a:ea typeface="Arial"/>
                <a:cs typeface="Arial"/>
                <a:sym typeface="Arial"/>
              </a:endParaRPr>
            </a:p>
            <a:p>
              <a:pPr indent="0" lvl="0" marL="0" rtl="0" algn="l">
                <a:spcBef>
                  <a:spcPts val="600"/>
                </a:spcBef>
                <a:spcAft>
                  <a:spcPts val="0"/>
                </a:spcAft>
                <a:buNone/>
              </a:pPr>
              <a:r>
                <a:rPr b="1" lang="en-US" sz="3000">
                  <a:solidFill>
                    <a:srgbClr val="0F172A"/>
                  </a:solidFill>
                  <a:latin typeface="Arial"/>
                  <a:ea typeface="Arial"/>
                  <a:cs typeface="Arial"/>
                  <a:sym typeface="Arial"/>
                </a:rPr>
                <a:t>Lasso</a:t>
              </a:r>
              <a:endParaRPr b="1" sz="1300">
                <a:solidFill>
                  <a:srgbClr val="1D4ED8"/>
                </a:solidFill>
                <a:latin typeface="Arial"/>
                <a:ea typeface="Arial"/>
                <a:cs typeface="Arial"/>
                <a:sym typeface="Arial"/>
              </a:endParaRPr>
            </a:p>
            <a:p>
              <a:pPr indent="0" lvl="0" marL="0" rtl="0" algn="l">
                <a:spcBef>
                  <a:spcPts val="1050"/>
                </a:spcBef>
                <a:spcAft>
                  <a:spcPts val="0"/>
                </a:spcAft>
                <a:buNone/>
              </a:pPr>
              <a:r>
                <a:rPr b="1" i="1" lang="en-US" sz="1300">
                  <a:solidFill>
                    <a:srgbClr val="0E7490"/>
                  </a:solidFill>
                  <a:highlight>
                    <a:srgbClr val="E0F2FE"/>
                  </a:highlight>
                  <a:latin typeface="Arial"/>
                  <a:ea typeface="Arial"/>
                  <a:cs typeface="Arial"/>
                  <a:sym typeface="Arial"/>
                </a:rPr>
                <a:t>Error + a penalty for non-zero coefficients</a:t>
              </a:r>
              <a:br>
                <a:rPr b="1" lang="en-US" sz="1300">
                  <a:solidFill>
                    <a:srgbClr val="1D4ED8"/>
                  </a:solidFill>
                  <a:latin typeface="Arial"/>
                  <a:ea typeface="Arial"/>
                  <a:cs typeface="Arial"/>
                  <a:sym typeface="Arial"/>
                </a:rPr>
              </a:br>
              <a:r>
                <a:rPr b="0" lang="en-US" sz="1150">
                  <a:solidFill>
                    <a:srgbClr val="475569"/>
                  </a:solidFill>
                  <a:highlight>
                    <a:srgbClr val="E0F2FE"/>
                  </a:highlight>
                  <a:latin typeface="Arial"/>
                  <a:ea typeface="Arial"/>
                  <a:cs typeface="Arial"/>
                  <a:sym typeface="Arial"/>
                </a:rPr>
                <a:t>Can shrink some coefficients to zero</a:t>
              </a:r>
              <a:endParaRPr b="1" sz="1300">
                <a:solidFill>
                  <a:srgbClr val="1D4ED8"/>
                </a:solidFill>
                <a:latin typeface="Arial"/>
                <a:ea typeface="Arial"/>
                <a:cs typeface="Arial"/>
                <a:sym typeface="Arial"/>
              </a:endParaRPr>
            </a:p>
            <a:p>
              <a:pPr indent="0" lvl="0" marL="0" rtl="0" algn="l">
                <a:spcBef>
                  <a:spcPts val="1200"/>
                </a:spcBef>
                <a:spcAft>
                  <a:spcPts val="0"/>
                </a:spcAft>
                <a:buNone/>
              </a:pPr>
              <a:r>
                <a:rPr b="1" lang="en-US" sz="1350">
                  <a:solidFill>
                    <a:srgbClr val="1D4ED8"/>
                  </a:solidFill>
                  <a:latin typeface="Arial"/>
                  <a:ea typeface="Arial"/>
                  <a:cs typeface="Arial"/>
                  <a:sym typeface="Arial"/>
                </a:rPr>
                <a:t>In Plain Words:</a:t>
              </a:r>
              <a:br>
                <a:rPr b="1" lang="en-US" sz="1300">
                  <a:solidFill>
                    <a:srgbClr val="1D4ED8"/>
                  </a:solidFill>
                  <a:latin typeface="Arial"/>
                  <a:ea typeface="Arial"/>
                  <a:cs typeface="Arial"/>
                  <a:sym typeface="Arial"/>
                </a:rPr>
              </a:br>
              <a:r>
                <a:rPr b="0" lang="en-US" sz="1250">
                  <a:solidFill>
                    <a:srgbClr val="475569"/>
                  </a:solidFill>
                  <a:latin typeface="Arial"/>
                  <a:ea typeface="Arial"/>
                  <a:cs typeface="Arial"/>
                  <a:sym typeface="Arial"/>
                </a:rPr>
                <a:t>Also discourages using unnecessary features at all</a:t>
              </a:r>
              <a:endParaRPr b="1" sz="1300">
                <a:solidFill>
                  <a:srgbClr val="1D4ED8"/>
                </a:solidFill>
                <a:latin typeface="Arial"/>
                <a:ea typeface="Arial"/>
                <a:cs typeface="Arial"/>
                <a:sym typeface="Arial"/>
              </a:endParaRPr>
            </a:p>
            <a:p>
              <a:pPr indent="0" lvl="0" marL="0" rtl="0" algn="l">
                <a:spcBef>
                  <a:spcPts val="900"/>
                </a:spcBef>
                <a:spcAft>
                  <a:spcPts val="0"/>
                </a:spcAft>
                <a:buNone/>
              </a:pPr>
              <a:r>
                <a:rPr b="1" lang="en-US" sz="1350">
                  <a:solidFill>
                    <a:srgbClr val="1D4ED8"/>
                  </a:solidFill>
                  <a:latin typeface="Arial"/>
                  <a:ea typeface="Arial"/>
                  <a:cs typeface="Arial"/>
                  <a:sym typeface="Arial"/>
                </a:rPr>
                <a:t>Effect:</a:t>
              </a:r>
              <a:br>
                <a:rPr b="1" lang="en-US" sz="1300">
                  <a:solidFill>
                    <a:srgbClr val="1D4ED8"/>
                  </a:solidFill>
                  <a:latin typeface="Arial"/>
                  <a:ea typeface="Arial"/>
                  <a:cs typeface="Arial"/>
                  <a:sym typeface="Arial"/>
                </a:rPr>
              </a:br>
              <a:r>
                <a:rPr b="0" lang="en-US" sz="1250">
                  <a:solidFill>
                    <a:srgbClr val="475569"/>
                  </a:solidFill>
                  <a:latin typeface="Arial"/>
                  <a:ea typeface="Arial"/>
                  <a:cs typeface="Arial"/>
                  <a:sym typeface="Arial"/>
                </a:rPr>
                <a:t>Can drive weak coefficients to exactly zero</a:t>
              </a:r>
              <a:endParaRPr b="1" sz="1300">
                <a:solidFill>
                  <a:srgbClr val="1D4ED8"/>
                </a:solidFill>
                <a:latin typeface="Arial"/>
                <a:ea typeface="Arial"/>
                <a:cs typeface="Arial"/>
                <a:sym typeface="Arial"/>
              </a:endParaRPr>
            </a:p>
            <a:p>
              <a:pPr indent="0" lvl="0" marL="0" rtl="0" algn="l">
                <a:spcBef>
                  <a:spcPts val="900"/>
                </a:spcBef>
                <a:spcAft>
                  <a:spcPts val="0"/>
                </a:spcAft>
                <a:buNone/>
              </a:pPr>
              <a:r>
                <a:rPr b="1" lang="en-US" sz="1350">
                  <a:solidFill>
                    <a:srgbClr val="1D4ED8"/>
                  </a:solidFill>
                  <a:latin typeface="Arial"/>
                  <a:ea typeface="Arial"/>
                  <a:cs typeface="Arial"/>
                  <a:sym typeface="Arial"/>
                </a:rPr>
                <a:t>Best Use Case:</a:t>
              </a:r>
              <a:br>
                <a:rPr b="1" lang="en-US" sz="1300">
                  <a:solidFill>
                    <a:srgbClr val="1D4ED8"/>
                  </a:solidFill>
                  <a:latin typeface="Arial"/>
                  <a:ea typeface="Arial"/>
                  <a:cs typeface="Arial"/>
                  <a:sym typeface="Arial"/>
                </a:rPr>
              </a:br>
              <a:r>
                <a:rPr b="0" lang="en-US" sz="1250">
                  <a:solidFill>
                    <a:srgbClr val="475569"/>
                  </a:solidFill>
                  <a:latin typeface="Arial"/>
                  <a:ea typeface="Arial"/>
                  <a:cs typeface="Arial"/>
                  <a:sym typeface="Arial"/>
                </a:rPr>
                <a:t>Automatically drop useless features</a:t>
              </a:r>
              <a:endParaRPr b="1" sz="1300">
                <a:solidFill>
                  <a:srgbClr val="1D4ED8"/>
                </a:solidFill>
                <a:latin typeface="Arial"/>
                <a:ea typeface="Arial"/>
                <a:cs typeface="Arial"/>
                <a:sym typeface="Arial"/>
              </a:endParaRPr>
            </a:p>
          </p:txBody>
        </p:sp>
      </p:grpSp>
      <p:grpSp>
        <p:nvGrpSpPr>
          <p:cNvPr id="166" name="Google Shape;166;p4"/>
          <p:cNvGrpSpPr/>
          <p:nvPr/>
        </p:nvGrpSpPr>
        <p:grpSpPr>
          <a:xfrm>
            <a:off x="8214360" y="1714500"/>
            <a:ext cx="3429000" cy="4572000"/>
            <a:chOff x="0" y="0"/>
            <a:chExt cx="3429000" cy="4572000"/>
          </a:xfrm>
        </p:grpSpPr>
        <p:sp>
          <p:nvSpPr>
            <p:cNvPr id="167" name="Google Shape;167;p4"/>
            <p:cNvSpPr/>
            <p:nvPr/>
          </p:nvSpPr>
          <p:spPr>
            <a:xfrm>
              <a:off x="0" y="0"/>
              <a:ext cx="3429000" cy="4572000"/>
            </a:xfrm>
            <a:prstGeom prst="roundRect">
              <a:avLst>
                <a:gd fmla="val 4444" name="adj"/>
              </a:avLst>
            </a:prstGeom>
            <a:solidFill>
              <a:srgbClr val="F1F5F9"/>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 name="Google Shape;168;p4"/>
            <p:cNvSpPr txBox="1"/>
            <p:nvPr/>
          </p:nvSpPr>
          <p:spPr>
            <a:xfrm>
              <a:off x="0" y="0"/>
              <a:ext cx="3429000" cy="4572000"/>
            </a:xfrm>
            <a:prstGeom prst="rect">
              <a:avLst/>
            </a:prstGeom>
            <a:solidFill>
              <a:srgbClr val="000000">
                <a:alpha val="0"/>
              </a:srgbClr>
            </a:solidFill>
            <a:ln>
              <a:noFill/>
            </a:ln>
          </p:spPr>
          <p:txBody>
            <a:bodyPr anchorCtr="0" anchor="t" bIns="285750" lIns="228600" spcFirstLastPara="1" rIns="228600" wrap="square" tIns="285750">
              <a:noAutofit/>
            </a:bodyPr>
            <a:lstStyle/>
            <a:p>
              <a:pPr indent="0" lvl="0" marL="0" rtl="0" algn="l">
                <a:spcBef>
                  <a:spcPts val="0"/>
                </a:spcBef>
                <a:spcAft>
                  <a:spcPts val="0"/>
                </a:spcAft>
                <a:buNone/>
              </a:pPr>
              <a:r>
                <a:rPr b="1" lang="en-US" sz="1300">
                  <a:solidFill>
                    <a:srgbClr val="1D4ED8"/>
                  </a:solidFill>
                  <a:latin typeface="Arial"/>
                  <a:ea typeface="Arial"/>
                  <a:cs typeface="Arial"/>
                  <a:sym typeface="Arial"/>
                </a:rPr>
                <a:t>03 / Combined Penalty</a:t>
              </a:r>
              <a:endParaRPr b="1" sz="1300">
                <a:solidFill>
                  <a:srgbClr val="1D4ED8"/>
                </a:solidFill>
                <a:latin typeface="Arial"/>
                <a:ea typeface="Arial"/>
                <a:cs typeface="Arial"/>
                <a:sym typeface="Arial"/>
              </a:endParaRPr>
            </a:p>
            <a:p>
              <a:pPr indent="0" lvl="0" marL="0" rtl="0" algn="l">
                <a:spcBef>
                  <a:spcPts val="600"/>
                </a:spcBef>
                <a:spcAft>
                  <a:spcPts val="0"/>
                </a:spcAft>
                <a:buNone/>
              </a:pPr>
              <a:r>
                <a:rPr b="1" lang="en-US" sz="3000">
                  <a:solidFill>
                    <a:srgbClr val="0F172A"/>
                  </a:solidFill>
                  <a:latin typeface="Arial"/>
                  <a:ea typeface="Arial"/>
                  <a:cs typeface="Arial"/>
                  <a:sym typeface="Arial"/>
                </a:rPr>
                <a:t>ElasticNet</a:t>
              </a:r>
              <a:endParaRPr b="1" sz="1300">
                <a:solidFill>
                  <a:srgbClr val="1D4ED8"/>
                </a:solidFill>
                <a:latin typeface="Arial"/>
                <a:ea typeface="Arial"/>
                <a:cs typeface="Arial"/>
                <a:sym typeface="Arial"/>
              </a:endParaRPr>
            </a:p>
            <a:p>
              <a:pPr indent="0" lvl="0" marL="0" rtl="0" algn="l">
                <a:spcBef>
                  <a:spcPts val="1050"/>
                </a:spcBef>
                <a:spcAft>
                  <a:spcPts val="0"/>
                </a:spcAft>
                <a:buNone/>
              </a:pPr>
              <a:r>
                <a:rPr b="1" i="1" lang="en-US" sz="1300">
                  <a:solidFill>
                    <a:srgbClr val="0F172A"/>
                  </a:solidFill>
                  <a:highlight>
                    <a:srgbClr val="E2E8F0"/>
                  </a:highlight>
                  <a:latin typeface="Arial"/>
                  <a:ea typeface="Arial"/>
                  <a:cs typeface="Arial"/>
                  <a:sym typeface="Arial"/>
                </a:rPr>
                <a:t>A blend of both ideas at once</a:t>
              </a:r>
              <a:br>
                <a:rPr b="1" lang="en-US" sz="1300">
                  <a:solidFill>
                    <a:srgbClr val="1D4ED8"/>
                  </a:solidFill>
                  <a:latin typeface="Arial"/>
                  <a:ea typeface="Arial"/>
                  <a:cs typeface="Arial"/>
                  <a:sym typeface="Arial"/>
                </a:rPr>
              </a:br>
              <a:r>
                <a:rPr b="0" lang="en-US" sz="1150">
                  <a:solidFill>
                    <a:srgbClr val="475569"/>
                  </a:solidFill>
                  <a:highlight>
                    <a:srgbClr val="E2E8F0"/>
                  </a:highlight>
                  <a:latin typeface="Arial"/>
                  <a:ea typeface="Arial"/>
                  <a:cs typeface="Arial"/>
                  <a:sym typeface="Arial"/>
                </a:rPr>
                <a:t>Combines L1 and L2 penalties</a:t>
              </a:r>
              <a:endParaRPr b="1" sz="1300">
                <a:solidFill>
                  <a:srgbClr val="1D4ED8"/>
                </a:solidFill>
                <a:latin typeface="Arial"/>
                <a:ea typeface="Arial"/>
                <a:cs typeface="Arial"/>
                <a:sym typeface="Arial"/>
              </a:endParaRPr>
            </a:p>
            <a:p>
              <a:pPr indent="0" lvl="0" marL="0" rtl="0" algn="l">
                <a:spcBef>
                  <a:spcPts val="1200"/>
                </a:spcBef>
                <a:spcAft>
                  <a:spcPts val="0"/>
                </a:spcAft>
                <a:buNone/>
              </a:pPr>
              <a:r>
                <a:rPr b="1" lang="en-US" sz="1350">
                  <a:solidFill>
                    <a:srgbClr val="1D4ED8"/>
                  </a:solidFill>
                  <a:latin typeface="Arial"/>
                  <a:ea typeface="Arial"/>
                  <a:cs typeface="Arial"/>
                  <a:sym typeface="Arial"/>
                </a:rPr>
                <a:t>In Plain Words:</a:t>
              </a:r>
              <a:br>
                <a:rPr b="1" lang="en-US" sz="1300">
                  <a:solidFill>
                    <a:srgbClr val="1D4ED8"/>
                  </a:solidFill>
                  <a:latin typeface="Arial"/>
                  <a:ea typeface="Arial"/>
                  <a:cs typeface="Arial"/>
                  <a:sym typeface="Arial"/>
                </a:rPr>
              </a:br>
              <a:r>
                <a:rPr b="0" lang="en-US" sz="1250">
                  <a:solidFill>
                    <a:srgbClr val="475569"/>
                  </a:solidFill>
                  <a:latin typeface="Arial"/>
                  <a:ea typeface="Arial"/>
                  <a:cs typeface="Arial"/>
                  <a:sym typeface="Arial"/>
                </a:rPr>
                <a:t>A blend of both Ridge and Lasso ideas</a:t>
              </a:r>
              <a:endParaRPr b="1" sz="1300">
                <a:solidFill>
                  <a:srgbClr val="1D4ED8"/>
                </a:solidFill>
                <a:latin typeface="Arial"/>
                <a:ea typeface="Arial"/>
                <a:cs typeface="Arial"/>
                <a:sym typeface="Arial"/>
              </a:endParaRPr>
            </a:p>
            <a:p>
              <a:pPr indent="0" lvl="0" marL="0" rtl="0" algn="l">
                <a:spcBef>
                  <a:spcPts val="900"/>
                </a:spcBef>
                <a:spcAft>
                  <a:spcPts val="0"/>
                </a:spcAft>
                <a:buNone/>
              </a:pPr>
              <a:r>
                <a:rPr b="1" lang="en-US" sz="1350">
                  <a:solidFill>
                    <a:srgbClr val="1D4ED8"/>
                  </a:solidFill>
                  <a:latin typeface="Arial"/>
                  <a:ea typeface="Arial"/>
                  <a:cs typeface="Arial"/>
                  <a:sym typeface="Arial"/>
                </a:rPr>
                <a:t>Effect:</a:t>
              </a:r>
              <a:br>
                <a:rPr b="1" lang="en-US" sz="1300">
                  <a:solidFill>
                    <a:srgbClr val="1D4ED8"/>
                  </a:solidFill>
                  <a:latin typeface="Arial"/>
                  <a:ea typeface="Arial"/>
                  <a:cs typeface="Arial"/>
                  <a:sym typeface="Arial"/>
                </a:rPr>
              </a:br>
              <a:r>
                <a:rPr b="0" lang="en-US" sz="1250">
                  <a:solidFill>
                    <a:srgbClr val="475569"/>
                  </a:solidFill>
                  <a:latin typeface="Arial"/>
                  <a:ea typeface="Arial"/>
                  <a:cs typeface="Arial"/>
                  <a:sym typeface="Arial"/>
                </a:rPr>
                <a:t>Shrinks and can zero out coefficients</a:t>
              </a:r>
              <a:endParaRPr b="1" sz="1300">
                <a:solidFill>
                  <a:srgbClr val="1D4ED8"/>
                </a:solidFill>
                <a:latin typeface="Arial"/>
                <a:ea typeface="Arial"/>
                <a:cs typeface="Arial"/>
                <a:sym typeface="Arial"/>
              </a:endParaRPr>
            </a:p>
            <a:p>
              <a:pPr indent="0" lvl="0" marL="0" rtl="0" algn="l">
                <a:spcBef>
                  <a:spcPts val="900"/>
                </a:spcBef>
                <a:spcAft>
                  <a:spcPts val="0"/>
                </a:spcAft>
                <a:buNone/>
              </a:pPr>
              <a:r>
                <a:rPr b="1" lang="en-US" sz="1350">
                  <a:solidFill>
                    <a:srgbClr val="1D4ED8"/>
                  </a:solidFill>
                  <a:latin typeface="Arial"/>
                  <a:ea typeface="Arial"/>
                  <a:cs typeface="Arial"/>
                  <a:sym typeface="Arial"/>
                </a:rPr>
                <a:t>Best Use Case:</a:t>
              </a:r>
              <a:br>
                <a:rPr b="1" lang="en-US" sz="1300">
                  <a:solidFill>
                    <a:srgbClr val="1D4ED8"/>
                  </a:solidFill>
                  <a:latin typeface="Arial"/>
                  <a:ea typeface="Arial"/>
                  <a:cs typeface="Arial"/>
                  <a:sym typeface="Arial"/>
                </a:rPr>
              </a:br>
              <a:r>
                <a:rPr b="0" lang="en-US" sz="1250">
                  <a:solidFill>
                    <a:srgbClr val="475569"/>
                  </a:solidFill>
                  <a:latin typeface="Arial"/>
                  <a:ea typeface="Arial"/>
                  <a:cs typeface="Arial"/>
                  <a:sym typeface="Arial"/>
                </a:rPr>
                <a:t>Lots of correlated features, want some sparsity</a:t>
              </a:r>
              <a:endParaRPr b="1" sz="1300">
                <a:solidFill>
                  <a:srgbClr val="1D4ED8"/>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 name="Shape 173"/>
        <p:cNvGrpSpPr/>
        <p:nvPr/>
      </p:nvGrpSpPr>
      <p:grpSpPr>
        <a:xfrm>
          <a:off x="0" y="0"/>
          <a:ext cx="0" cy="0"/>
          <a:chOff x="0" y="0"/>
          <a:chExt cx="0" cy="0"/>
        </a:xfrm>
      </p:grpSpPr>
      <p:sp>
        <p:nvSpPr>
          <p:cNvPr id="174" name="Google Shape;174;p6"/>
          <p:cNvSpPr txBox="1"/>
          <p:nvPr/>
        </p:nvSpPr>
        <p:spPr>
          <a:xfrm>
            <a:off x="548640" y="320040"/>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0E7490"/>
                </a:solidFill>
                <a:latin typeface="Arial"/>
                <a:ea typeface="Arial"/>
                <a:cs typeface="Arial"/>
                <a:sym typeface="Arial"/>
              </a:rPr>
              <a:t>"YOU ARE THE AVERAGE OF YOUR NEIGHBORS"</a:t>
            </a:r>
            <a:endParaRPr/>
          </a:p>
        </p:txBody>
      </p:sp>
      <p:sp>
        <p:nvSpPr>
          <p:cNvPr id="175" name="Google Shape;175;p6"/>
          <p:cNvSpPr txBox="1"/>
          <p:nvPr/>
        </p:nvSpPr>
        <p:spPr>
          <a:xfrm>
            <a:off x="548640" y="621792"/>
            <a:ext cx="1106424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0F172A"/>
                </a:solidFill>
                <a:latin typeface="Arial"/>
                <a:ea typeface="Arial"/>
                <a:cs typeface="Arial"/>
                <a:sym typeface="Arial"/>
              </a:rPr>
              <a:t>k-Nearest Neighbors (k-NN)</a:t>
            </a:r>
            <a:endParaRPr/>
          </a:p>
        </p:txBody>
      </p:sp>
      <p:sp>
        <p:nvSpPr>
          <p:cNvPr id="176" name="Google Shape;176;p6"/>
          <p:cNvSpPr/>
          <p:nvPr/>
        </p:nvSpPr>
        <p:spPr>
          <a:xfrm>
            <a:off x="548640" y="1307592"/>
            <a:ext cx="1005840" cy="50800"/>
          </a:xfrm>
          <a:prstGeom prst="rect">
            <a:avLst/>
          </a:prstGeom>
          <a:solidFill>
            <a:srgbClr val="1D4ED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 name="Google Shape;177;p6"/>
          <p:cNvSpPr/>
          <p:nvPr/>
        </p:nvSpPr>
        <p:spPr>
          <a:xfrm>
            <a:off x="548640" y="1463040"/>
            <a:ext cx="5486400" cy="2468880"/>
          </a:xfrm>
          <a:prstGeom prst="roundRect">
            <a:avLst>
              <a:gd fmla="val 5000" name="adj"/>
            </a:avLst>
          </a:prstGeom>
          <a:solidFill>
            <a:srgbClr val="F1F5F9"/>
          </a:solidFill>
          <a:ln cap="flat" cmpd="sng" w="9525">
            <a:solidFill>
              <a:srgbClr val="CBD5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28000" lIns="128000" spcFirstLastPara="1" rIns="128000" wrap="square" tIns="128000">
            <a:noAutofit/>
          </a:bodyPr>
          <a:lstStyle/>
          <a:p>
            <a:pPr indent="0" lvl="0" marL="0" marR="0" rtl="0" algn="ctr">
              <a:spcBef>
                <a:spcPts val="0"/>
              </a:spcBef>
              <a:spcAft>
                <a:spcPts val="0"/>
              </a:spcAft>
              <a:buNone/>
            </a:pPr>
            <a:r>
              <a:rPr b="1" i="0" lang="en-US" sz="1500" u="none" cap="none" strike="noStrike">
                <a:solidFill>
                  <a:srgbClr val="0E7490"/>
                </a:solidFill>
                <a:latin typeface="Arial"/>
                <a:ea typeface="Arial"/>
                <a:cs typeface="Arial"/>
                <a:sym typeface="Arial"/>
              </a:rPr>
              <a:t>How It Works</a:t>
            </a:r>
            <a:endParaRPr/>
          </a:p>
          <a:p>
            <a:pPr indent="0" lvl="0" marL="0" marR="0" rtl="0" algn="l">
              <a:spcBef>
                <a:spcPts val="0"/>
              </a:spcBef>
              <a:spcAft>
                <a:spcPts val="0"/>
              </a:spcAft>
              <a:buNone/>
            </a:pPr>
            <a:r>
              <a:rPr b="0" i="0" lang="en-US" sz="1350" u="none" cap="none" strike="noStrike">
                <a:solidFill>
                  <a:srgbClr val="0F172A"/>
                </a:solidFill>
                <a:latin typeface="Arial"/>
                <a:ea typeface="Arial"/>
                <a:cs typeface="Arial"/>
                <a:sym typeface="Arial"/>
              </a:rPr>
              <a:t>• To predict a new point, find its k closest points in the training data</a:t>
            </a:r>
            <a:endParaRPr/>
          </a:p>
          <a:p>
            <a:pPr indent="0" lvl="0" marL="0" marR="0" rtl="0" algn="l">
              <a:spcBef>
                <a:spcPts val="400"/>
              </a:spcBef>
              <a:spcAft>
                <a:spcPts val="0"/>
              </a:spcAft>
              <a:buNone/>
            </a:pPr>
            <a:r>
              <a:rPr b="0" i="0" lang="en-US" sz="1350" u="none" cap="none" strike="noStrike">
                <a:solidFill>
                  <a:srgbClr val="0F172A"/>
                </a:solidFill>
                <a:latin typeface="Arial"/>
                <a:ea typeface="Arial"/>
                <a:cs typeface="Arial"/>
                <a:sym typeface="Arial"/>
              </a:rPr>
              <a:t>• Classification: let those neighbors vote on the label</a:t>
            </a:r>
            <a:endParaRPr/>
          </a:p>
          <a:p>
            <a:pPr indent="0" lvl="0" marL="0" marR="0" rtl="0" algn="l">
              <a:spcBef>
                <a:spcPts val="400"/>
              </a:spcBef>
              <a:spcAft>
                <a:spcPts val="0"/>
              </a:spcAft>
              <a:buNone/>
            </a:pPr>
            <a:r>
              <a:rPr b="0" i="0" lang="en-US" sz="1350" u="none" cap="none" strike="noStrike">
                <a:solidFill>
                  <a:srgbClr val="0F172A"/>
                </a:solidFill>
                <a:latin typeface="Arial"/>
                <a:ea typeface="Arial"/>
                <a:cs typeface="Arial"/>
                <a:sym typeface="Arial"/>
              </a:rPr>
              <a:t>• Regression: average their values</a:t>
            </a:r>
            <a:endParaRPr/>
          </a:p>
          <a:p>
            <a:pPr indent="0" lvl="0" marL="0" marR="0" rtl="0" algn="l">
              <a:spcBef>
                <a:spcPts val="400"/>
              </a:spcBef>
              <a:spcAft>
                <a:spcPts val="0"/>
              </a:spcAft>
              <a:buNone/>
            </a:pPr>
            <a:r>
              <a:rPr b="0" i="0" lang="en-US" sz="1350" u="none" cap="none" strike="noStrike">
                <a:solidFill>
                  <a:srgbClr val="0F172A"/>
                </a:solidFill>
                <a:latin typeface="Arial"/>
                <a:ea typeface="Arial"/>
                <a:cs typeface="Arial"/>
                <a:sym typeface="Arial"/>
              </a:rPr>
              <a:t>• There's no real 'training' — it just remembers all the data</a:t>
            </a:r>
            <a:endParaRPr/>
          </a:p>
        </p:txBody>
      </p:sp>
      <p:graphicFrame>
        <p:nvGraphicFramePr>
          <p:cNvPr id="178" name="Google Shape;178;p6"/>
          <p:cNvGraphicFramePr/>
          <p:nvPr/>
        </p:nvGraphicFramePr>
        <p:xfrm>
          <a:off x="6309360" y="1463040"/>
          <a:ext cx="3000000" cy="3000000"/>
        </p:xfrm>
        <a:graphic>
          <a:graphicData uri="http://schemas.openxmlformats.org/drawingml/2006/table">
            <a:tbl>
              <a:tblPr bandRow="1" firstRow="1">
                <a:noFill/>
                <a:tableStyleId>{8DC61D44-FBB2-4632-956C-AD5BED243261}</a:tableStyleId>
              </a:tblPr>
              <a:tblGrid>
                <a:gridCol w="2651750"/>
                <a:gridCol w="2651750"/>
              </a:tblGrid>
              <a:tr h="617225">
                <a:tc>
                  <a:txBody>
                    <a:bodyPr/>
                    <a:lstStyle/>
                    <a:p>
                      <a:pPr indent="0" lvl="0" marL="0" marR="0" rtl="0" algn="l">
                        <a:spcBef>
                          <a:spcPts val="0"/>
                        </a:spcBef>
                        <a:spcAft>
                          <a:spcPts val="0"/>
                        </a:spcAft>
                        <a:buNone/>
                      </a:pPr>
                      <a:r>
                        <a:rPr b="1" lang="en-US" sz="1250" u="none" cap="none" strike="noStrike">
                          <a:solidFill>
                            <a:srgbClr val="FFFFFF"/>
                          </a:solidFill>
                          <a:latin typeface="Arial"/>
                          <a:ea typeface="Arial"/>
                          <a:cs typeface="Arial"/>
                          <a:sym typeface="Arial"/>
                        </a:rPr>
                        <a:t>Distance Used to Find Neighbors</a:t>
                      </a:r>
                      <a:endParaRPr/>
                    </a:p>
                  </a:txBody>
                  <a:tcPr marT="45725" marB="45725" marR="91450" marL="91450" anchor="ctr">
                    <a:solidFill>
                      <a:srgbClr val="1D4ED8"/>
                    </a:solidFill>
                  </a:tcPr>
                </a:tc>
                <a:tc>
                  <a:txBody>
                    <a:bodyPr/>
                    <a:lstStyle/>
                    <a:p>
                      <a:pPr indent="0" lvl="0" marL="0" marR="0" rtl="0" algn="l">
                        <a:spcBef>
                          <a:spcPts val="0"/>
                        </a:spcBef>
                        <a:spcAft>
                          <a:spcPts val="0"/>
                        </a:spcAft>
                        <a:buNone/>
                      </a:pPr>
                      <a:r>
                        <a:rPr b="1" lang="en-US" sz="1250" u="none" cap="none" strike="noStrike">
                          <a:solidFill>
                            <a:srgbClr val="FFFFFF"/>
                          </a:solidFill>
                          <a:latin typeface="Arial"/>
                          <a:ea typeface="Arial"/>
                          <a:cs typeface="Arial"/>
                          <a:sym typeface="Arial"/>
                        </a:rPr>
                        <a:t>Idea</a:t>
                      </a:r>
                      <a:endParaRPr/>
                    </a:p>
                  </a:txBody>
                  <a:tcPr marT="45725" marB="45725" marR="91450" marL="91450" anchor="ctr">
                    <a:solidFill>
                      <a:srgbClr val="1D4ED8"/>
                    </a:solidFill>
                  </a:tcPr>
                </a:tc>
              </a:tr>
              <a:tr h="617225">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Euclidean</a:t>
                      </a:r>
                      <a:endParaRPr/>
                    </a:p>
                  </a:txBody>
                  <a:tcPr marT="45725" marB="45725" marR="91450" marL="91450" anchor="ctr">
                    <a:solidFill>
                      <a:srgbClr val="F1F5F9"/>
                    </a:solidFill>
                  </a:tcPr>
                </a:tc>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Straight-line distance (as the crow flies)</a:t>
                      </a:r>
                      <a:endParaRPr/>
                    </a:p>
                  </a:txBody>
                  <a:tcPr marT="45725" marB="45725" marR="91450" marL="91450" anchor="ctr">
                    <a:solidFill>
                      <a:srgbClr val="F1F5F9"/>
                    </a:solidFill>
                  </a:tcPr>
                </a:tc>
              </a:tr>
              <a:tr h="617225">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Manhattan</a:t>
                      </a:r>
                      <a:endParaRPr/>
                    </a:p>
                  </a:txBody>
                  <a:tcPr marT="45725" marB="45725" marR="91450" marL="91450" anchor="ctr">
                    <a:solidFill>
                      <a:srgbClr val="F1F5F9"/>
                    </a:solidFill>
                  </a:tcPr>
                </a:tc>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Distance moving only along grid lines (city blocks)</a:t>
                      </a:r>
                      <a:endParaRPr/>
                    </a:p>
                  </a:txBody>
                  <a:tcPr marT="45725" marB="45725" marR="91450" marL="91450" anchor="ctr">
                    <a:solidFill>
                      <a:srgbClr val="F1F5F9"/>
                    </a:solidFill>
                  </a:tcPr>
                </a:tc>
              </a:tr>
              <a:tr h="617225">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Minkowski</a:t>
                      </a:r>
                      <a:endParaRPr/>
                    </a:p>
                  </a:txBody>
                  <a:tcPr marT="45725" marB="45725" marR="91450" marL="91450" anchor="ctr">
                    <a:solidFill>
                      <a:srgbClr val="F1F5F9"/>
                    </a:solidFill>
                  </a:tcPr>
                </a:tc>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A general formula that includes both above</a:t>
                      </a:r>
                      <a:endParaRPr/>
                    </a:p>
                  </a:txBody>
                  <a:tcPr marT="45725" marB="45725" marR="91450" marL="91450" anchor="ctr">
                    <a:solidFill>
                      <a:srgbClr val="F1F5F9"/>
                    </a:solidFill>
                  </a:tcPr>
                </a:tc>
              </a:tr>
            </a:tbl>
          </a:graphicData>
        </a:graphic>
      </p:graphicFrame>
      <p:sp>
        <p:nvSpPr>
          <p:cNvPr id="179" name="Google Shape;179;p6"/>
          <p:cNvSpPr/>
          <p:nvPr/>
        </p:nvSpPr>
        <p:spPr>
          <a:xfrm>
            <a:off x="548640" y="4114800"/>
            <a:ext cx="5486400" cy="2103120"/>
          </a:xfrm>
          <a:prstGeom prst="roundRect">
            <a:avLst>
              <a:gd fmla="val 5000" name="adj"/>
            </a:avLst>
          </a:prstGeom>
          <a:solidFill>
            <a:srgbClr val="F1F5F9"/>
          </a:solidFill>
          <a:ln cap="flat" cmpd="sng" w="9525">
            <a:solidFill>
              <a:srgbClr val="CBD5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28000" lIns="128000" spcFirstLastPara="1" rIns="128000" wrap="square" tIns="128000">
            <a:noAutofit/>
          </a:bodyPr>
          <a:lstStyle/>
          <a:p>
            <a:pPr indent="0" lvl="0" marL="0" marR="0" rtl="0" algn="ctr">
              <a:spcBef>
                <a:spcPts val="0"/>
              </a:spcBef>
              <a:spcAft>
                <a:spcPts val="0"/>
              </a:spcAft>
              <a:buNone/>
            </a:pPr>
            <a:r>
              <a:rPr b="1" i="0" lang="en-US" sz="1500" u="none" cap="none" strike="noStrike">
                <a:solidFill>
                  <a:srgbClr val="0E7490"/>
                </a:solidFill>
                <a:latin typeface="Arial"/>
                <a:ea typeface="Arial"/>
                <a:cs typeface="Arial"/>
                <a:sym typeface="Arial"/>
              </a:rPr>
              <a:t>Choosing k</a:t>
            </a:r>
            <a:endParaRPr/>
          </a:p>
          <a:p>
            <a:pPr indent="0" lvl="0" marL="0" marR="0" rtl="0" algn="l">
              <a:spcBef>
                <a:spcPts val="0"/>
              </a:spcBef>
              <a:spcAft>
                <a:spcPts val="0"/>
              </a:spcAft>
              <a:buNone/>
            </a:pPr>
            <a:r>
              <a:rPr b="0" i="0" lang="en-US" sz="1350" u="none" cap="none" strike="noStrike">
                <a:solidFill>
                  <a:srgbClr val="0F172A"/>
                </a:solidFill>
                <a:latin typeface="Arial"/>
                <a:ea typeface="Arial"/>
                <a:cs typeface="Arial"/>
                <a:sym typeface="Arial"/>
              </a:rPr>
              <a:t>• Small k (like 1): follows the data very closely — can be noisy</a:t>
            </a:r>
            <a:endParaRPr/>
          </a:p>
          <a:p>
            <a:pPr indent="0" lvl="0" marL="0" marR="0" rtl="0" algn="l">
              <a:spcBef>
                <a:spcPts val="400"/>
              </a:spcBef>
              <a:spcAft>
                <a:spcPts val="0"/>
              </a:spcAft>
              <a:buNone/>
            </a:pPr>
            <a:r>
              <a:rPr b="0" i="0" lang="en-US" sz="1350" u="none" cap="none" strike="noStrike">
                <a:solidFill>
                  <a:srgbClr val="0F172A"/>
                </a:solidFill>
                <a:latin typeface="Arial"/>
                <a:ea typeface="Arial"/>
                <a:cs typeface="Arial"/>
                <a:sym typeface="Arial"/>
              </a:rPr>
              <a:t>• Large k: smooths things out — can miss real patterns</a:t>
            </a:r>
            <a:endParaRPr/>
          </a:p>
          <a:p>
            <a:pPr indent="0" lvl="0" marL="0" marR="0" rtl="0" algn="l">
              <a:spcBef>
                <a:spcPts val="400"/>
              </a:spcBef>
              <a:spcAft>
                <a:spcPts val="0"/>
              </a:spcAft>
              <a:buNone/>
            </a:pPr>
            <a:r>
              <a:rPr b="0" i="0" lang="en-US" sz="1350" u="none" cap="none" strike="noStrike">
                <a:solidFill>
                  <a:srgbClr val="0F172A"/>
                </a:solidFill>
                <a:latin typeface="Arial"/>
                <a:ea typeface="Arial"/>
                <a:cs typeface="Arial"/>
                <a:sym typeface="Arial"/>
              </a:rPr>
              <a:t>• Pick k by trying a few values and checking what predicts best</a:t>
            </a:r>
            <a:endParaRPr/>
          </a:p>
        </p:txBody>
      </p:sp>
      <p:sp>
        <p:nvSpPr>
          <p:cNvPr id="180" name="Google Shape;180;p6"/>
          <p:cNvSpPr/>
          <p:nvPr/>
        </p:nvSpPr>
        <p:spPr>
          <a:xfrm>
            <a:off x="6309360" y="4114800"/>
            <a:ext cx="5303520" cy="2103120"/>
          </a:xfrm>
          <a:prstGeom prst="roundRect">
            <a:avLst>
              <a:gd fmla="val 5000" name="adj"/>
            </a:avLst>
          </a:prstGeom>
          <a:solidFill>
            <a:srgbClr val="F1F5F9"/>
          </a:solidFill>
          <a:ln cap="flat" cmpd="sng" w="9525">
            <a:solidFill>
              <a:srgbClr val="CBD5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28000" lIns="128000" spcFirstLastPara="1" rIns="128000" wrap="square" tIns="128000">
            <a:noAutofit/>
          </a:bodyPr>
          <a:lstStyle/>
          <a:p>
            <a:pPr indent="0" lvl="0" marL="0" marR="0" rtl="0" algn="ctr">
              <a:spcBef>
                <a:spcPts val="0"/>
              </a:spcBef>
              <a:spcAft>
                <a:spcPts val="0"/>
              </a:spcAft>
              <a:buNone/>
            </a:pPr>
            <a:r>
              <a:rPr b="1" i="0" lang="en-US" sz="1500" u="none" cap="none" strike="noStrike">
                <a:solidFill>
                  <a:srgbClr val="0E7490"/>
                </a:solidFill>
                <a:latin typeface="Arial"/>
                <a:ea typeface="Arial"/>
                <a:cs typeface="Arial"/>
                <a:sym typeface="Arial"/>
              </a:rPr>
              <a:t>Where It Struggles</a:t>
            </a:r>
            <a:endParaRPr/>
          </a:p>
          <a:p>
            <a:pPr indent="0" lvl="0" marL="0" marR="0" rtl="0" algn="l">
              <a:spcBef>
                <a:spcPts val="0"/>
              </a:spcBef>
              <a:spcAft>
                <a:spcPts val="0"/>
              </a:spcAft>
              <a:buNone/>
            </a:pPr>
            <a:r>
              <a:rPr b="0" i="0" lang="en-US" sz="1350" u="none" cap="none" strike="noStrike">
                <a:solidFill>
                  <a:srgbClr val="0F172A"/>
                </a:solidFill>
                <a:latin typeface="Arial"/>
                <a:ea typeface="Arial"/>
                <a:cs typeface="Arial"/>
                <a:sym typeface="Arial"/>
              </a:rPr>
              <a:t>• Slow to predict on huge datasets — checks distance to every point</a:t>
            </a:r>
            <a:endParaRPr/>
          </a:p>
          <a:p>
            <a:pPr indent="0" lvl="0" marL="0" marR="0" rtl="0" algn="l">
              <a:spcBef>
                <a:spcPts val="400"/>
              </a:spcBef>
              <a:spcAft>
                <a:spcPts val="0"/>
              </a:spcAft>
              <a:buNone/>
            </a:pPr>
            <a:r>
              <a:rPr b="0" i="0" lang="en-US" sz="1350" u="none" cap="none" strike="noStrike">
                <a:solidFill>
                  <a:srgbClr val="0F172A"/>
                </a:solidFill>
                <a:latin typeface="Arial"/>
                <a:ea typeface="Arial"/>
                <a:cs typeface="Arial"/>
                <a:sym typeface="Arial"/>
              </a:rPr>
              <a:t>• Features on different scales (e.g. age vs. income) can distort distance</a:t>
            </a:r>
            <a:endParaRPr/>
          </a:p>
          <a:p>
            <a:pPr indent="0" lvl="0" marL="0" marR="0" rtl="0" algn="l">
              <a:spcBef>
                <a:spcPts val="400"/>
              </a:spcBef>
              <a:spcAft>
                <a:spcPts val="0"/>
              </a:spcAft>
              <a:buNone/>
            </a:pPr>
            <a:r>
              <a:rPr b="0" i="0" lang="en-US" sz="1350" u="none" cap="none" strike="noStrike">
                <a:solidFill>
                  <a:srgbClr val="0F172A"/>
                </a:solidFill>
                <a:latin typeface="Arial"/>
                <a:ea typeface="Arial"/>
                <a:cs typeface="Arial"/>
                <a:sym typeface="Arial"/>
              </a:rPr>
              <a:t>• With too many features, everything starts looking equally 'far away'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descr="Create a slide illustrating the ‘how KNN works along with a sample " id="185" name="Google Shape;185;g3fad43f2046_80_0"/>
          <p:cNvPicPr preferRelativeResize="0"/>
          <p:nvPr/>
        </p:nvPicPr>
        <p:blipFill>
          <a:blip r:embed="rId3">
            <a:alphaModFix/>
          </a:blip>
          <a:stretch>
            <a:fillRect/>
          </a:stretch>
        </p:blipFill>
        <p:spPr>
          <a:xfrm>
            <a:off x="-47788" y="0"/>
            <a:ext cx="12287250" cy="6858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9" name="Shape 189"/>
        <p:cNvGrpSpPr/>
        <p:nvPr/>
      </p:nvGrpSpPr>
      <p:grpSpPr>
        <a:xfrm>
          <a:off x="0" y="0"/>
          <a:ext cx="0" cy="0"/>
          <a:chOff x="0" y="0"/>
          <a:chExt cx="0" cy="0"/>
        </a:xfrm>
      </p:grpSpPr>
      <p:sp>
        <p:nvSpPr>
          <p:cNvPr id="190" name="Google Shape;190;g3fad43f2046_80_599"/>
          <p:cNvSpPr txBox="1"/>
          <p:nvPr/>
        </p:nvSpPr>
        <p:spPr>
          <a:xfrm>
            <a:off x="476250" y="381000"/>
            <a:ext cx="112395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0E7490"/>
                </a:solidFill>
                <a:latin typeface="Arial"/>
                <a:ea typeface="Arial"/>
                <a:cs typeface="Arial"/>
                <a:sym typeface="Arial"/>
              </a:rPr>
              <a:t>DRAW THE WIDEST POSSIBLE STREET BETWEEN CLASSES</a:t>
            </a:r>
            <a:endParaRPr b="1" sz="1100">
              <a:solidFill>
                <a:srgbClr val="0E7490"/>
              </a:solidFill>
              <a:latin typeface="Arial"/>
              <a:ea typeface="Arial"/>
              <a:cs typeface="Arial"/>
              <a:sym typeface="Arial"/>
            </a:endParaRPr>
          </a:p>
          <a:p>
            <a:pPr indent="0" lvl="0" marL="0" rtl="0" algn="l">
              <a:spcBef>
                <a:spcPts val="450"/>
              </a:spcBef>
              <a:spcAft>
                <a:spcPts val="0"/>
              </a:spcAft>
              <a:buNone/>
            </a:pPr>
            <a:r>
              <a:rPr b="1" lang="en-US" sz="3200">
                <a:solidFill>
                  <a:srgbClr val="0F172A"/>
                </a:solidFill>
                <a:latin typeface="Arial"/>
                <a:ea typeface="Arial"/>
                <a:cs typeface="Arial"/>
                <a:sym typeface="Arial"/>
              </a:rPr>
              <a:t>Support Vector Machines (SVM)</a:t>
            </a:r>
            <a:endParaRPr b="1" sz="3200">
              <a:solidFill>
                <a:srgbClr val="0F172A"/>
              </a:solidFill>
              <a:latin typeface="Arial"/>
              <a:ea typeface="Arial"/>
              <a:cs typeface="Arial"/>
              <a:sym typeface="Arial"/>
            </a:endParaRPr>
          </a:p>
        </p:txBody>
      </p:sp>
      <p:grpSp>
        <p:nvGrpSpPr>
          <p:cNvPr id="191" name="Google Shape;191;g3fad43f2046_80_599"/>
          <p:cNvGrpSpPr/>
          <p:nvPr/>
        </p:nvGrpSpPr>
        <p:grpSpPr>
          <a:xfrm>
            <a:off x="476250" y="1428750"/>
            <a:ext cx="11239500" cy="666900"/>
            <a:chOff x="0" y="0"/>
            <a:chExt cx="11239500" cy="666900"/>
          </a:xfrm>
        </p:grpSpPr>
        <p:sp>
          <p:nvSpPr>
            <p:cNvPr id="192" name="Google Shape;192;g3fad43f2046_80_599"/>
            <p:cNvSpPr/>
            <p:nvPr/>
          </p:nvSpPr>
          <p:spPr>
            <a:xfrm>
              <a:off x="0" y="0"/>
              <a:ext cx="11239500" cy="666900"/>
            </a:xfrm>
            <a:prstGeom prst="roundRect">
              <a:avLst>
                <a:gd fmla="val 11428"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g3fad43f2046_80_599"/>
            <p:cNvSpPr txBox="1"/>
            <p:nvPr/>
          </p:nvSpPr>
          <p:spPr>
            <a:xfrm>
              <a:off x="0" y="0"/>
              <a:ext cx="11239500" cy="666900"/>
            </a:xfrm>
            <a:prstGeom prst="rect">
              <a:avLst/>
            </a:prstGeom>
            <a:noFill/>
            <a:ln>
              <a:noFill/>
            </a:ln>
          </p:spPr>
          <p:txBody>
            <a:bodyPr anchorCtr="0" anchor="ctr" bIns="0" lIns="228600" spcFirstLastPara="1" rIns="228600" wrap="square" tIns="0">
              <a:noAutofit/>
            </a:bodyPr>
            <a:lstStyle/>
            <a:p>
              <a:pPr indent="0" lvl="0" marL="0" rtl="0" algn="l">
                <a:spcBef>
                  <a:spcPts val="0"/>
                </a:spcBef>
                <a:spcAft>
                  <a:spcPts val="0"/>
                </a:spcAft>
                <a:buNone/>
              </a:pPr>
              <a:r>
                <a:rPr b="0" i="1" lang="en-US" sz="1500">
                  <a:solidFill>
                    <a:srgbClr val="1E40AF"/>
                  </a:solidFill>
                  <a:latin typeface="Arial"/>
                  <a:ea typeface="Arial"/>
                  <a:cs typeface="Arial"/>
                  <a:sym typeface="Arial"/>
                </a:rPr>
                <a:t>Find the boundary line that maximizes the gap to the nearest points on each side</a:t>
              </a:r>
              <a:endParaRPr b="0" i="1" sz="1500">
                <a:solidFill>
                  <a:srgbClr val="1E40AF"/>
                </a:solidFill>
                <a:latin typeface="Arial"/>
                <a:ea typeface="Arial"/>
                <a:cs typeface="Arial"/>
                <a:sym typeface="Arial"/>
              </a:endParaRPr>
            </a:p>
            <a:p>
              <a:pPr indent="0" lvl="0" marL="0" rtl="0" algn="l">
                <a:spcBef>
                  <a:spcPts val="300"/>
                </a:spcBef>
                <a:spcAft>
                  <a:spcPts val="0"/>
                </a:spcAft>
                <a:buNone/>
              </a:pPr>
              <a:r>
                <a:rPr lang="en-US" sz="950">
                  <a:solidFill>
                    <a:srgbClr val="4B5563"/>
                  </a:solidFill>
                  <a:latin typeface="Arial"/>
                  <a:ea typeface="Arial"/>
                  <a:cs typeface="Arial"/>
                  <a:sym typeface="Arial"/>
                </a:rPr>
                <a:t>The 'margin' — SVM's core idea</a:t>
              </a:r>
              <a:endParaRPr sz="950">
                <a:solidFill>
                  <a:srgbClr val="4B5563"/>
                </a:solidFill>
                <a:latin typeface="Arial"/>
                <a:ea typeface="Arial"/>
                <a:cs typeface="Arial"/>
                <a:sym typeface="Arial"/>
              </a:endParaRPr>
            </a:p>
          </p:txBody>
        </p:sp>
      </p:grpSp>
      <p:grpSp>
        <p:nvGrpSpPr>
          <p:cNvPr id="194" name="Google Shape;194;g3fad43f2046_80_599"/>
          <p:cNvGrpSpPr/>
          <p:nvPr/>
        </p:nvGrpSpPr>
        <p:grpSpPr>
          <a:xfrm>
            <a:off x="476250" y="2333625"/>
            <a:ext cx="5476800" cy="4048200"/>
            <a:chOff x="0" y="0"/>
            <a:chExt cx="5476800" cy="4048200"/>
          </a:xfrm>
        </p:grpSpPr>
        <p:sp>
          <p:nvSpPr>
            <p:cNvPr id="195" name="Google Shape;195;g3fad43f2046_80_599"/>
            <p:cNvSpPr/>
            <p:nvPr/>
          </p:nvSpPr>
          <p:spPr>
            <a:xfrm>
              <a:off x="0" y="0"/>
              <a:ext cx="5476800" cy="4048200"/>
            </a:xfrm>
            <a:prstGeom prst="roundRect">
              <a:avLst>
                <a:gd fmla="val 282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6" name="Google Shape;196;g3fad43f2046_80_599"/>
            <p:cNvSpPr txBox="1"/>
            <p:nvPr/>
          </p:nvSpPr>
          <p:spPr>
            <a:xfrm>
              <a:off x="0" y="0"/>
              <a:ext cx="5476800" cy="4048200"/>
            </a:xfrm>
            <a:prstGeom prst="rect">
              <a:avLst/>
            </a:prstGeom>
            <a:noFill/>
            <a:ln>
              <a:noFill/>
            </a:ln>
          </p:spPr>
          <p:txBody>
            <a:bodyPr anchorCtr="0" anchor="t" bIns="285750" lIns="285750" spcFirstLastPara="1" rIns="285750" wrap="square" tIns="285750">
              <a:noAutofit/>
            </a:bodyPr>
            <a:lstStyle/>
            <a:p>
              <a:pPr indent="0" lvl="0" marL="0" rtl="0" algn="l">
                <a:spcBef>
                  <a:spcPts val="0"/>
                </a:spcBef>
                <a:spcAft>
                  <a:spcPts val="0"/>
                </a:spcAft>
                <a:buNone/>
              </a:pPr>
              <a:r>
                <a:rPr lang="en-US" sz="2800">
                  <a:solidFill>
                    <a:srgbClr val="1D4ED8"/>
                  </a:solidFill>
                  <a:latin typeface="Material Icons"/>
                  <a:ea typeface="Material Icons"/>
                  <a:cs typeface="Material Icons"/>
                  <a:sym typeface="Material Icons"/>
                </a:rPr>
                <a:t>tune</a:t>
              </a:r>
              <a:r>
                <a:rPr b="1" lang="en-US" sz="1800">
                  <a:solidFill>
                    <a:srgbClr val="0F172A"/>
                  </a:solidFill>
                  <a:latin typeface="Arial"/>
                  <a:ea typeface="Arial"/>
                  <a:cs typeface="Arial"/>
                  <a:sym typeface="Arial"/>
                </a:rPr>
                <a:t>Margins &amp; Support Vectors</a:t>
              </a:r>
              <a:endParaRPr>
                <a:latin typeface="Arial"/>
                <a:ea typeface="Arial"/>
                <a:cs typeface="Arial"/>
                <a:sym typeface="Arial"/>
              </a:endParaRPr>
            </a:p>
            <a:p>
              <a:pPr indent="-301625" lvl="0" marL="457200" rtl="0" algn="l">
                <a:spcBef>
                  <a:spcPts val="1500"/>
                </a:spcBef>
                <a:spcAft>
                  <a:spcPts val="0"/>
                </a:spcAft>
                <a:buClr>
                  <a:srgbClr val="334155"/>
                </a:buClr>
                <a:buSzPts val="1150"/>
                <a:buFont typeface="Arial"/>
                <a:buChar char="●"/>
              </a:pPr>
              <a:r>
                <a:rPr b="1" lang="en-US" sz="1150">
                  <a:solidFill>
                    <a:srgbClr val="0F172A"/>
                  </a:solidFill>
                  <a:latin typeface="Arial"/>
                  <a:ea typeface="Arial"/>
                  <a:cs typeface="Arial"/>
                  <a:sym typeface="Arial"/>
                </a:rPr>
                <a:t>Support vectors:</a:t>
              </a:r>
              <a:r>
                <a:rPr lang="en-US" sz="1150">
                  <a:solidFill>
                    <a:srgbClr val="334155"/>
                  </a:solidFill>
                  <a:latin typeface="Arial"/>
                  <a:ea typeface="Arial"/>
                  <a:cs typeface="Arial"/>
                  <a:sym typeface="Arial"/>
                </a:rPr>
                <a:t> The handful of closest points that actually define the boundary line.</a:t>
              </a:r>
              <a:endParaRPr sz="1150">
                <a:solidFill>
                  <a:srgbClr val="334155"/>
                </a:solidFill>
                <a:latin typeface="Arial"/>
                <a:ea typeface="Arial"/>
                <a:cs typeface="Arial"/>
                <a:sym typeface="Arial"/>
              </a:endParaRPr>
            </a:p>
            <a:p>
              <a:pPr indent="-301625" lvl="0" marL="457200" rtl="0" algn="l">
                <a:spcBef>
                  <a:spcPts val="900"/>
                </a:spcBef>
                <a:spcAft>
                  <a:spcPts val="0"/>
                </a:spcAft>
                <a:buClr>
                  <a:srgbClr val="334155"/>
                </a:buClr>
                <a:buSzPts val="1150"/>
                <a:buFont typeface="Arial"/>
                <a:buChar char="●"/>
              </a:pPr>
              <a:r>
                <a:rPr b="1" lang="en-US" sz="1150">
                  <a:solidFill>
                    <a:srgbClr val="0F172A"/>
                  </a:solidFill>
                  <a:latin typeface="Arial"/>
                  <a:ea typeface="Arial"/>
                  <a:cs typeface="Arial"/>
                  <a:sym typeface="Arial"/>
                </a:rPr>
                <a:t>Free movement:</a:t>
              </a:r>
              <a:r>
                <a:rPr lang="en-US" sz="1150">
                  <a:solidFill>
                    <a:srgbClr val="334155"/>
                  </a:solidFill>
                  <a:latin typeface="Arial"/>
                  <a:ea typeface="Arial"/>
                  <a:cs typeface="Arial"/>
                  <a:sym typeface="Arial"/>
                </a:rPr>
                <a:t> Every other data point could move around freely without changing the decision boundary at all.</a:t>
              </a:r>
              <a:endParaRPr sz="1150">
                <a:solidFill>
                  <a:srgbClr val="334155"/>
                </a:solidFill>
                <a:latin typeface="Arial"/>
                <a:ea typeface="Arial"/>
                <a:cs typeface="Arial"/>
                <a:sym typeface="Arial"/>
              </a:endParaRPr>
            </a:p>
            <a:p>
              <a:pPr indent="-301625" lvl="0" marL="457200" rtl="0" algn="l">
                <a:spcBef>
                  <a:spcPts val="900"/>
                </a:spcBef>
                <a:spcAft>
                  <a:spcPts val="0"/>
                </a:spcAft>
                <a:buClr>
                  <a:srgbClr val="334155"/>
                </a:buClr>
                <a:buSzPts val="1150"/>
                <a:buFont typeface="Arial"/>
                <a:buChar char="●"/>
              </a:pPr>
              <a:r>
                <a:rPr b="1" lang="en-US" sz="1150">
                  <a:solidFill>
                    <a:srgbClr val="0F172A"/>
                  </a:solidFill>
                  <a:latin typeface="Arial"/>
                  <a:ea typeface="Arial"/>
                  <a:cs typeface="Arial"/>
                  <a:sym typeface="Arial"/>
                </a:rPr>
                <a:t>C as a dial:</a:t>
              </a:r>
              <a:r>
                <a:rPr lang="en-US" sz="1150">
                  <a:solidFill>
                    <a:srgbClr val="334155"/>
                  </a:solidFill>
                  <a:latin typeface="Arial"/>
                  <a:ea typeface="Arial"/>
                  <a:cs typeface="Arial"/>
                  <a:sym typeface="Arial"/>
                </a:rPr>
                <a:t> Low C allows some margin violations for a wider, more tolerant boundary "street".</a:t>
              </a:r>
              <a:endParaRPr sz="1150">
                <a:solidFill>
                  <a:srgbClr val="334155"/>
                </a:solidFill>
                <a:latin typeface="Arial"/>
                <a:ea typeface="Arial"/>
                <a:cs typeface="Arial"/>
                <a:sym typeface="Arial"/>
              </a:endParaRPr>
            </a:p>
            <a:p>
              <a:pPr indent="-301625" lvl="0" marL="457200" rtl="0" algn="l">
                <a:spcBef>
                  <a:spcPts val="900"/>
                </a:spcBef>
                <a:spcAft>
                  <a:spcPts val="0"/>
                </a:spcAft>
                <a:buClr>
                  <a:srgbClr val="334155"/>
                </a:buClr>
                <a:buSzPts val="1150"/>
                <a:buFont typeface="Arial"/>
                <a:buChar char="●"/>
              </a:pPr>
              <a:r>
                <a:rPr b="1" lang="en-US" sz="1150">
                  <a:solidFill>
                    <a:srgbClr val="0F172A"/>
                  </a:solidFill>
                  <a:latin typeface="Arial"/>
                  <a:ea typeface="Arial"/>
                  <a:cs typeface="Arial"/>
                  <a:sym typeface="Arial"/>
                </a:rPr>
                <a:t>High C constraint:</a:t>
              </a:r>
              <a:r>
                <a:rPr lang="en-US" sz="1150">
                  <a:solidFill>
                    <a:srgbClr val="334155"/>
                  </a:solidFill>
                  <a:latin typeface="Arial"/>
                  <a:ea typeface="Arial"/>
                  <a:cs typeface="Arial"/>
                  <a:sym typeface="Arial"/>
                </a:rPr>
                <a:t> Insists on zero mistakes, forcing a narrower, much stricter boundary.</a:t>
              </a:r>
              <a:endParaRPr sz="1150">
                <a:solidFill>
                  <a:srgbClr val="334155"/>
                </a:solidFill>
                <a:latin typeface="Arial"/>
                <a:ea typeface="Arial"/>
                <a:cs typeface="Arial"/>
                <a:sym typeface="Arial"/>
              </a:endParaRPr>
            </a:p>
          </p:txBody>
        </p:sp>
      </p:grpSp>
      <p:grpSp>
        <p:nvGrpSpPr>
          <p:cNvPr id="197" name="Google Shape;197;g3fad43f2046_80_599"/>
          <p:cNvGrpSpPr/>
          <p:nvPr/>
        </p:nvGrpSpPr>
        <p:grpSpPr>
          <a:xfrm>
            <a:off x="6238875" y="2333625"/>
            <a:ext cx="5476800" cy="4048200"/>
            <a:chOff x="0" y="0"/>
            <a:chExt cx="5476800" cy="4048200"/>
          </a:xfrm>
        </p:grpSpPr>
        <p:sp>
          <p:nvSpPr>
            <p:cNvPr id="198" name="Google Shape;198;g3fad43f2046_80_599"/>
            <p:cNvSpPr/>
            <p:nvPr/>
          </p:nvSpPr>
          <p:spPr>
            <a:xfrm>
              <a:off x="0" y="0"/>
              <a:ext cx="5476800" cy="4048200"/>
            </a:xfrm>
            <a:prstGeom prst="roundRect">
              <a:avLst>
                <a:gd fmla="val 282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 name="Google Shape;199;g3fad43f2046_80_599"/>
            <p:cNvSpPr txBox="1"/>
            <p:nvPr/>
          </p:nvSpPr>
          <p:spPr>
            <a:xfrm>
              <a:off x="0" y="0"/>
              <a:ext cx="5476800" cy="4048200"/>
            </a:xfrm>
            <a:prstGeom prst="rect">
              <a:avLst/>
            </a:prstGeom>
            <a:noFill/>
            <a:ln>
              <a:noFill/>
            </a:ln>
          </p:spPr>
          <p:txBody>
            <a:bodyPr anchorCtr="0" anchor="t" bIns="285750" lIns="285750" spcFirstLastPara="1" rIns="285750" wrap="square" tIns="285750">
              <a:noAutofit/>
            </a:bodyPr>
            <a:lstStyle/>
            <a:p>
              <a:pPr indent="0" lvl="0" marL="0" rtl="0" algn="l">
                <a:spcBef>
                  <a:spcPts val="0"/>
                </a:spcBef>
                <a:spcAft>
                  <a:spcPts val="0"/>
                </a:spcAft>
                <a:buNone/>
              </a:pPr>
              <a:r>
                <a:rPr lang="en-US" sz="2800">
                  <a:solidFill>
                    <a:srgbClr val="1D4ED8"/>
                  </a:solidFill>
                  <a:latin typeface="Material Icons"/>
                  <a:ea typeface="Material Icons"/>
                  <a:cs typeface="Material Icons"/>
                  <a:sym typeface="Material Icons"/>
                </a:rPr>
                <a:t>blur_on</a:t>
              </a:r>
              <a:r>
                <a:rPr b="1" lang="en-US" sz="1800">
                  <a:solidFill>
                    <a:srgbClr val="0F172A"/>
                  </a:solidFill>
                  <a:latin typeface="Arial"/>
                  <a:ea typeface="Arial"/>
                  <a:cs typeface="Arial"/>
                  <a:sym typeface="Arial"/>
                </a:rPr>
                <a:t>The Kernel Trick</a:t>
              </a:r>
              <a:endParaRPr>
                <a:latin typeface="Arial"/>
                <a:ea typeface="Arial"/>
                <a:cs typeface="Arial"/>
                <a:sym typeface="Arial"/>
              </a:endParaRPr>
            </a:p>
            <a:p>
              <a:pPr indent="-301625" lvl="0" marL="457200" rtl="0" algn="l">
                <a:spcBef>
                  <a:spcPts val="1500"/>
                </a:spcBef>
                <a:spcAft>
                  <a:spcPts val="0"/>
                </a:spcAft>
                <a:buClr>
                  <a:srgbClr val="334155"/>
                </a:buClr>
                <a:buSzPts val="1150"/>
                <a:buFont typeface="Arial"/>
                <a:buChar char="●"/>
              </a:pPr>
              <a:r>
                <a:rPr b="1" lang="en-US" sz="1150">
                  <a:solidFill>
                    <a:srgbClr val="0F172A"/>
                  </a:solidFill>
                  <a:latin typeface="Arial"/>
                  <a:ea typeface="Arial"/>
                  <a:cs typeface="Arial"/>
                  <a:sym typeface="Arial"/>
                </a:rPr>
                <a:t>Non-linear limits:</a:t>
              </a:r>
              <a:r>
                <a:rPr lang="en-US" sz="1150">
                  <a:solidFill>
                    <a:srgbClr val="334155"/>
                  </a:solidFill>
                  <a:latin typeface="Arial"/>
                  <a:ea typeface="Arial"/>
                  <a:cs typeface="Arial"/>
                  <a:sym typeface="Arial"/>
                </a:rPr>
                <a:t> Often classes can't be split by a straight line—such as two concentric, nested circles.</a:t>
              </a:r>
              <a:endParaRPr sz="1150">
                <a:solidFill>
                  <a:srgbClr val="334155"/>
                </a:solidFill>
                <a:latin typeface="Arial"/>
                <a:ea typeface="Arial"/>
                <a:cs typeface="Arial"/>
                <a:sym typeface="Arial"/>
              </a:endParaRPr>
            </a:p>
            <a:p>
              <a:pPr indent="-301625" lvl="0" marL="457200" rtl="0" algn="l">
                <a:spcBef>
                  <a:spcPts val="900"/>
                </a:spcBef>
                <a:spcAft>
                  <a:spcPts val="0"/>
                </a:spcAft>
                <a:buClr>
                  <a:srgbClr val="334155"/>
                </a:buClr>
                <a:buSzPts val="1150"/>
                <a:buFont typeface="Arial"/>
                <a:buChar char="●"/>
              </a:pPr>
              <a:r>
                <a:rPr b="1" lang="en-US" sz="1150">
                  <a:solidFill>
                    <a:srgbClr val="0F172A"/>
                  </a:solidFill>
                  <a:latin typeface="Arial"/>
                  <a:ea typeface="Arial"/>
                  <a:cs typeface="Arial"/>
                  <a:sym typeface="Arial"/>
                </a:rPr>
                <a:t>Curved boundaries:</a:t>
              </a:r>
              <a:r>
                <a:rPr lang="en-US" sz="1150">
                  <a:solidFill>
                    <a:srgbClr val="334155"/>
                  </a:solidFill>
                  <a:latin typeface="Arial"/>
                  <a:ea typeface="Arial"/>
                  <a:cs typeface="Arial"/>
                  <a:sym typeface="Arial"/>
                </a:rPr>
                <a:t> Kernels allow SVM to map data into higher dimensions to draw complex curves without explicit coordinate math.</a:t>
              </a:r>
              <a:endParaRPr sz="1150">
                <a:solidFill>
                  <a:srgbClr val="334155"/>
                </a:solidFill>
                <a:latin typeface="Arial"/>
                <a:ea typeface="Arial"/>
                <a:cs typeface="Arial"/>
                <a:sym typeface="Arial"/>
              </a:endParaRPr>
            </a:p>
            <a:p>
              <a:pPr indent="-301625" lvl="0" marL="457200" rtl="0" algn="l">
                <a:spcBef>
                  <a:spcPts val="900"/>
                </a:spcBef>
                <a:spcAft>
                  <a:spcPts val="0"/>
                </a:spcAft>
                <a:buClr>
                  <a:srgbClr val="334155"/>
                </a:buClr>
                <a:buSzPts val="1150"/>
                <a:buFont typeface="Arial"/>
                <a:buChar char="●"/>
              </a:pPr>
              <a:r>
                <a:rPr b="1" lang="en-US" sz="1150">
                  <a:solidFill>
                    <a:srgbClr val="0F172A"/>
                  </a:solidFill>
                  <a:latin typeface="Arial"/>
                  <a:ea typeface="Arial"/>
                  <a:cs typeface="Arial"/>
                  <a:sym typeface="Arial"/>
                </a:rPr>
                <a:t>Linear kernel:</a:t>
              </a:r>
              <a:r>
                <a:rPr lang="en-US" sz="1150">
                  <a:solidFill>
                    <a:srgbClr val="334155"/>
                  </a:solidFill>
                  <a:latin typeface="Arial"/>
                  <a:ea typeface="Arial"/>
                  <a:cs typeface="Arial"/>
                  <a:sym typeface="Arial"/>
                </a:rPr>
                <a:t> Standard straight-line division for linearly separable scenarios.</a:t>
              </a:r>
              <a:endParaRPr sz="1150">
                <a:solidFill>
                  <a:srgbClr val="334155"/>
                </a:solidFill>
                <a:latin typeface="Arial"/>
                <a:ea typeface="Arial"/>
                <a:cs typeface="Arial"/>
                <a:sym typeface="Arial"/>
              </a:endParaRPr>
            </a:p>
            <a:p>
              <a:pPr indent="-301625" lvl="0" marL="457200" rtl="0" algn="l">
                <a:spcBef>
                  <a:spcPts val="900"/>
                </a:spcBef>
                <a:spcAft>
                  <a:spcPts val="0"/>
                </a:spcAft>
                <a:buClr>
                  <a:srgbClr val="334155"/>
                </a:buClr>
                <a:buSzPts val="1150"/>
                <a:buFont typeface="Arial"/>
                <a:buChar char="●"/>
              </a:pPr>
              <a:r>
                <a:rPr b="1" lang="en-US" sz="1150">
                  <a:solidFill>
                    <a:srgbClr val="0F172A"/>
                  </a:solidFill>
                  <a:latin typeface="Arial"/>
                  <a:ea typeface="Arial"/>
                  <a:cs typeface="Arial"/>
                  <a:sym typeface="Arial"/>
                </a:rPr>
                <a:t>RBF kernel:</a:t>
              </a:r>
              <a:r>
                <a:rPr lang="en-US" sz="1150">
                  <a:solidFill>
                    <a:srgbClr val="334155"/>
                  </a:solidFill>
                  <a:latin typeface="Arial"/>
                  <a:ea typeface="Arial"/>
                  <a:cs typeface="Arial"/>
                  <a:sym typeface="Arial"/>
                </a:rPr>
                <a:t> Highly flexible, curved boundary representing a highly reliable default choice.</a:t>
              </a:r>
              <a:endParaRPr sz="1150">
                <a:solidFill>
                  <a:srgbClr val="334155"/>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3" name="Shape 203"/>
        <p:cNvGrpSpPr/>
        <p:nvPr/>
      </p:nvGrpSpPr>
      <p:grpSpPr>
        <a:xfrm>
          <a:off x="0" y="0"/>
          <a:ext cx="0" cy="0"/>
          <a:chOff x="0" y="0"/>
          <a:chExt cx="0" cy="0"/>
        </a:xfrm>
      </p:grpSpPr>
      <p:sp>
        <p:nvSpPr>
          <p:cNvPr id="204" name="Google Shape;204;g3fad43f2046_80_782"/>
          <p:cNvSpPr txBox="1"/>
          <p:nvPr/>
        </p:nvSpPr>
        <p:spPr>
          <a:xfrm>
            <a:off x="476250" y="381000"/>
            <a:ext cx="112395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0E7490"/>
                </a:solidFill>
                <a:latin typeface="Arial"/>
                <a:ea typeface="Arial"/>
                <a:cs typeface="Arial"/>
                <a:sym typeface="Arial"/>
              </a:rPr>
              <a:t>DRAW THE WIDEST POSSIBLE STREET BETWEEN CLASSES</a:t>
            </a:r>
            <a:endParaRPr b="1" sz="1100">
              <a:solidFill>
                <a:srgbClr val="0E7490"/>
              </a:solidFill>
              <a:latin typeface="Arial"/>
              <a:ea typeface="Arial"/>
              <a:cs typeface="Arial"/>
              <a:sym typeface="Arial"/>
            </a:endParaRPr>
          </a:p>
          <a:p>
            <a:pPr indent="0" lvl="0" marL="0" rtl="0" algn="l">
              <a:spcBef>
                <a:spcPts val="450"/>
              </a:spcBef>
              <a:spcAft>
                <a:spcPts val="0"/>
              </a:spcAft>
              <a:buNone/>
            </a:pPr>
            <a:r>
              <a:rPr b="1" lang="en-US" sz="3200">
                <a:solidFill>
                  <a:srgbClr val="0F172A"/>
                </a:solidFill>
                <a:latin typeface="Arial"/>
                <a:ea typeface="Arial"/>
                <a:cs typeface="Arial"/>
                <a:sym typeface="Arial"/>
              </a:rPr>
              <a:t>Support Vector Machines (SVM)</a:t>
            </a:r>
            <a:endParaRPr b="1" sz="3200">
              <a:solidFill>
                <a:srgbClr val="0F172A"/>
              </a:solidFill>
              <a:latin typeface="Arial"/>
              <a:ea typeface="Arial"/>
              <a:cs typeface="Arial"/>
              <a:sym typeface="Arial"/>
            </a:endParaRPr>
          </a:p>
        </p:txBody>
      </p:sp>
      <p:grpSp>
        <p:nvGrpSpPr>
          <p:cNvPr id="205" name="Google Shape;205;g3fad43f2046_80_782"/>
          <p:cNvGrpSpPr/>
          <p:nvPr/>
        </p:nvGrpSpPr>
        <p:grpSpPr>
          <a:xfrm>
            <a:off x="476250" y="1428750"/>
            <a:ext cx="11239500" cy="666900"/>
            <a:chOff x="0" y="0"/>
            <a:chExt cx="11239500" cy="666900"/>
          </a:xfrm>
        </p:grpSpPr>
        <p:sp>
          <p:nvSpPr>
            <p:cNvPr id="206" name="Google Shape;206;g3fad43f2046_80_782"/>
            <p:cNvSpPr/>
            <p:nvPr/>
          </p:nvSpPr>
          <p:spPr>
            <a:xfrm>
              <a:off x="0" y="0"/>
              <a:ext cx="11239500" cy="666900"/>
            </a:xfrm>
            <a:prstGeom prst="roundRect">
              <a:avLst>
                <a:gd fmla="val 11428"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7" name="Google Shape;207;g3fad43f2046_80_782"/>
            <p:cNvSpPr txBox="1"/>
            <p:nvPr/>
          </p:nvSpPr>
          <p:spPr>
            <a:xfrm>
              <a:off x="0" y="0"/>
              <a:ext cx="11239500" cy="666900"/>
            </a:xfrm>
            <a:prstGeom prst="rect">
              <a:avLst/>
            </a:prstGeom>
            <a:noFill/>
            <a:ln>
              <a:noFill/>
            </a:ln>
          </p:spPr>
          <p:txBody>
            <a:bodyPr anchorCtr="0" anchor="ctr" bIns="0" lIns="228600" spcFirstLastPara="1" rIns="228600" wrap="square" tIns="0">
              <a:noAutofit/>
            </a:bodyPr>
            <a:lstStyle/>
            <a:p>
              <a:pPr indent="0" lvl="0" marL="0" rtl="0" algn="l">
                <a:spcBef>
                  <a:spcPts val="0"/>
                </a:spcBef>
                <a:spcAft>
                  <a:spcPts val="0"/>
                </a:spcAft>
                <a:buNone/>
              </a:pPr>
              <a:r>
                <a:rPr b="0" i="1" lang="en-US" sz="1500">
                  <a:solidFill>
                    <a:srgbClr val="1E40AF"/>
                  </a:solidFill>
                  <a:latin typeface="Arial"/>
                  <a:ea typeface="Arial"/>
                  <a:cs typeface="Arial"/>
                  <a:sym typeface="Arial"/>
                </a:rPr>
                <a:t>Find the boundary line that maximizes the gap to the nearest points on each side</a:t>
              </a:r>
              <a:endParaRPr b="0" i="1" sz="1500">
                <a:solidFill>
                  <a:srgbClr val="1E40AF"/>
                </a:solidFill>
                <a:latin typeface="Arial"/>
                <a:ea typeface="Arial"/>
                <a:cs typeface="Arial"/>
                <a:sym typeface="Arial"/>
              </a:endParaRPr>
            </a:p>
            <a:p>
              <a:pPr indent="0" lvl="0" marL="0" rtl="0" algn="l">
                <a:spcBef>
                  <a:spcPts val="300"/>
                </a:spcBef>
                <a:spcAft>
                  <a:spcPts val="0"/>
                </a:spcAft>
                <a:buNone/>
              </a:pPr>
              <a:r>
                <a:rPr lang="en-US" sz="950">
                  <a:solidFill>
                    <a:srgbClr val="4B5563"/>
                  </a:solidFill>
                  <a:latin typeface="Arial"/>
                  <a:ea typeface="Arial"/>
                  <a:cs typeface="Arial"/>
                  <a:sym typeface="Arial"/>
                </a:rPr>
                <a:t>The 'margin' — SVM's core idea</a:t>
              </a:r>
              <a:endParaRPr sz="950">
                <a:solidFill>
                  <a:srgbClr val="4B5563"/>
                </a:solidFill>
                <a:latin typeface="Arial"/>
                <a:ea typeface="Arial"/>
                <a:cs typeface="Arial"/>
                <a:sym typeface="Arial"/>
              </a:endParaRPr>
            </a:p>
          </p:txBody>
        </p:sp>
      </p:grpSp>
      <p:grpSp>
        <p:nvGrpSpPr>
          <p:cNvPr id="208" name="Google Shape;208;g3fad43f2046_80_782"/>
          <p:cNvGrpSpPr/>
          <p:nvPr/>
        </p:nvGrpSpPr>
        <p:grpSpPr>
          <a:xfrm>
            <a:off x="476250" y="2333625"/>
            <a:ext cx="5476800" cy="4048200"/>
            <a:chOff x="0" y="0"/>
            <a:chExt cx="5476800" cy="4048200"/>
          </a:xfrm>
        </p:grpSpPr>
        <p:sp>
          <p:nvSpPr>
            <p:cNvPr id="209" name="Google Shape;209;g3fad43f2046_80_782"/>
            <p:cNvSpPr/>
            <p:nvPr/>
          </p:nvSpPr>
          <p:spPr>
            <a:xfrm>
              <a:off x="0" y="0"/>
              <a:ext cx="5476800" cy="4048200"/>
            </a:xfrm>
            <a:prstGeom prst="roundRect">
              <a:avLst>
                <a:gd fmla="val 282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0" name="Google Shape;210;g3fad43f2046_80_782"/>
            <p:cNvSpPr txBox="1"/>
            <p:nvPr/>
          </p:nvSpPr>
          <p:spPr>
            <a:xfrm>
              <a:off x="0" y="0"/>
              <a:ext cx="5476800" cy="4048200"/>
            </a:xfrm>
            <a:prstGeom prst="rect">
              <a:avLst/>
            </a:prstGeom>
            <a:noFill/>
            <a:ln>
              <a:noFill/>
            </a:ln>
          </p:spPr>
          <p:txBody>
            <a:bodyPr anchorCtr="0" anchor="t" bIns="285750" lIns="285750" spcFirstLastPara="1" rIns="285750" wrap="square" tIns="285750">
              <a:noAutofit/>
            </a:bodyPr>
            <a:lstStyle/>
            <a:p>
              <a:pPr indent="0" lvl="0" marL="0" rtl="0" algn="l">
                <a:spcBef>
                  <a:spcPts val="0"/>
                </a:spcBef>
                <a:spcAft>
                  <a:spcPts val="0"/>
                </a:spcAft>
                <a:buNone/>
              </a:pPr>
              <a:r>
                <a:rPr lang="en-US" sz="2800">
                  <a:solidFill>
                    <a:srgbClr val="1D4ED8"/>
                  </a:solidFill>
                  <a:latin typeface="Material Icons"/>
                  <a:ea typeface="Material Icons"/>
                  <a:cs typeface="Material Icons"/>
                  <a:sym typeface="Material Icons"/>
                </a:rPr>
                <a:t>tune</a:t>
              </a:r>
              <a:r>
                <a:rPr b="1" lang="en-US" sz="1800">
                  <a:solidFill>
                    <a:srgbClr val="0F172A"/>
                  </a:solidFill>
                  <a:latin typeface="Arial"/>
                  <a:ea typeface="Arial"/>
                  <a:cs typeface="Arial"/>
                  <a:sym typeface="Arial"/>
                </a:rPr>
                <a:t>Margins &amp; Support Vectors</a:t>
              </a:r>
              <a:endParaRPr>
                <a:latin typeface="Arial"/>
                <a:ea typeface="Arial"/>
                <a:cs typeface="Arial"/>
                <a:sym typeface="Arial"/>
              </a:endParaRPr>
            </a:p>
            <a:p>
              <a:pPr indent="-301625" lvl="0" marL="457200" rtl="0" algn="l">
                <a:spcBef>
                  <a:spcPts val="1500"/>
                </a:spcBef>
                <a:spcAft>
                  <a:spcPts val="0"/>
                </a:spcAft>
                <a:buClr>
                  <a:srgbClr val="334155"/>
                </a:buClr>
                <a:buSzPts val="1150"/>
                <a:buFont typeface="Arial"/>
                <a:buChar char="●"/>
              </a:pPr>
              <a:r>
                <a:rPr b="1" lang="en-US" sz="1150">
                  <a:solidFill>
                    <a:srgbClr val="0F172A"/>
                  </a:solidFill>
                  <a:latin typeface="Arial"/>
                  <a:ea typeface="Arial"/>
                  <a:cs typeface="Arial"/>
                  <a:sym typeface="Arial"/>
                </a:rPr>
                <a:t>Support vectors:</a:t>
              </a:r>
              <a:r>
                <a:rPr lang="en-US" sz="1150">
                  <a:solidFill>
                    <a:srgbClr val="334155"/>
                  </a:solidFill>
                  <a:latin typeface="Arial"/>
                  <a:ea typeface="Arial"/>
                  <a:cs typeface="Arial"/>
                  <a:sym typeface="Arial"/>
                </a:rPr>
                <a:t> The handful of closest points that actually define the boundary line.</a:t>
              </a:r>
              <a:endParaRPr sz="1150">
                <a:solidFill>
                  <a:srgbClr val="334155"/>
                </a:solidFill>
                <a:latin typeface="Arial"/>
                <a:ea typeface="Arial"/>
                <a:cs typeface="Arial"/>
                <a:sym typeface="Arial"/>
              </a:endParaRPr>
            </a:p>
            <a:p>
              <a:pPr indent="-301625" lvl="0" marL="457200" rtl="0" algn="l">
                <a:spcBef>
                  <a:spcPts val="900"/>
                </a:spcBef>
                <a:spcAft>
                  <a:spcPts val="0"/>
                </a:spcAft>
                <a:buClr>
                  <a:srgbClr val="334155"/>
                </a:buClr>
                <a:buSzPts val="1150"/>
                <a:buFont typeface="Arial"/>
                <a:buChar char="●"/>
              </a:pPr>
              <a:r>
                <a:rPr b="1" lang="en-US" sz="1150">
                  <a:solidFill>
                    <a:srgbClr val="0F172A"/>
                  </a:solidFill>
                  <a:latin typeface="Arial"/>
                  <a:ea typeface="Arial"/>
                  <a:cs typeface="Arial"/>
                  <a:sym typeface="Arial"/>
                </a:rPr>
                <a:t>Free movement:</a:t>
              </a:r>
              <a:r>
                <a:rPr lang="en-US" sz="1150">
                  <a:solidFill>
                    <a:srgbClr val="334155"/>
                  </a:solidFill>
                  <a:latin typeface="Arial"/>
                  <a:ea typeface="Arial"/>
                  <a:cs typeface="Arial"/>
                  <a:sym typeface="Arial"/>
                </a:rPr>
                <a:t> Every other data point could move around freely without changing the decision boundary at all.</a:t>
              </a:r>
              <a:endParaRPr sz="1150">
                <a:solidFill>
                  <a:srgbClr val="334155"/>
                </a:solidFill>
                <a:latin typeface="Arial"/>
                <a:ea typeface="Arial"/>
                <a:cs typeface="Arial"/>
                <a:sym typeface="Arial"/>
              </a:endParaRPr>
            </a:p>
            <a:p>
              <a:pPr indent="-301625" lvl="0" marL="457200" rtl="0" algn="l">
                <a:spcBef>
                  <a:spcPts val="900"/>
                </a:spcBef>
                <a:spcAft>
                  <a:spcPts val="0"/>
                </a:spcAft>
                <a:buClr>
                  <a:srgbClr val="334155"/>
                </a:buClr>
                <a:buSzPts val="1150"/>
                <a:buFont typeface="Arial"/>
                <a:buChar char="●"/>
              </a:pPr>
              <a:r>
                <a:rPr b="1" lang="en-US" sz="1150">
                  <a:solidFill>
                    <a:srgbClr val="0F172A"/>
                  </a:solidFill>
                  <a:latin typeface="Arial"/>
                  <a:ea typeface="Arial"/>
                  <a:cs typeface="Arial"/>
                  <a:sym typeface="Arial"/>
                </a:rPr>
                <a:t>C as a dial:</a:t>
              </a:r>
              <a:r>
                <a:rPr lang="en-US" sz="1150">
                  <a:solidFill>
                    <a:srgbClr val="334155"/>
                  </a:solidFill>
                  <a:latin typeface="Arial"/>
                  <a:ea typeface="Arial"/>
                  <a:cs typeface="Arial"/>
                  <a:sym typeface="Arial"/>
                </a:rPr>
                <a:t> Low C allows some margin violations for a wider, more tolerant boundary "street".</a:t>
              </a:r>
              <a:endParaRPr sz="1150">
                <a:solidFill>
                  <a:srgbClr val="334155"/>
                </a:solidFill>
                <a:latin typeface="Arial"/>
                <a:ea typeface="Arial"/>
                <a:cs typeface="Arial"/>
                <a:sym typeface="Arial"/>
              </a:endParaRPr>
            </a:p>
            <a:p>
              <a:pPr indent="-301625" lvl="0" marL="457200" rtl="0" algn="l">
                <a:spcBef>
                  <a:spcPts val="900"/>
                </a:spcBef>
                <a:spcAft>
                  <a:spcPts val="0"/>
                </a:spcAft>
                <a:buClr>
                  <a:srgbClr val="334155"/>
                </a:buClr>
                <a:buSzPts val="1150"/>
                <a:buFont typeface="Arial"/>
                <a:buChar char="●"/>
              </a:pPr>
              <a:r>
                <a:rPr b="1" lang="en-US" sz="1150">
                  <a:solidFill>
                    <a:srgbClr val="0F172A"/>
                  </a:solidFill>
                  <a:latin typeface="Arial"/>
                  <a:ea typeface="Arial"/>
                  <a:cs typeface="Arial"/>
                  <a:sym typeface="Arial"/>
                </a:rPr>
                <a:t>High C constraint:</a:t>
              </a:r>
              <a:r>
                <a:rPr lang="en-US" sz="1150">
                  <a:solidFill>
                    <a:srgbClr val="334155"/>
                  </a:solidFill>
                  <a:latin typeface="Arial"/>
                  <a:ea typeface="Arial"/>
                  <a:cs typeface="Arial"/>
                  <a:sym typeface="Arial"/>
                </a:rPr>
                <a:t> Insists on zero mistakes, forcing a narrower, much stricter boundary.</a:t>
              </a:r>
              <a:endParaRPr sz="1150">
                <a:solidFill>
                  <a:srgbClr val="334155"/>
                </a:solidFill>
                <a:latin typeface="Arial"/>
                <a:ea typeface="Arial"/>
                <a:cs typeface="Arial"/>
                <a:sym typeface="Arial"/>
              </a:endParaRPr>
            </a:p>
          </p:txBody>
        </p:sp>
      </p:grpSp>
      <p:grpSp>
        <p:nvGrpSpPr>
          <p:cNvPr id="211" name="Google Shape;211;g3fad43f2046_80_782"/>
          <p:cNvGrpSpPr/>
          <p:nvPr/>
        </p:nvGrpSpPr>
        <p:grpSpPr>
          <a:xfrm>
            <a:off x="6238875" y="2333625"/>
            <a:ext cx="5476800" cy="4048200"/>
            <a:chOff x="0" y="0"/>
            <a:chExt cx="5476800" cy="4048200"/>
          </a:xfrm>
        </p:grpSpPr>
        <p:sp>
          <p:nvSpPr>
            <p:cNvPr id="212" name="Google Shape;212;g3fad43f2046_80_782"/>
            <p:cNvSpPr/>
            <p:nvPr/>
          </p:nvSpPr>
          <p:spPr>
            <a:xfrm>
              <a:off x="0" y="0"/>
              <a:ext cx="5476800" cy="4048200"/>
            </a:xfrm>
            <a:prstGeom prst="roundRect">
              <a:avLst>
                <a:gd fmla="val 282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g3fad43f2046_80_782"/>
            <p:cNvSpPr txBox="1"/>
            <p:nvPr/>
          </p:nvSpPr>
          <p:spPr>
            <a:xfrm>
              <a:off x="0" y="0"/>
              <a:ext cx="5476800" cy="4048200"/>
            </a:xfrm>
            <a:prstGeom prst="rect">
              <a:avLst/>
            </a:prstGeom>
            <a:noFill/>
            <a:ln>
              <a:noFill/>
            </a:ln>
          </p:spPr>
          <p:txBody>
            <a:bodyPr anchorCtr="0" anchor="t" bIns="285750" lIns="285750" spcFirstLastPara="1" rIns="285750" wrap="square" tIns="285750">
              <a:noAutofit/>
            </a:bodyPr>
            <a:lstStyle/>
            <a:p>
              <a:pPr indent="0" lvl="0" marL="0" rtl="0" algn="l">
                <a:spcBef>
                  <a:spcPts val="0"/>
                </a:spcBef>
                <a:spcAft>
                  <a:spcPts val="0"/>
                </a:spcAft>
                <a:buNone/>
              </a:pPr>
              <a:r>
                <a:rPr lang="en-US" sz="2800">
                  <a:solidFill>
                    <a:srgbClr val="1D4ED8"/>
                  </a:solidFill>
                  <a:latin typeface="Material Icons"/>
                  <a:ea typeface="Material Icons"/>
                  <a:cs typeface="Material Icons"/>
                  <a:sym typeface="Material Icons"/>
                </a:rPr>
                <a:t>blur_on</a:t>
              </a:r>
              <a:r>
                <a:rPr b="1" lang="en-US" sz="1800">
                  <a:solidFill>
                    <a:srgbClr val="0F172A"/>
                  </a:solidFill>
                  <a:latin typeface="Arial"/>
                  <a:ea typeface="Arial"/>
                  <a:cs typeface="Arial"/>
                  <a:sym typeface="Arial"/>
                </a:rPr>
                <a:t>The Kernel Trick</a:t>
              </a:r>
              <a:endParaRPr>
                <a:latin typeface="Arial"/>
                <a:ea typeface="Arial"/>
                <a:cs typeface="Arial"/>
                <a:sym typeface="Arial"/>
              </a:endParaRPr>
            </a:p>
            <a:p>
              <a:pPr indent="-301625" lvl="0" marL="457200" rtl="0" algn="l">
                <a:spcBef>
                  <a:spcPts val="1500"/>
                </a:spcBef>
                <a:spcAft>
                  <a:spcPts val="0"/>
                </a:spcAft>
                <a:buClr>
                  <a:srgbClr val="334155"/>
                </a:buClr>
                <a:buSzPts val="1150"/>
                <a:buFont typeface="Arial"/>
                <a:buChar char="●"/>
              </a:pPr>
              <a:r>
                <a:rPr b="1" lang="en-US" sz="1150">
                  <a:solidFill>
                    <a:srgbClr val="0F172A"/>
                  </a:solidFill>
                  <a:latin typeface="Arial"/>
                  <a:ea typeface="Arial"/>
                  <a:cs typeface="Arial"/>
                  <a:sym typeface="Arial"/>
                </a:rPr>
                <a:t>Non-linear limits:</a:t>
              </a:r>
              <a:r>
                <a:rPr lang="en-US" sz="1150">
                  <a:solidFill>
                    <a:srgbClr val="334155"/>
                  </a:solidFill>
                  <a:latin typeface="Arial"/>
                  <a:ea typeface="Arial"/>
                  <a:cs typeface="Arial"/>
                  <a:sym typeface="Arial"/>
                </a:rPr>
                <a:t> Often classes can't be split by a straight line—such as two concentric, nested circles.</a:t>
              </a:r>
              <a:endParaRPr sz="1150">
                <a:solidFill>
                  <a:srgbClr val="334155"/>
                </a:solidFill>
                <a:latin typeface="Arial"/>
                <a:ea typeface="Arial"/>
                <a:cs typeface="Arial"/>
                <a:sym typeface="Arial"/>
              </a:endParaRPr>
            </a:p>
            <a:p>
              <a:pPr indent="-301625" lvl="0" marL="457200" rtl="0" algn="l">
                <a:spcBef>
                  <a:spcPts val="900"/>
                </a:spcBef>
                <a:spcAft>
                  <a:spcPts val="0"/>
                </a:spcAft>
                <a:buClr>
                  <a:srgbClr val="334155"/>
                </a:buClr>
                <a:buSzPts val="1150"/>
                <a:buFont typeface="Arial"/>
                <a:buChar char="●"/>
              </a:pPr>
              <a:r>
                <a:rPr b="1" lang="en-US" sz="1150">
                  <a:solidFill>
                    <a:srgbClr val="0F172A"/>
                  </a:solidFill>
                  <a:latin typeface="Arial"/>
                  <a:ea typeface="Arial"/>
                  <a:cs typeface="Arial"/>
                  <a:sym typeface="Arial"/>
                </a:rPr>
                <a:t>Curved boundaries:</a:t>
              </a:r>
              <a:r>
                <a:rPr lang="en-US" sz="1150">
                  <a:solidFill>
                    <a:srgbClr val="334155"/>
                  </a:solidFill>
                  <a:latin typeface="Arial"/>
                  <a:ea typeface="Arial"/>
                  <a:cs typeface="Arial"/>
                  <a:sym typeface="Arial"/>
                </a:rPr>
                <a:t> Kernels allow SVM to map data into higher dimensions to draw complex curves without explicit coordinate math.</a:t>
              </a:r>
              <a:endParaRPr sz="1150">
                <a:solidFill>
                  <a:srgbClr val="334155"/>
                </a:solidFill>
                <a:latin typeface="Arial"/>
                <a:ea typeface="Arial"/>
                <a:cs typeface="Arial"/>
                <a:sym typeface="Arial"/>
              </a:endParaRPr>
            </a:p>
            <a:p>
              <a:pPr indent="-301625" lvl="0" marL="457200" rtl="0" algn="l">
                <a:spcBef>
                  <a:spcPts val="900"/>
                </a:spcBef>
                <a:spcAft>
                  <a:spcPts val="0"/>
                </a:spcAft>
                <a:buClr>
                  <a:srgbClr val="334155"/>
                </a:buClr>
                <a:buSzPts val="1150"/>
                <a:buFont typeface="Arial"/>
                <a:buChar char="●"/>
              </a:pPr>
              <a:r>
                <a:rPr b="1" lang="en-US" sz="1150">
                  <a:solidFill>
                    <a:srgbClr val="0F172A"/>
                  </a:solidFill>
                  <a:latin typeface="Arial"/>
                  <a:ea typeface="Arial"/>
                  <a:cs typeface="Arial"/>
                  <a:sym typeface="Arial"/>
                </a:rPr>
                <a:t>Linear kernel:</a:t>
              </a:r>
              <a:r>
                <a:rPr lang="en-US" sz="1150">
                  <a:solidFill>
                    <a:srgbClr val="334155"/>
                  </a:solidFill>
                  <a:latin typeface="Arial"/>
                  <a:ea typeface="Arial"/>
                  <a:cs typeface="Arial"/>
                  <a:sym typeface="Arial"/>
                </a:rPr>
                <a:t> Standard straight-line division for linearly separable scenarios.</a:t>
              </a:r>
              <a:endParaRPr sz="1150">
                <a:solidFill>
                  <a:srgbClr val="334155"/>
                </a:solidFill>
                <a:latin typeface="Arial"/>
                <a:ea typeface="Arial"/>
                <a:cs typeface="Arial"/>
                <a:sym typeface="Arial"/>
              </a:endParaRPr>
            </a:p>
            <a:p>
              <a:pPr indent="-301625" lvl="0" marL="457200" rtl="0" algn="l">
                <a:spcBef>
                  <a:spcPts val="900"/>
                </a:spcBef>
                <a:spcAft>
                  <a:spcPts val="0"/>
                </a:spcAft>
                <a:buClr>
                  <a:srgbClr val="334155"/>
                </a:buClr>
                <a:buSzPts val="1150"/>
                <a:buFont typeface="Arial"/>
                <a:buChar char="●"/>
              </a:pPr>
              <a:r>
                <a:rPr b="1" lang="en-US" sz="1150">
                  <a:solidFill>
                    <a:srgbClr val="0F172A"/>
                  </a:solidFill>
                  <a:latin typeface="Arial"/>
                  <a:ea typeface="Arial"/>
                  <a:cs typeface="Arial"/>
                  <a:sym typeface="Arial"/>
                </a:rPr>
                <a:t>RBF kernel:</a:t>
              </a:r>
              <a:r>
                <a:rPr lang="en-US" sz="1150">
                  <a:solidFill>
                    <a:srgbClr val="334155"/>
                  </a:solidFill>
                  <a:latin typeface="Arial"/>
                  <a:ea typeface="Arial"/>
                  <a:cs typeface="Arial"/>
                  <a:sym typeface="Arial"/>
                </a:rPr>
                <a:t> Highly flexible, curved boundary representing a highly reliable default choice.</a:t>
              </a:r>
              <a:endParaRPr sz="1150">
                <a:solidFill>
                  <a:srgbClr val="334155"/>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7" name="Shape 217"/>
        <p:cNvGrpSpPr/>
        <p:nvPr/>
      </p:nvGrpSpPr>
      <p:grpSpPr>
        <a:xfrm>
          <a:off x="0" y="0"/>
          <a:ext cx="0" cy="0"/>
          <a:chOff x="0" y="0"/>
          <a:chExt cx="0" cy="0"/>
        </a:xfrm>
      </p:grpSpPr>
      <p:sp>
        <p:nvSpPr>
          <p:cNvPr id="218" name="Google Shape;218;g3fad43f2046_80_237"/>
          <p:cNvSpPr txBox="1"/>
          <p:nvPr/>
        </p:nvSpPr>
        <p:spPr>
          <a:xfrm>
            <a:off x="476250" y="381000"/>
            <a:ext cx="112395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12617D"/>
                </a:solidFill>
                <a:latin typeface="Arial"/>
                <a:ea typeface="Arial"/>
                <a:cs typeface="Arial"/>
                <a:sym typeface="Arial"/>
              </a:rPr>
              <a:t>LIKE PLAYING 20 QUESTIONS WITH YOUR DATA</a:t>
            </a:r>
            <a:endParaRPr b="1" sz="1100">
              <a:solidFill>
                <a:srgbClr val="12617D"/>
              </a:solidFill>
              <a:latin typeface="Arial"/>
              <a:ea typeface="Arial"/>
              <a:cs typeface="Arial"/>
              <a:sym typeface="Arial"/>
            </a:endParaRPr>
          </a:p>
          <a:p>
            <a:pPr indent="0" lvl="0" marL="0" rtl="0" algn="l">
              <a:spcBef>
                <a:spcPts val="375"/>
              </a:spcBef>
              <a:spcAft>
                <a:spcPts val="0"/>
              </a:spcAft>
              <a:buNone/>
            </a:pPr>
            <a:r>
              <a:rPr b="1" lang="en-US" sz="3200">
                <a:solidFill>
                  <a:srgbClr val="0F172A"/>
                </a:solidFill>
                <a:latin typeface="Arial"/>
                <a:ea typeface="Arial"/>
                <a:cs typeface="Arial"/>
                <a:sym typeface="Arial"/>
              </a:rPr>
              <a:t>Decision Trees</a:t>
            </a:r>
            <a:endParaRPr b="1" sz="3200">
              <a:solidFill>
                <a:srgbClr val="0F172A"/>
              </a:solidFill>
              <a:latin typeface="Arial"/>
              <a:ea typeface="Arial"/>
              <a:cs typeface="Arial"/>
              <a:sym typeface="Arial"/>
            </a:endParaRPr>
          </a:p>
        </p:txBody>
      </p:sp>
      <p:sp>
        <p:nvSpPr>
          <p:cNvPr id="219" name="Google Shape;219;g3fad43f2046_80_237"/>
          <p:cNvSpPr/>
          <p:nvPr/>
        </p:nvSpPr>
        <p:spPr>
          <a:xfrm>
            <a:off x="476250" y="1285875"/>
            <a:ext cx="952500" cy="47700"/>
          </a:xfrm>
          <a:prstGeom prst="rect">
            <a:avLst/>
          </a:prstGeom>
          <a:solidFill>
            <a:srgbClr val="1D4ED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20" name="Google Shape;220;g3fad43f2046_80_237"/>
          <p:cNvGrpSpPr/>
          <p:nvPr/>
        </p:nvGrpSpPr>
        <p:grpSpPr>
          <a:xfrm>
            <a:off x="476250" y="1714500"/>
            <a:ext cx="3429000" cy="4381500"/>
            <a:chOff x="0" y="0"/>
            <a:chExt cx="3429000" cy="4381500"/>
          </a:xfrm>
        </p:grpSpPr>
        <p:sp>
          <p:nvSpPr>
            <p:cNvPr id="221" name="Google Shape;221;g3fad43f2046_80_237"/>
            <p:cNvSpPr/>
            <p:nvPr/>
          </p:nvSpPr>
          <p:spPr>
            <a:xfrm>
              <a:off x="0" y="0"/>
              <a:ext cx="3429000" cy="4381500"/>
            </a:xfrm>
            <a:prstGeom prst="roundRect">
              <a:avLst>
                <a:gd fmla="val 444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2" name="Google Shape;222;g3fad43f2046_80_237"/>
            <p:cNvSpPr txBox="1"/>
            <p:nvPr/>
          </p:nvSpPr>
          <p:spPr>
            <a:xfrm>
              <a:off x="285750" y="285750"/>
              <a:ext cx="2857500" cy="3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800">
                  <a:solidFill>
                    <a:srgbClr val="1D4ED8"/>
                  </a:solidFill>
                  <a:latin typeface="Material Icons"/>
                  <a:ea typeface="Material Icons"/>
                  <a:cs typeface="Material Icons"/>
                  <a:sym typeface="Material Icons"/>
                </a:rPr>
                <a:t>help_outline</a:t>
              </a:r>
              <a:endParaRPr>
                <a:latin typeface="Inter"/>
                <a:ea typeface="Inter"/>
                <a:cs typeface="Inter"/>
                <a:sym typeface="Inter"/>
              </a:endParaRPr>
            </a:p>
            <a:p>
              <a:pPr indent="0" lvl="0" marL="0" rtl="0" algn="l">
                <a:spcBef>
                  <a:spcPts val="0"/>
                </a:spcBef>
                <a:spcAft>
                  <a:spcPts val="0"/>
                </a:spcAft>
                <a:buNone/>
              </a:pPr>
              <a:r>
                <a:rPr b="1" lang="en-US" sz="1800">
                  <a:solidFill>
                    <a:srgbClr val="0F172A"/>
                  </a:solidFill>
                  <a:latin typeface="Inter"/>
                  <a:ea typeface="Inter"/>
                  <a:cs typeface="Inter"/>
                  <a:sym typeface="Inter"/>
                </a:rPr>
                <a:t>The Basic Idea</a:t>
              </a:r>
              <a:endParaRPr b="1" sz="1800">
                <a:solidFill>
                  <a:srgbClr val="0F172A"/>
                </a:solidFill>
                <a:latin typeface="Inter"/>
                <a:ea typeface="Inter"/>
                <a:cs typeface="Inter"/>
                <a:sym typeface="Inter"/>
              </a:endParaRPr>
            </a:p>
            <a:p>
              <a:pPr indent="0" lvl="0" marL="0" rtl="0" algn="l">
                <a:spcBef>
                  <a:spcPts val="1200"/>
                </a:spcBef>
                <a:spcAft>
                  <a:spcPts val="0"/>
                </a:spcAft>
                <a:buNone/>
              </a:pPr>
              <a:r>
                <a:rPr lang="en-US" sz="1150">
                  <a:solidFill>
                    <a:srgbClr val="334155"/>
                  </a:solidFill>
                  <a:latin typeface="Inter"/>
                  <a:ea typeface="Inter"/>
                  <a:cs typeface="Inter"/>
                  <a:sym typeface="Inter"/>
                </a:rPr>
                <a:t>• Repeatedly ask yes/no questions about features (e.g., </a:t>
              </a:r>
              <a:r>
                <a:rPr i="1" lang="en-US" sz="1150">
                  <a:solidFill>
                    <a:srgbClr val="334155"/>
                  </a:solidFill>
                  <a:latin typeface="Inter"/>
                  <a:ea typeface="Inter"/>
                  <a:cs typeface="Inter"/>
                  <a:sym typeface="Inter"/>
                </a:rPr>
                <a:t>"Is age &gt; 30?"</a:t>
              </a:r>
              <a:r>
                <a:rPr lang="en-US" sz="1150">
                  <a:solidFill>
                    <a:srgbClr val="334155"/>
                  </a:solidFill>
                  <a:latin typeface="Inter"/>
                  <a:ea typeface="Inter"/>
                  <a:cs typeface="Inter"/>
                  <a:sym typeface="Inter"/>
                </a:rPr>
                <a:t>) to split the data.</a:t>
              </a:r>
              <a:endParaRPr sz="1150">
                <a:solidFill>
                  <a:srgbClr val="334155"/>
                </a:solidFill>
                <a:latin typeface="Inter"/>
                <a:ea typeface="Inter"/>
                <a:cs typeface="Inter"/>
                <a:sym typeface="Inter"/>
              </a:endParaRPr>
            </a:p>
            <a:p>
              <a:pPr indent="0" lvl="0" marL="0" rtl="0" algn="l">
                <a:spcBef>
                  <a:spcPts val="900"/>
                </a:spcBef>
                <a:spcAft>
                  <a:spcPts val="0"/>
                </a:spcAft>
                <a:buNone/>
              </a:pPr>
              <a:r>
                <a:rPr lang="en-US" sz="1150">
                  <a:solidFill>
                    <a:srgbClr val="334155"/>
                  </a:solidFill>
                  <a:latin typeface="Inter"/>
                  <a:ea typeface="Inter"/>
                  <a:cs typeface="Inter"/>
                  <a:sym typeface="Inter"/>
                </a:rPr>
                <a:t>• Each split tries to make the resulting groups as </a:t>
              </a:r>
              <a:r>
                <a:rPr b="1" lang="en-US" sz="1150">
                  <a:solidFill>
                    <a:srgbClr val="0F172A"/>
                  </a:solidFill>
                  <a:latin typeface="Inter"/>
                  <a:ea typeface="Inter"/>
                  <a:cs typeface="Inter"/>
                  <a:sym typeface="Inter"/>
                </a:rPr>
                <a:t>'pure'</a:t>
              </a:r>
              <a:r>
                <a:rPr lang="en-US" sz="1150">
                  <a:solidFill>
                    <a:srgbClr val="334155"/>
                  </a:solidFill>
                  <a:latin typeface="Inter"/>
                  <a:ea typeface="Inter"/>
                  <a:cs typeface="Inter"/>
                  <a:sym typeface="Inter"/>
                </a:rPr>
                <a:t> as possible (mostly one class).</a:t>
              </a:r>
              <a:endParaRPr sz="1150">
                <a:solidFill>
                  <a:srgbClr val="334155"/>
                </a:solidFill>
                <a:latin typeface="Inter"/>
                <a:ea typeface="Inter"/>
                <a:cs typeface="Inter"/>
                <a:sym typeface="Inter"/>
              </a:endParaRPr>
            </a:p>
            <a:p>
              <a:pPr indent="0" lvl="0" marL="0" rtl="0" algn="l">
                <a:spcBef>
                  <a:spcPts val="900"/>
                </a:spcBef>
                <a:spcAft>
                  <a:spcPts val="0"/>
                </a:spcAft>
                <a:buNone/>
              </a:pPr>
              <a:r>
                <a:rPr lang="en-US" sz="1150">
                  <a:solidFill>
                    <a:srgbClr val="334155"/>
                  </a:solidFill>
                  <a:latin typeface="Inter"/>
                  <a:ea typeface="Inter"/>
                  <a:cs typeface="Inter"/>
                  <a:sym typeface="Inter"/>
                </a:rPr>
                <a:t>• Keep splitting until groups are pure enough or a stopping rule kicks in.</a:t>
              </a:r>
              <a:endParaRPr sz="1150">
                <a:solidFill>
                  <a:srgbClr val="334155"/>
                </a:solidFill>
                <a:latin typeface="Inter"/>
                <a:ea typeface="Inter"/>
                <a:cs typeface="Inter"/>
                <a:sym typeface="Inter"/>
              </a:endParaRPr>
            </a:p>
          </p:txBody>
        </p:sp>
      </p:grpSp>
      <p:grpSp>
        <p:nvGrpSpPr>
          <p:cNvPr id="223" name="Google Shape;223;g3fad43f2046_80_237"/>
          <p:cNvGrpSpPr/>
          <p:nvPr/>
        </p:nvGrpSpPr>
        <p:grpSpPr>
          <a:xfrm>
            <a:off x="4381500" y="1714500"/>
            <a:ext cx="3429000" cy="4381500"/>
            <a:chOff x="0" y="0"/>
            <a:chExt cx="3429000" cy="4381500"/>
          </a:xfrm>
        </p:grpSpPr>
        <p:sp>
          <p:nvSpPr>
            <p:cNvPr id="224" name="Google Shape;224;g3fad43f2046_80_237"/>
            <p:cNvSpPr/>
            <p:nvPr/>
          </p:nvSpPr>
          <p:spPr>
            <a:xfrm>
              <a:off x="0" y="0"/>
              <a:ext cx="3429000" cy="4381500"/>
            </a:xfrm>
            <a:prstGeom prst="roundRect">
              <a:avLst>
                <a:gd fmla="val 444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5" name="Google Shape;225;g3fad43f2046_80_237"/>
            <p:cNvSpPr txBox="1"/>
            <p:nvPr/>
          </p:nvSpPr>
          <p:spPr>
            <a:xfrm>
              <a:off x="285750" y="285750"/>
              <a:ext cx="2857500" cy="3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800">
                  <a:solidFill>
                    <a:srgbClr val="1D4ED8"/>
                  </a:solidFill>
                  <a:latin typeface="Material Icons"/>
                  <a:ea typeface="Material Icons"/>
                  <a:cs typeface="Material Icons"/>
                  <a:sym typeface="Material Icons"/>
                </a:rPr>
                <a:t>insights</a:t>
              </a:r>
              <a:endParaRPr>
                <a:latin typeface="Inter"/>
                <a:ea typeface="Inter"/>
                <a:cs typeface="Inter"/>
                <a:sym typeface="Inter"/>
              </a:endParaRPr>
            </a:p>
            <a:p>
              <a:pPr indent="0" lvl="0" marL="0" rtl="0" algn="l">
                <a:spcBef>
                  <a:spcPts val="0"/>
                </a:spcBef>
                <a:spcAft>
                  <a:spcPts val="0"/>
                </a:spcAft>
                <a:buNone/>
              </a:pPr>
              <a:r>
                <a:rPr b="1" lang="en-US" sz="1800">
                  <a:solidFill>
                    <a:srgbClr val="0F172A"/>
                  </a:solidFill>
                  <a:latin typeface="Inter"/>
                  <a:ea typeface="Inter"/>
                  <a:cs typeface="Inter"/>
                  <a:sym typeface="Inter"/>
                </a:rPr>
                <a:t>How We Score a Split</a:t>
              </a:r>
              <a:endParaRPr b="1" sz="1800">
                <a:solidFill>
                  <a:srgbClr val="0F172A"/>
                </a:solidFill>
                <a:latin typeface="Inter"/>
                <a:ea typeface="Inter"/>
                <a:cs typeface="Inter"/>
                <a:sym typeface="Inter"/>
              </a:endParaRPr>
            </a:p>
            <a:p>
              <a:pPr indent="0" lvl="0" marL="0" rtl="0" algn="l">
                <a:spcBef>
                  <a:spcPts val="1200"/>
                </a:spcBef>
                <a:spcAft>
                  <a:spcPts val="0"/>
                </a:spcAft>
                <a:buNone/>
              </a:pPr>
              <a:r>
                <a:rPr b="1" lang="en-US" sz="1250">
                  <a:solidFill>
                    <a:srgbClr val="12617D"/>
                  </a:solidFill>
                  <a:latin typeface="Inter"/>
                  <a:ea typeface="Inter"/>
                  <a:cs typeface="Inter"/>
                  <a:sym typeface="Inter"/>
                </a:rPr>
                <a:t>Gini Impurity</a:t>
              </a:r>
              <a:endParaRPr b="1" sz="1250">
                <a:solidFill>
                  <a:srgbClr val="12617D"/>
                </a:solidFill>
                <a:latin typeface="Inter"/>
                <a:ea typeface="Inter"/>
                <a:cs typeface="Inter"/>
                <a:sym typeface="Inter"/>
              </a:endParaRPr>
            </a:p>
            <a:p>
              <a:pPr indent="0" lvl="0" marL="0" rtl="0" algn="l">
                <a:spcBef>
                  <a:spcPts val="300"/>
                </a:spcBef>
                <a:spcAft>
                  <a:spcPts val="0"/>
                </a:spcAft>
                <a:buNone/>
              </a:pPr>
              <a:r>
                <a:rPr lang="en-US" sz="1150">
                  <a:solidFill>
                    <a:srgbClr val="334155"/>
                  </a:solidFill>
                  <a:latin typeface="Inter"/>
                  <a:ea typeface="Inter"/>
                  <a:cs typeface="Inter"/>
                  <a:sym typeface="Inter"/>
                </a:rPr>
                <a:t>How often you'd mislabel a random point if you guessed randomly based on the group's class distribution.</a:t>
              </a:r>
              <a:endParaRPr sz="1150">
                <a:solidFill>
                  <a:srgbClr val="334155"/>
                </a:solidFill>
                <a:latin typeface="Inter"/>
                <a:ea typeface="Inter"/>
                <a:cs typeface="Inter"/>
                <a:sym typeface="Inter"/>
              </a:endParaRPr>
            </a:p>
            <a:p>
              <a:pPr indent="0" lvl="0" marL="0" rtl="0" algn="l">
                <a:spcBef>
                  <a:spcPts val="1200"/>
                </a:spcBef>
                <a:spcAft>
                  <a:spcPts val="0"/>
                </a:spcAft>
                <a:buNone/>
              </a:pPr>
              <a:r>
                <a:rPr b="1" lang="en-US" sz="1250">
                  <a:solidFill>
                    <a:srgbClr val="12617D"/>
                  </a:solidFill>
                  <a:latin typeface="Inter"/>
                  <a:ea typeface="Inter"/>
                  <a:cs typeface="Inter"/>
                  <a:sym typeface="Inter"/>
                </a:rPr>
                <a:t>Entropy / Info Gain</a:t>
              </a:r>
              <a:endParaRPr b="1" sz="1250">
                <a:solidFill>
                  <a:srgbClr val="12617D"/>
                </a:solidFill>
                <a:latin typeface="Inter"/>
                <a:ea typeface="Inter"/>
                <a:cs typeface="Inter"/>
                <a:sym typeface="Inter"/>
              </a:endParaRPr>
            </a:p>
            <a:p>
              <a:pPr indent="0" lvl="0" marL="0" rtl="0" algn="l">
                <a:spcBef>
                  <a:spcPts val="300"/>
                </a:spcBef>
                <a:spcAft>
                  <a:spcPts val="0"/>
                </a:spcAft>
                <a:buNone/>
              </a:pPr>
              <a:r>
                <a:rPr lang="en-US" sz="1150">
                  <a:solidFill>
                    <a:srgbClr val="334155"/>
                  </a:solidFill>
                  <a:latin typeface="Inter"/>
                  <a:ea typeface="Inter"/>
                  <a:cs typeface="Inter"/>
                  <a:sym typeface="Inter"/>
                </a:rPr>
                <a:t>How much 'surprise' or disorder is reduced in the group after performing the split.</a:t>
              </a:r>
              <a:endParaRPr sz="1150">
                <a:solidFill>
                  <a:srgbClr val="334155"/>
                </a:solidFill>
                <a:latin typeface="Inter"/>
                <a:ea typeface="Inter"/>
                <a:cs typeface="Inter"/>
                <a:sym typeface="Inter"/>
              </a:endParaRPr>
            </a:p>
          </p:txBody>
        </p:sp>
      </p:grpSp>
      <p:grpSp>
        <p:nvGrpSpPr>
          <p:cNvPr id="226" name="Google Shape;226;g3fad43f2046_80_237"/>
          <p:cNvGrpSpPr/>
          <p:nvPr/>
        </p:nvGrpSpPr>
        <p:grpSpPr>
          <a:xfrm>
            <a:off x="8286750" y="1714500"/>
            <a:ext cx="3429000" cy="4381500"/>
            <a:chOff x="0" y="0"/>
            <a:chExt cx="3429000" cy="4381500"/>
          </a:xfrm>
        </p:grpSpPr>
        <p:sp>
          <p:nvSpPr>
            <p:cNvPr id="227" name="Google Shape;227;g3fad43f2046_80_237"/>
            <p:cNvSpPr/>
            <p:nvPr/>
          </p:nvSpPr>
          <p:spPr>
            <a:xfrm>
              <a:off x="0" y="0"/>
              <a:ext cx="3429000" cy="4381500"/>
            </a:xfrm>
            <a:prstGeom prst="roundRect">
              <a:avLst>
                <a:gd fmla="val 444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8" name="Google Shape;228;g3fad43f2046_80_237"/>
            <p:cNvSpPr txBox="1"/>
            <p:nvPr/>
          </p:nvSpPr>
          <p:spPr>
            <a:xfrm>
              <a:off x="285750" y="285750"/>
              <a:ext cx="2857500" cy="3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800">
                  <a:solidFill>
                    <a:srgbClr val="1D4ED8"/>
                  </a:solidFill>
                  <a:latin typeface="Material Icons"/>
                  <a:ea typeface="Material Icons"/>
                  <a:cs typeface="Material Icons"/>
                  <a:sym typeface="Material Icons"/>
                </a:rPr>
                <a:t>report_problem</a:t>
              </a:r>
              <a:endParaRPr>
                <a:latin typeface="Inter"/>
                <a:ea typeface="Inter"/>
                <a:cs typeface="Inter"/>
                <a:sym typeface="Inter"/>
              </a:endParaRPr>
            </a:p>
            <a:p>
              <a:pPr indent="0" lvl="0" marL="0" rtl="0" algn="l">
                <a:spcBef>
                  <a:spcPts val="0"/>
                </a:spcBef>
                <a:spcAft>
                  <a:spcPts val="0"/>
                </a:spcAft>
                <a:buNone/>
              </a:pPr>
              <a:r>
                <a:rPr b="1" lang="en-US" sz="1800">
                  <a:solidFill>
                    <a:srgbClr val="0F172A"/>
                  </a:solidFill>
                  <a:latin typeface="Inter"/>
                  <a:ea typeface="Inter"/>
                  <a:cs typeface="Inter"/>
                  <a:sym typeface="Inter"/>
                </a:rPr>
                <a:t>The Overfitting Trap</a:t>
              </a:r>
              <a:endParaRPr b="1" sz="1800">
                <a:solidFill>
                  <a:srgbClr val="0F172A"/>
                </a:solidFill>
                <a:latin typeface="Inter"/>
                <a:ea typeface="Inter"/>
                <a:cs typeface="Inter"/>
                <a:sym typeface="Inter"/>
              </a:endParaRPr>
            </a:p>
            <a:p>
              <a:pPr indent="0" lvl="0" marL="0" rtl="0" algn="l">
                <a:spcBef>
                  <a:spcPts val="1200"/>
                </a:spcBef>
                <a:spcAft>
                  <a:spcPts val="0"/>
                </a:spcAft>
                <a:buNone/>
              </a:pPr>
              <a:r>
                <a:rPr lang="en-US" sz="1150">
                  <a:solidFill>
                    <a:srgbClr val="334155"/>
                  </a:solidFill>
                  <a:latin typeface="Inter"/>
                  <a:ea typeface="Inter"/>
                  <a:cs typeface="Inter"/>
                  <a:sym typeface="Inter"/>
                </a:rPr>
                <a:t>• A tree grown all the way down can perfectly memorize the training data — and generalize badly.</a:t>
              </a:r>
              <a:endParaRPr sz="1150">
                <a:solidFill>
                  <a:srgbClr val="334155"/>
                </a:solidFill>
                <a:latin typeface="Inter"/>
                <a:ea typeface="Inter"/>
                <a:cs typeface="Inter"/>
                <a:sym typeface="Inter"/>
              </a:endParaRPr>
            </a:p>
            <a:p>
              <a:pPr indent="0" lvl="0" marL="0" rtl="0" algn="l">
                <a:spcBef>
                  <a:spcPts val="1200"/>
                </a:spcBef>
                <a:spcAft>
                  <a:spcPts val="0"/>
                </a:spcAft>
                <a:buNone/>
              </a:pPr>
              <a:r>
                <a:rPr b="1" lang="en-US" sz="1150">
                  <a:solidFill>
                    <a:srgbClr val="0F172A"/>
                  </a:solidFill>
                  <a:latin typeface="Inter"/>
                  <a:ea typeface="Inter"/>
                  <a:cs typeface="Inter"/>
                  <a:sym typeface="Inter"/>
                </a:rPr>
                <a:t>Pruning</a:t>
              </a:r>
              <a:r>
                <a:rPr lang="en-US" sz="1150">
                  <a:solidFill>
                    <a:srgbClr val="334155"/>
                  </a:solidFill>
                  <a:latin typeface="Inter"/>
                  <a:ea typeface="Inter"/>
                  <a:cs typeface="Inter"/>
                  <a:sym typeface="Inter"/>
                </a:rPr>
                <a:t> (limiting depth, requiring a minimum group size) keeps the tree robust and prevents memorization.</a:t>
              </a:r>
              <a:endParaRPr sz="1150">
                <a:solidFill>
                  <a:srgbClr val="334155"/>
                </a:solidFill>
                <a:latin typeface="Inter"/>
                <a:ea typeface="Inter"/>
                <a:cs typeface="Inter"/>
                <a:sym typeface="Inte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descr="can u fix this slide for &quot;Nonsensical/Gibberish Text in Slide Diagrams: On Slide 9 (&quot;Decision Trees&quot;), look closely at the illustrative tree diagram on the right side:&#10;It contains the sentence: &quot;Illustrative data points cannot enoin a hard to predicting groupes&quot;. This is classic gibberish filler text generated by an AI design engine.&#10;Below the &quot;FEATURE B &lt; 5?&quot; box, it contains another garbled sentence: &quot;Rxer data points aflow a pure that mostly leaf node”.&quot;" id="233" name="Google Shape;233;g3fad43f2046_80_52"/>
          <p:cNvPicPr preferRelativeResize="0"/>
          <p:nvPr/>
        </p:nvPicPr>
        <p:blipFill>
          <a:blip r:embed="rId3">
            <a:alphaModFix/>
          </a:blip>
          <a:stretch>
            <a:fillRect/>
          </a:stretch>
        </p:blipFill>
        <p:spPr>
          <a:xfrm>
            <a:off x="-128668" y="0"/>
            <a:ext cx="12320337" cy="6858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8" name="Shape 238"/>
        <p:cNvGrpSpPr/>
        <p:nvPr/>
      </p:nvGrpSpPr>
      <p:grpSpPr>
        <a:xfrm>
          <a:off x="0" y="0"/>
          <a:ext cx="0" cy="0"/>
          <a:chOff x="0" y="0"/>
          <a:chExt cx="0" cy="0"/>
        </a:xfrm>
      </p:grpSpPr>
      <p:sp>
        <p:nvSpPr>
          <p:cNvPr id="239" name="Google Shape;239;p9"/>
          <p:cNvSpPr txBox="1"/>
          <p:nvPr/>
        </p:nvSpPr>
        <p:spPr>
          <a:xfrm>
            <a:off x="548640" y="320040"/>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0E7490"/>
                </a:solidFill>
                <a:latin typeface="Arial"/>
                <a:ea typeface="Arial"/>
                <a:cs typeface="Arial"/>
                <a:sym typeface="Arial"/>
              </a:rPr>
              <a:t>WISDOM OF THE CROWD, APPLIED TO TREES</a:t>
            </a:r>
            <a:endParaRPr/>
          </a:p>
        </p:txBody>
      </p:sp>
      <p:sp>
        <p:nvSpPr>
          <p:cNvPr id="240" name="Google Shape;240;p9"/>
          <p:cNvSpPr txBox="1"/>
          <p:nvPr/>
        </p:nvSpPr>
        <p:spPr>
          <a:xfrm>
            <a:off x="548640" y="621792"/>
            <a:ext cx="1106424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0F172A"/>
                </a:solidFill>
                <a:latin typeface="Arial"/>
                <a:ea typeface="Arial"/>
                <a:cs typeface="Arial"/>
                <a:sym typeface="Arial"/>
              </a:rPr>
              <a:t>Random Forests</a:t>
            </a:r>
            <a:endParaRPr/>
          </a:p>
        </p:txBody>
      </p:sp>
      <p:sp>
        <p:nvSpPr>
          <p:cNvPr id="241" name="Google Shape;241;p9"/>
          <p:cNvSpPr/>
          <p:nvPr/>
        </p:nvSpPr>
        <p:spPr>
          <a:xfrm>
            <a:off x="548640" y="1307592"/>
            <a:ext cx="1005840" cy="50800"/>
          </a:xfrm>
          <a:prstGeom prst="rect">
            <a:avLst/>
          </a:prstGeom>
          <a:solidFill>
            <a:srgbClr val="1D4ED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2" name="Google Shape;242;p9"/>
          <p:cNvSpPr/>
          <p:nvPr/>
        </p:nvSpPr>
        <p:spPr>
          <a:xfrm>
            <a:off x="548640" y="1463040"/>
            <a:ext cx="5394960" cy="2286000"/>
          </a:xfrm>
          <a:prstGeom prst="roundRect">
            <a:avLst>
              <a:gd fmla="val 5000" name="adj"/>
            </a:avLst>
          </a:prstGeom>
          <a:solidFill>
            <a:srgbClr val="F1F5F9"/>
          </a:solidFill>
          <a:ln cap="flat" cmpd="sng" w="9525">
            <a:solidFill>
              <a:srgbClr val="CBD5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28000" lIns="128000" spcFirstLastPara="1" rIns="128000" wrap="square" tIns="128000">
            <a:noAutofit/>
          </a:bodyPr>
          <a:lstStyle/>
          <a:p>
            <a:pPr indent="0" lvl="0" marL="0" marR="0" rtl="0" algn="ctr">
              <a:spcBef>
                <a:spcPts val="0"/>
              </a:spcBef>
              <a:spcAft>
                <a:spcPts val="0"/>
              </a:spcAft>
              <a:buNone/>
            </a:pPr>
            <a:r>
              <a:rPr b="1" i="0" lang="en-US" sz="1500" u="none" cap="none" strike="noStrike">
                <a:solidFill>
                  <a:srgbClr val="0E7490"/>
                </a:solidFill>
                <a:latin typeface="Arial"/>
                <a:ea typeface="Arial"/>
                <a:cs typeface="Arial"/>
                <a:sym typeface="Arial"/>
              </a:rPr>
              <a:t>The Core Idea</a:t>
            </a:r>
            <a:endParaRPr/>
          </a:p>
          <a:p>
            <a:pPr indent="0" lvl="0" marL="0" marR="0" rtl="0" algn="l">
              <a:spcBef>
                <a:spcPts val="0"/>
              </a:spcBef>
              <a:spcAft>
                <a:spcPts val="0"/>
              </a:spcAft>
              <a:buNone/>
            </a:pPr>
            <a:r>
              <a:rPr b="0" i="0" lang="en-US" sz="1350" u="none" cap="none" strike="noStrike">
                <a:solidFill>
                  <a:srgbClr val="0F172A"/>
                </a:solidFill>
                <a:latin typeface="Arial"/>
                <a:ea typeface="Arial"/>
                <a:cs typeface="Arial"/>
                <a:sym typeface="Arial"/>
              </a:rPr>
              <a:t>• A single decision tree is easily fooled by noise in its training data</a:t>
            </a:r>
            <a:endParaRPr/>
          </a:p>
          <a:p>
            <a:pPr indent="0" lvl="0" marL="0" marR="0" rtl="0" algn="l">
              <a:spcBef>
                <a:spcPts val="400"/>
              </a:spcBef>
              <a:spcAft>
                <a:spcPts val="0"/>
              </a:spcAft>
              <a:buNone/>
            </a:pPr>
            <a:r>
              <a:rPr b="0" i="0" lang="en-US" sz="1350" u="none" cap="none" strike="noStrike">
                <a:solidFill>
                  <a:srgbClr val="0F172A"/>
                </a:solidFill>
                <a:latin typeface="Arial"/>
                <a:ea typeface="Arial"/>
                <a:cs typeface="Arial"/>
                <a:sym typeface="Arial"/>
              </a:rPr>
              <a:t>• So instead, train hundreds of trees, each on a random, slightly different sample of the data</a:t>
            </a:r>
            <a:endParaRPr/>
          </a:p>
          <a:p>
            <a:pPr indent="0" lvl="0" marL="0" marR="0" rtl="0" algn="l">
              <a:spcBef>
                <a:spcPts val="400"/>
              </a:spcBef>
              <a:spcAft>
                <a:spcPts val="0"/>
              </a:spcAft>
              <a:buNone/>
            </a:pPr>
            <a:r>
              <a:rPr b="0" i="0" lang="en-US" sz="1350" u="none" cap="none" strike="noStrike">
                <a:solidFill>
                  <a:srgbClr val="0F172A"/>
                </a:solidFill>
                <a:latin typeface="Arial"/>
                <a:ea typeface="Arial"/>
                <a:cs typeface="Arial"/>
                <a:sym typeface="Arial"/>
              </a:rPr>
              <a:t>• Let every tree vote, and go with the majority (or average, for numbers)</a:t>
            </a:r>
            <a:endParaRPr/>
          </a:p>
          <a:p>
            <a:pPr indent="0" lvl="0" marL="0" marR="0" rtl="0" algn="l">
              <a:spcBef>
                <a:spcPts val="400"/>
              </a:spcBef>
              <a:spcAft>
                <a:spcPts val="0"/>
              </a:spcAft>
              <a:buNone/>
            </a:pPr>
            <a:r>
              <a:rPr b="0" i="0" lang="en-US" sz="1350" u="none" cap="none" strike="noStrike">
                <a:solidFill>
                  <a:srgbClr val="0F172A"/>
                </a:solidFill>
                <a:latin typeface="Arial"/>
                <a:ea typeface="Arial"/>
                <a:cs typeface="Arial"/>
                <a:sym typeface="Arial"/>
              </a:rPr>
              <a:t>• One tree's mistakes tend to get outvoted by the rest</a:t>
            </a:r>
            <a:endParaRPr/>
          </a:p>
        </p:txBody>
      </p:sp>
      <p:sp>
        <p:nvSpPr>
          <p:cNvPr id="243" name="Google Shape;243;p9"/>
          <p:cNvSpPr/>
          <p:nvPr/>
        </p:nvSpPr>
        <p:spPr>
          <a:xfrm>
            <a:off x="6126480" y="1463040"/>
            <a:ext cx="5486400" cy="2286000"/>
          </a:xfrm>
          <a:prstGeom prst="roundRect">
            <a:avLst>
              <a:gd fmla="val 5000" name="adj"/>
            </a:avLst>
          </a:prstGeom>
          <a:solidFill>
            <a:srgbClr val="F1F5F9"/>
          </a:solidFill>
          <a:ln cap="flat" cmpd="sng" w="9525">
            <a:solidFill>
              <a:srgbClr val="CBD5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28000" lIns="128000" spcFirstLastPara="1" rIns="128000" wrap="square" tIns="128000">
            <a:noAutofit/>
          </a:bodyPr>
          <a:lstStyle/>
          <a:p>
            <a:pPr indent="0" lvl="0" marL="0" marR="0" rtl="0" algn="ctr">
              <a:spcBef>
                <a:spcPts val="0"/>
              </a:spcBef>
              <a:spcAft>
                <a:spcPts val="0"/>
              </a:spcAft>
              <a:buNone/>
            </a:pPr>
            <a:r>
              <a:rPr b="1" i="0" lang="en-US" sz="1500" u="none" cap="none" strike="noStrike">
                <a:solidFill>
                  <a:srgbClr val="0E7490"/>
                </a:solidFill>
                <a:latin typeface="Arial"/>
                <a:ea typeface="Arial"/>
                <a:cs typeface="Arial"/>
                <a:sym typeface="Arial"/>
              </a:rPr>
              <a:t>One Extra Trick</a:t>
            </a:r>
            <a:endParaRPr/>
          </a:p>
          <a:p>
            <a:pPr indent="0" lvl="0" marL="0" marR="0" rtl="0" algn="l">
              <a:spcBef>
                <a:spcPts val="0"/>
              </a:spcBef>
              <a:spcAft>
                <a:spcPts val="0"/>
              </a:spcAft>
              <a:buNone/>
            </a:pPr>
            <a:r>
              <a:rPr b="0" i="0" lang="en-US" sz="1350" u="none" cap="none" strike="noStrike">
                <a:solidFill>
                  <a:srgbClr val="0F172A"/>
                </a:solidFill>
                <a:latin typeface="Arial"/>
                <a:ea typeface="Arial"/>
                <a:cs typeface="Arial"/>
                <a:sym typeface="Arial"/>
              </a:rPr>
              <a:t>• Each tree is also only shown a random subset of the features at every split</a:t>
            </a:r>
            <a:endParaRPr/>
          </a:p>
          <a:p>
            <a:pPr indent="0" lvl="0" marL="0" marR="0" rtl="0" algn="l">
              <a:spcBef>
                <a:spcPts val="400"/>
              </a:spcBef>
              <a:spcAft>
                <a:spcPts val="0"/>
              </a:spcAft>
              <a:buNone/>
            </a:pPr>
            <a:r>
              <a:rPr b="0" i="0" lang="en-US" sz="1350" u="none" cap="none" strike="noStrike">
                <a:solidFill>
                  <a:srgbClr val="0F172A"/>
                </a:solidFill>
                <a:latin typeface="Arial"/>
                <a:ea typeface="Arial"/>
                <a:cs typeface="Arial"/>
                <a:sym typeface="Arial"/>
              </a:rPr>
              <a:t>• This keeps the trees from all making the exact same mistakes</a:t>
            </a:r>
            <a:endParaRPr/>
          </a:p>
          <a:p>
            <a:pPr indent="0" lvl="0" marL="0" marR="0" rtl="0" algn="l">
              <a:spcBef>
                <a:spcPts val="400"/>
              </a:spcBef>
              <a:spcAft>
                <a:spcPts val="0"/>
              </a:spcAft>
              <a:buNone/>
            </a:pPr>
            <a:r>
              <a:rPr b="0" i="0" lang="en-US" sz="1350" u="none" cap="none" strike="noStrike">
                <a:solidFill>
                  <a:srgbClr val="0F172A"/>
                </a:solidFill>
                <a:latin typeface="Arial"/>
                <a:ea typeface="Arial"/>
                <a:cs typeface="Arial"/>
                <a:sym typeface="Arial"/>
              </a:rPr>
              <a:t>• More variety among the trees makes the group vote more reliable</a:t>
            </a:r>
            <a:endParaRPr/>
          </a:p>
        </p:txBody>
      </p:sp>
      <p:sp>
        <p:nvSpPr>
          <p:cNvPr id="244" name="Google Shape;244;p9"/>
          <p:cNvSpPr/>
          <p:nvPr/>
        </p:nvSpPr>
        <p:spPr>
          <a:xfrm>
            <a:off x="548640" y="3931920"/>
            <a:ext cx="5394960" cy="2286000"/>
          </a:xfrm>
          <a:prstGeom prst="roundRect">
            <a:avLst>
              <a:gd fmla="val 5000" name="adj"/>
            </a:avLst>
          </a:prstGeom>
          <a:solidFill>
            <a:srgbClr val="F1F5F9"/>
          </a:solidFill>
          <a:ln cap="flat" cmpd="sng" w="9525">
            <a:solidFill>
              <a:srgbClr val="CBD5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28000" lIns="128000" spcFirstLastPara="1" rIns="128000" wrap="square" tIns="128000">
            <a:noAutofit/>
          </a:bodyPr>
          <a:lstStyle/>
          <a:p>
            <a:pPr indent="0" lvl="0" marL="0" marR="0" rtl="0" algn="ctr">
              <a:spcBef>
                <a:spcPts val="0"/>
              </a:spcBef>
              <a:spcAft>
                <a:spcPts val="0"/>
              </a:spcAft>
              <a:buNone/>
            </a:pPr>
            <a:r>
              <a:rPr b="1" i="0" lang="en-US" sz="1500" u="none" cap="none" strike="noStrike">
                <a:solidFill>
                  <a:srgbClr val="0E7490"/>
                </a:solidFill>
                <a:latin typeface="Arial"/>
                <a:ea typeface="Arial"/>
                <a:cs typeface="Arial"/>
                <a:sym typeface="Arial"/>
              </a:rPr>
              <a:t>A Built-In Report Card</a:t>
            </a:r>
            <a:endParaRPr/>
          </a:p>
          <a:p>
            <a:pPr indent="0" lvl="0" marL="0" marR="0" rtl="0" algn="l">
              <a:spcBef>
                <a:spcPts val="0"/>
              </a:spcBef>
              <a:spcAft>
                <a:spcPts val="0"/>
              </a:spcAft>
              <a:buNone/>
            </a:pPr>
            <a:r>
              <a:rPr b="0" i="0" lang="en-US" sz="1350" u="none" cap="none" strike="noStrike">
                <a:solidFill>
                  <a:srgbClr val="0F172A"/>
                </a:solidFill>
                <a:latin typeface="Arial"/>
                <a:ea typeface="Arial"/>
                <a:cs typeface="Arial"/>
                <a:sym typeface="Arial"/>
              </a:rPr>
              <a:t>• Since each tree only sees part of the data, the leftover part can quietly test it</a:t>
            </a:r>
            <a:endParaRPr/>
          </a:p>
          <a:p>
            <a:pPr indent="0" lvl="0" marL="0" marR="0" rtl="0" algn="l">
              <a:spcBef>
                <a:spcPts val="400"/>
              </a:spcBef>
              <a:spcAft>
                <a:spcPts val="0"/>
              </a:spcAft>
              <a:buNone/>
            </a:pPr>
            <a:r>
              <a:rPr b="0" i="0" lang="en-US" sz="1350" u="none" cap="none" strike="noStrike">
                <a:solidFill>
                  <a:srgbClr val="0F172A"/>
                </a:solidFill>
                <a:latin typeface="Arial"/>
                <a:ea typeface="Arial"/>
                <a:cs typeface="Arial"/>
                <a:sym typeface="Arial"/>
              </a:rPr>
              <a:t>• This gives a free, ready-made estimate of how well the forest generalizes</a:t>
            </a:r>
            <a:endParaRPr/>
          </a:p>
          <a:p>
            <a:pPr indent="0" lvl="0" marL="0" marR="0" rtl="0" algn="l">
              <a:spcBef>
                <a:spcPts val="400"/>
              </a:spcBef>
              <a:spcAft>
                <a:spcPts val="0"/>
              </a:spcAft>
              <a:buNone/>
            </a:pPr>
            <a:r>
              <a:rPr b="0" i="0" lang="en-US" sz="1350" u="none" cap="none" strike="noStrike">
                <a:solidFill>
                  <a:srgbClr val="0F172A"/>
                </a:solidFill>
                <a:latin typeface="Arial"/>
                <a:ea typeface="Arial"/>
                <a:cs typeface="Arial"/>
                <a:sym typeface="Arial"/>
              </a:rPr>
              <a:t>• No separate test set required to get this estimate</a:t>
            </a:r>
            <a:endParaRPr/>
          </a:p>
        </p:txBody>
      </p:sp>
      <p:sp>
        <p:nvSpPr>
          <p:cNvPr id="245" name="Google Shape;245;p9"/>
          <p:cNvSpPr/>
          <p:nvPr/>
        </p:nvSpPr>
        <p:spPr>
          <a:xfrm>
            <a:off x="6126480" y="3931920"/>
            <a:ext cx="5486400" cy="2286000"/>
          </a:xfrm>
          <a:prstGeom prst="roundRect">
            <a:avLst>
              <a:gd fmla="val 5000" name="adj"/>
            </a:avLst>
          </a:prstGeom>
          <a:solidFill>
            <a:srgbClr val="F1F5F9"/>
          </a:solidFill>
          <a:ln cap="flat" cmpd="sng" w="9525">
            <a:solidFill>
              <a:srgbClr val="CBD5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28000" lIns="128000" spcFirstLastPara="1" rIns="128000" wrap="square" tIns="128000">
            <a:noAutofit/>
          </a:bodyPr>
          <a:lstStyle/>
          <a:p>
            <a:pPr indent="0" lvl="0" marL="0" marR="0" rtl="0" algn="ctr">
              <a:spcBef>
                <a:spcPts val="0"/>
              </a:spcBef>
              <a:spcAft>
                <a:spcPts val="0"/>
              </a:spcAft>
              <a:buNone/>
            </a:pPr>
            <a:r>
              <a:rPr b="1" i="0" lang="en-US" sz="1500" u="none" cap="none" strike="noStrike">
                <a:solidFill>
                  <a:srgbClr val="0E7490"/>
                </a:solidFill>
                <a:latin typeface="Arial"/>
                <a:ea typeface="Arial"/>
                <a:cs typeface="Arial"/>
                <a:sym typeface="Arial"/>
              </a:rPr>
              <a:t>Which Features Mattered?</a:t>
            </a:r>
            <a:endParaRPr/>
          </a:p>
          <a:p>
            <a:pPr indent="0" lvl="0" marL="0" marR="0" rtl="0" algn="l">
              <a:spcBef>
                <a:spcPts val="0"/>
              </a:spcBef>
              <a:spcAft>
                <a:spcPts val="0"/>
              </a:spcAft>
              <a:buNone/>
            </a:pPr>
            <a:r>
              <a:rPr b="0" i="0" lang="en-US" sz="1350" u="none" cap="none" strike="noStrike">
                <a:solidFill>
                  <a:srgbClr val="0F172A"/>
                </a:solidFill>
                <a:latin typeface="Arial"/>
                <a:ea typeface="Arial"/>
                <a:cs typeface="Arial"/>
                <a:sym typeface="Arial"/>
              </a:rPr>
              <a:t>• Random Forests can rank features by how much they helped reduce mistakes</a:t>
            </a:r>
            <a:endParaRPr/>
          </a:p>
          <a:p>
            <a:pPr indent="0" lvl="0" marL="0" marR="0" rtl="0" algn="l">
              <a:spcBef>
                <a:spcPts val="400"/>
              </a:spcBef>
              <a:spcAft>
                <a:spcPts val="0"/>
              </a:spcAft>
              <a:buNone/>
            </a:pPr>
            <a:r>
              <a:rPr b="0" i="0" lang="en-US" sz="1350" u="none" cap="none" strike="noStrike">
                <a:solidFill>
                  <a:srgbClr val="0F172A"/>
                </a:solidFill>
                <a:latin typeface="Arial"/>
                <a:ea typeface="Arial"/>
                <a:cs typeface="Arial"/>
                <a:sym typeface="Arial"/>
              </a:rPr>
              <a:t>• Useful for understanding what's actually driving the predictions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descr="Create a slide illustrating the ‘how Random Forest works’ in ML field" id="250" name="Google Shape;250;g3fad43f2046_80_24"/>
          <p:cNvPicPr preferRelativeResize="0"/>
          <p:nvPr/>
        </p:nvPicPr>
        <p:blipFill>
          <a:blip r:embed="rId3">
            <a:alphaModFix/>
          </a:blip>
          <a:stretch>
            <a:fillRect/>
          </a:stretch>
        </p:blipFill>
        <p:spPr>
          <a:xfrm>
            <a:off x="-47788" y="0"/>
            <a:ext cx="12287250" cy="6858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5" name="Shape 255"/>
        <p:cNvGrpSpPr/>
        <p:nvPr/>
      </p:nvGrpSpPr>
      <p:grpSpPr>
        <a:xfrm>
          <a:off x="0" y="0"/>
          <a:ext cx="0" cy="0"/>
          <a:chOff x="0" y="0"/>
          <a:chExt cx="0" cy="0"/>
        </a:xfrm>
      </p:grpSpPr>
      <p:sp>
        <p:nvSpPr>
          <p:cNvPr id="256" name="Google Shape;256;p10"/>
          <p:cNvSpPr txBox="1"/>
          <p:nvPr/>
        </p:nvSpPr>
        <p:spPr>
          <a:xfrm>
            <a:off x="548640" y="320040"/>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0E7490"/>
                </a:solidFill>
                <a:latin typeface="Arial"/>
                <a:ea typeface="Arial"/>
                <a:cs typeface="Arial"/>
                <a:sym typeface="Arial"/>
              </a:rPr>
              <a:t>EACH NEW TREE FIXES THE LAST ONE'S MISTAKES</a:t>
            </a:r>
            <a:endParaRPr/>
          </a:p>
        </p:txBody>
      </p:sp>
      <p:sp>
        <p:nvSpPr>
          <p:cNvPr id="257" name="Google Shape;257;p10"/>
          <p:cNvSpPr txBox="1"/>
          <p:nvPr/>
        </p:nvSpPr>
        <p:spPr>
          <a:xfrm>
            <a:off x="548640" y="621792"/>
            <a:ext cx="1106424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0F172A"/>
                </a:solidFill>
                <a:latin typeface="Arial"/>
                <a:ea typeface="Arial"/>
                <a:cs typeface="Arial"/>
                <a:sym typeface="Arial"/>
              </a:rPr>
              <a:t>Boosting &amp; XGBoost</a:t>
            </a:r>
            <a:endParaRPr/>
          </a:p>
        </p:txBody>
      </p:sp>
      <p:sp>
        <p:nvSpPr>
          <p:cNvPr id="258" name="Google Shape;258;p10"/>
          <p:cNvSpPr/>
          <p:nvPr/>
        </p:nvSpPr>
        <p:spPr>
          <a:xfrm>
            <a:off x="548640" y="1307592"/>
            <a:ext cx="1005840" cy="50800"/>
          </a:xfrm>
          <a:prstGeom prst="rect">
            <a:avLst/>
          </a:prstGeom>
          <a:solidFill>
            <a:srgbClr val="1D4ED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10"/>
          <p:cNvSpPr/>
          <p:nvPr/>
        </p:nvSpPr>
        <p:spPr>
          <a:xfrm>
            <a:off x="548640" y="1463040"/>
            <a:ext cx="10881360" cy="1097280"/>
          </a:xfrm>
          <a:prstGeom prst="roundRect">
            <a:avLst>
              <a:gd fmla="val 16667" name="adj"/>
            </a:avLst>
          </a:prstGeom>
          <a:solidFill>
            <a:srgbClr val="EFF6FF"/>
          </a:solidFill>
          <a:ln cap="flat" cmpd="sng" w="12700">
            <a:solidFill>
              <a:srgbClr val="1D4ED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2000" u="none" cap="none" strike="noStrike">
                <a:solidFill>
                  <a:srgbClr val="0E7490"/>
                </a:solidFill>
                <a:latin typeface="Arial"/>
                <a:ea typeface="Arial"/>
                <a:cs typeface="Arial"/>
                <a:sym typeface="Arial"/>
              </a:rPr>
              <a:t>New prediction = old prediction + (a small tree trained on the leftover errors)</a:t>
            </a:r>
            <a:endParaRPr/>
          </a:p>
          <a:p>
            <a:pPr indent="0" lvl="0" marL="0" marR="0" rtl="0" algn="ctr">
              <a:spcBef>
                <a:spcPts val="0"/>
              </a:spcBef>
              <a:spcAft>
                <a:spcPts val="0"/>
              </a:spcAft>
              <a:buNone/>
            </a:pPr>
            <a:r>
              <a:rPr b="0" i="0" lang="en-US" sz="1100" u="none" cap="none" strike="noStrike">
                <a:solidFill>
                  <a:srgbClr val="475569"/>
                </a:solidFill>
                <a:latin typeface="Arial"/>
                <a:ea typeface="Arial"/>
                <a:cs typeface="Arial"/>
                <a:sym typeface="Arial"/>
              </a:rPr>
              <a:t>The boosting loop, repeated many times</a:t>
            </a:r>
            <a:endParaRPr/>
          </a:p>
        </p:txBody>
      </p:sp>
      <p:graphicFrame>
        <p:nvGraphicFramePr>
          <p:cNvPr id="260" name="Google Shape;260;p10"/>
          <p:cNvGraphicFramePr/>
          <p:nvPr/>
        </p:nvGraphicFramePr>
        <p:xfrm>
          <a:off x="548640" y="2743200"/>
          <a:ext cx="3000000" cy="3000000"/>
        </p:xfrm>
        <a:graphic>
          <a:graphicData uri="http://schemas.openxmlformats.org/drawingml/2006/table">
            <a:tbl>
              <a:tblPr bandRow="1" firstRow="1">
                <a:noFill/>
                <a:tableStyleId>{8DC61D44-FBB2-4632-956C-AD5BED243261}</a:tableStyleId>
              </a:tblPr>
              <a:tblGrid>
                <a:gridCol w="3688075"/>
                <a:gridCol w="3688075"/>
                <a:gridCol w="3688075"/>
              </a:tblGrid>
              <a:tr h="579125">
                <a:tc>
                  <a:txBody>
                    <a:bodyPr/>
                    <a:lstStyle/>
                    <a:p>
                      <a:pPr indent="0" lvl="0" marL="0" marR="0" rtl="0" algn="l">
                        <a:spcBef>
                          <a:spcPts val="0"/>
                        </a:spcBef>
                        <a:spcAft>
                          <a:spcPts val="0"/>
                        </a:spcAft>
                        <a:buNone/>
                      </a:pPr>
                      <a:r>
                        <a:t/>
                      </a:r>
                      <a:endParaRPr b="1" sz="1250" u="none" cap="none" strike="noStrike">
                        <a:solidFill>
                          <a:srgbClr val="FFFFFF"/>
                        </a:solidFill>
                        <a:latin typeface="Arial"/>
                        <a:ea typeface="Arial"/>
                        <a:cs typeface="Arial"/>
                        <a:sym typeface="Arial"/>
                      </a:endParaRPr>
                    </a:p>
                  </a:txBody>
                  <a:tcPr marT="45725" marB="45725" marR="91450" marL="91450" anchor="ctr">
                    <a:solidFill>
                      <a:srgbClr val="1D4ED8"/>
                    </a:solidFill>
                  </a:tcPr>
                </a:tc>
                <a:tc>
                  <a:txBody>
                    <a:bodyPr/>
                    <a:lstStyle/>
                    <a:p>
                      <a:pPr indent="0" lvl="0" marL="0" marR="0" rtl="0" algn="l">
                        <a:spcBef>
                          <a:spcPts val="0"/>
                        </a:spcBef>
                        <a:spcAft>
                          <a:spcPts val="0"/>
                        </a:spcAft>
                        <a:buNone/>
                      </a:pPr>
                      <a:r>
                        <a:rPr b="1" lang="en-US" sz="1250" u="none" cap="none" strike="noStrike">
                          <a:solidFill>
                            <a:srgbClr val="FFFFFF"/>
                          </a:solidFill>
                          <a:latin typeface="Arial"/>
                          <a:ea typeface="Arial"/>
                          <a:cs typeface="Arial"/>
                          <a:sym typeface="Arial"/>
                        </a:rPr>
                        <a:t>Random Forest (Bagging)</a:t>
                      </a:r>
                      <a:endParaRPr/>
                    </a:p>
                  </a:txBody>
                  <a:tcPr marT="45725" marB="45725" marR="91450" marL="91450" anchor="ctr">
                    <a:solidFill>
                      <a:srgbClr val="1D4ED8"/>
                    </a:solidFill>
                  </a:tcPr>
                </a:tc>
                <a:tc>
                  <a:txBody>
                    <a:bodyPr/>
                    <a:lstStyle/>
                    <a:p>
                      <a:pPr indent="0" lvl="0" marL="0" marR="0" rtl="0" algn="l">
                        <a:spcBef>
                          <a:spcPts val="0"/>
                        </a:spcBef>
                        <a:spcAft>
                          <a:spcPts val="0"/>
                        </a:spcAft>
                        <a:buNone/>
                      </a:pPr>
                      <a:r>
                        <a:rPr b="1" lang="en-US" sz="1250" u="none" cap="none" strike="noStrike">
                          <a:solidFill>
                            <a:srgbClr val="FFFFFF"/>
                          </a:solidFill>
                          <a:latin typeface="Arial"/>
                          <a:ea typeface="Arial"/>
                          <a:cs typeface="Arial"/>
                          <a:sym typeface="Arial"/>
                        </a:rPr>
                        <a:t>XGBoost (Boosting)</a:t>
                      </a:r>
                      <a:endParaRPr/>
                    </a:p>
                  </a:txBody>
                  <a:tcPr marT="45725" marB="45725" marR="91450" marL="91450" anchor="ctr">
                    <a:solidFill>
                      <a:srgbClr val="1D4ED8"/>
                    </a:solidFill>
                  </a:tcPr>
                </a:tc>
              </a:tr>
              <a:tr h="579125">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How trees are built</a:t>
                      </a:r>
                      <a:endParaRPr/>
                    </a:p>
                  </a:txBody>
                  <a:tcPr marT="45725" marB="45725" marR="91450" marL="91450" anchor="ctr">
                    <a:solidFill>
                      <a:srgbClr val="F1F5F9"/>
                    </a:solidFill>
                  </a:tcPr>
                </a:tc>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All at once, independently</a:t>
                      </a:r>
                      <a:endParaRPr/>
                    </a:p>
                  </a:txBody>
                  <a:tcPr marT="45725" marB="45725" marR="91450" marL="91450" anchor="ctr">
                    <a:solidFill>
                      <a:srgbClr val="F1F5F9"/>
                    </a:solidFill>
                  </a:tcPr>
                </a:tc>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One at a time, each learning from the last one's errors</a:t>
                      </a:r>
                      <a:endParaRPr/>
                    </a:p>
                  </a:txBody>
                  <a:tcPr marT="45725" marB="45725" marR="91450" marL="91450" anchor="ctr">
                    <a:solidFill>
                      <a:srgbClr val="F1F5F9"/>
                    </a:solidFill>
                  </a:tcPr>
                </a:tc>
              </a:tr>
              <a:tr h="579125">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Good analogy</a:t>
                      </a:r>
                      <a:endParaRPr/>
                    </a:p>
                  </a:txBody>
                  <a:tcPr marT="45725" marB="45725" marR="91450" marL="91450" anchor="ctr">
                    <a:solidFill>
                      <a:srgbClr val="F1F5F9"/>
                    </a:solidFill>
                  </a:tcPr>
                </a:tc>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A panel of independent experts voting</a:t>
                      </a:r>
                      <a:endParaRPr/>
                    </a:p>
                  </a:txBody>
                  <a:tcPr marT="45725" marB="45725" marR="91450" marL="91450" anchor="ctr">
                    <a:solidFill>
                      <a:srgbClr val="F1F5F9"/>
                    </a:solidFill>
                  </a:tcPr>
                </a:tc>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A student redoing a draft based on feedback</a:t>
                      </a:r>
                      <a:endParaRPr/>
                    </a:p>
                  </a:txBody>
                  <a:tcPr marT="45725" marB="45725" marR="91450" marL="91450" anchor="ctr">
                    <a:solidFill>
                      <a:srgbClr val="F1F5F9"/>
                    </a:solidFill>
                  </a:tcPr>
                </a:tc>
              </a:tr>
            </a:tbl>
          </a:graphicData>
        </a:graphic>
      </p:graphicFrame>
      <p:sp>
        <p:nvSpPr>
          <p:cNvPr id="261" name="Google Shape;261;p10"/>
          <p:cNvSpPr/>
          <p:nvPr/>
        </p:nvSpPr>
        <p:spPr>
          <a:xfrm>
            <a:off x="548640" y="4663440"/>
            <a:ext cx="11064240" cy="1554480"/>
          </a:xfrm>
          <a:prstGeom prst="roundRect">
            <a:avLst>
              <a:gd fmla="val 5000" name="adj"/>
            </a:avLst>
          </a:prstGeom>
          <a:solidFill>
            <a:srgbClr val="F1F5F9"/>
          </a:solidFill>
          <a:ln cap="flat" cmpd="sng" w="9525">
            <a:solidFill>
              <a:srgbClr val="CBD5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28000" lIns="128000" spcFirstLastPara="1" rIns="128000" wrap="square" tIns="128000">
            <a:noAutofit/>
          </a:bodyPr>
          <a:lstStyle/>
          <a:p>
            <a:pPr indent="0" lvl="0" marL="0" marR="0" rtl="0" algn="ctr">
              <a:spcBef>
                <a:spcPts val="0"/>
              </a:spcBef>
              <a:spcAft>
                <a:spcPts val="0"/>
              </a:spcAft>
              <a:buNone/>
            </a:pPr>
            <a:r>
              <a:rPr b="1" i="0" lang="en-US" sz="1500" u="none" cap="none" strike="noStrike">
                <a:solidFill>
                  <a:srgbClr val="0E7490"/>
                </a:solidFill>
                <a:latin typeface="Arial"/>
                <a:ea typeface="Arial"/>
                <a:cs typeface="Arial"/>
                <a:sym typeface="Arial"/>
              </a:rPr>
              <a:t>Why XGBoost Is So Popular</a:t>
            </a:r>
            <a:endParaRPr/>
          </a:p>
          <a:p>
            <a:pPr indent="0" lvl="0" marL="0" marR="0" rtl="0" algn="l">
              <a:spcBef>
                <a:spcPts val="0"/>
              </a:spcBef>
              <a:spcAft>
                <a:spcPts val="0"/>
              </a:spcAft>
              <a:buNone/>
            </a:pPr>
            <a:r>
              <a:rPr b="0" i="0" lang="en-US" sz="1350" u="none" cap="none" strike="noStrike">
                <a:solidFill>
                  <a:srgbClr val="0F172A"/>
                </a:solidFill>
                <a:latin typeface="Arial"/>
                <a:ea typeface="Arial"/>
                <a:cs typeface="Arial"/>
                <a:sym typeface="Arial"/>
              </a:rPr>
              <a:t>• Usually squeezes out very high accuracy on structured/tabular data</a:t>
            </a:r>
            <a:endParaRPr/>
          </a:p>
          <a:p>
            <a:pPr indent="0" lvl="0" marL="0" marR="0" rtl="0" algn="l">
              <a:spcBef>
                <a:spcPts val="400"/>
              </a:spcBef>
              <a:spcAft>
                <a:spcPts val="0"/>
              </a:spcAft>
              <a:buNone/>
            </a:pPr>
            <a:r>
              <a:rPr b="0" i="0" lang="en-US" sz="1350" u="none" cap="none" strike="noStrike">
                <a:solidFill>
                  <a:srgbClr val="0F172A"/>
                </a:solidFill>
                <a:latin typeface="Arial"/>
                <a:ea typeface="Arial"/>
                <a:cs typeface="Arial"/>
                <a:sym typeface="Arial"/>
              </a:rPr>
              <a:t>• Has built-in safeguards against overfitting (it penalizes overly complex trees)</a:t>
            </a:r>
            <a:endParaRPr/>
          </a:p>
          <a:p>
            <a:pPr indent="0" lvl="0" marL="0" marR="0" rtl="0" algn="l">
              <a:spcBef>
                <a:spcPts val="400"/>
              </a:spcBef>
              <a:spcAft>
                <a:spcPts val="0"/>
              </a:spcAft>
              <a:buNone/>
            </a:pPr>
            <a:r>
              <a:rPr b="0" i="0" lang="en-US" sz="1350" u="none" cap="none" strike="noStrike">
                <a:solidFill>
                  <a:srgbClr val="0F172A"/>
                </a:solidFill>
                <a:latin typeface="Arial"/>
                <a:ea typeface="Arial"/>
                <a:cs typeface="Arial"/>
                <a:sym typeface="Arial"/>
              </a:rPr>
              <a:t>• A 'learning rate' controls how much each new tree is allowed to change the prediction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descr="Create a slide with visualizations to illustrate what is Boosting &amp; XGBoost algorithms" id="266" name="Google Shape;266;g3fad43f2046_80_28"/>
          <p:cNvPicPr preferRelativeResize="0"/>
          <p:nvPr/>
        </p:nvPicPr>
        <p:blipFill>
          <a:blip r:embed="rId3">
            <a:alphaModFix/>
          </a:blip>
          <a:stretch>
            <a:fillRect/>
          </a:stretch>
        </p:blipFill>
        <p:spPr>
          <a:xfrm>
            <a:off x="-47788" y="0"/>
            <a:ext cx="12287250" cy="6858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pic>
        <p:nvPicPr>
          <p:cNvPr descr="Enhance this slide with visuals" id="271" name="Google Shape;271;g3fad43f2046_80_32"/>
          <p:cNvPicPr preferRelativeResize="0"/>
          <p:nvPr/>
        </p:nvPicPr>
        <p:blipFill>
          <a:blip r:embed="rId3">
            <a:alphaModFix/>
          </a:blip>
          <a:stretch>
            <a:fillRect/>
          </a:stretch>
        </p:blipFill>
        <p:spPr>
          <a:xfrm>
            <a:off x="-47788" y="0"/>
            <a:ext cx="12287250" cy="6858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pic>
        <p:nvPicPr>
          <p:cNvPr descr="Summarize and add visuals to show how Neural Networks Learn" id="276" name="Google Shape;276;g3fad43f2046_80_37"/>
          <p:cNvPicPr preferRelativeResize="0"/>
          <p:nvPr/>
        </p:nvPicPr>
        <p:blipFill>
          <a:blip r:embed="rId3">
            <a:alphaModFix/>
          </a:blip>
          <a:stretch>
            <a:fillRect/>
          </a:stretch>
        </p:blipFill>
        <p:spPr>
          <a:xfrm>
            <a:off x="-47788" y="0"/>
            <a:ext cx="12287250" cy="6858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1" name="Shape 281"/>
        <p:cNvGrpSpPr/>
        <p:nvPr/>
      </p:nvGrpSpPr>
      <p:grpSpPr>
        <a:xfrm>
          <a:off x="0" y="0"/>
          <a:ext cx="0" cy="0"/>
          <a:chOff x="0" y="0"/>
          <a:chExt cx="0" cy="0"/>
        </a:xfrm>
      </p:grpSpPr>
      <p:sp>
        <p:nvSpPr>
          <p:cNvPr id="282" name="Google Shape;282;p13"/>
          <p:cNvSpPr txBox="1"/>
          <p:nvPr/>
        </p:nvSpPr>
        <p:spPr>
          <a:xfrm>
            <a:off x="548640" y="320040"/>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0E7490"/>
                </a:solidFill>
                <a:latin typeface="Arial"/>
                <a:ea typeface="Arial"/>
                <a:cs typeface="Arial"/>
                <a:sym typeface="Arial"/>
              </a:rPr>
              <a:t>THE IDEA BEHIND CHATGPT</a:t>
            </a:r>
            <a:endParaRPr/>
          </a:p>
        </p:txBody>
      </p:sp>
      <p:sp>
        <p:nvSpPr>
          <p:cNvPr id="283" name="Google Shape;283;p13"/>
          <p:cNvSpPr txBox="1"/>
          <p:nvPr/>
        </p:nvSpPr>
        <p:spPr>
          <a:xfrm>
            <a:off x="548640" y="621792"/>
            <a:ext cx="1106424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0F172A"/>
                </a:solidFill>
                <a:latin typeface="Arial"/>
                <a:ea typeface="Arial"/>
                <a:cs typeface="Arial"/>
                <a:sym typeface="Arial"/>
              </a:rPr>
              <a:t>Attention &amp; Transformers</a:t>
            </a:r>
            <a:endParaRPr/>
          </a:p>
        </p:txBody>
      </p:sp>
      <p:sp>
        <p:nvSpPr>
          <p:cNvPr id="284" name="Google Shape;284;p13"/>
          <p:cNvSpPr/>
          <p:nvPr/>
        </p:nvSpPr>
        <p:spPr>
          <a:xfrm>
            <a:off x="548640" y="1307592"/>
            <a:ext cx="1005840" cy="50800"/>
          </a:xfrm>
          <a:prstGeom prst="rect">
            <a:avLst/>
          </a:prstGeom>
          <a:solidFill>
            <a:srgbClr val="1D4ED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5" name="Google Shape;285;p13"/>
          <p:cNvSpPr/>
          <p:nvPr/>
        </p:nvSpPr>
        <p:spPr>
          <a:xfrm>
            <a:off x="548640" y="1554480"/>
            <a:ext cx="10881360" cy="1280160"/>
          </a:xfrm>
          <a:prstGeom prst="roundRect">
            <a:avLst>
              <a:gd fmla="val 16667" name="adj"/>
            </a:avLst>
          </a:prstGeom>
          <a:solidFill>
            <a:srgbClr val="EFF6FF"/>
          </a:solidFill>
          <a:ln cap="flat" cmpd="sng" w="12700">
            <a:solidFill>
              <a:srgbClr val="1D4ED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1" lang="en-US" sz="2000" u="none" cap="none" strike="noStrike">
                <a:solidFill>
                  <a:srgbClr val="0E7490"/>
                </a:solidFill>
                <a:latin typeface="Arial"/>
                <a:ea typeface="Arial"/>
                <a:cs typeface="Arial"/>
                <a:sym typeface="Arial"/>
              </a:rPr>
              <a:t>Attention(Q,K,V) = softmax(QKᵀ/√dₖ) V</a:t>
            </a:r>
            <a:endParaRPr/>
          </a:p>
          <a:p>
            <a:pPr indent="0" lvl="0" marL="0" marR="0" rtl="0" algn="ctr">
              <a:spcBef>
                <a:spcPts val="0"/>
              </a:spcBef>
              <a:spcAft>
                <a:spcPts val="0"/>
              </a:spcAft>
              <a:buNone/>
            </a:pPr>
            <a:r>
              <a:rPr b="0" i="0" lang="en-US" sz="1100" u="none" cap="none" strike="noStrike">
                <a:solidFill>
                  <a:srgbClr val="475569"/>
                </a:solidFill>
                <a:latin typeface="Arial"/>
                <a:ea typeface="Arial"/>
                <a:cs typeface="Arial"/>
                <a:sym typeface="Arial"/>
              </a:rPr>
              <a:t>Formal version — every word looks at every other word and decides how relevant it is</a:t>
            </a:r>
            <a:endParaRPr/>
          </a:p>
        </p:txBody>
      </p:sp>
      <p:sp>
        <p:nvSpPr>
          <p:cNvPr id="286" name="Google Shape;286;p13"/>
          <p:cNvSpPr/>
          <p:nvPr/>
        </p:nvSpPr>
        <p:spPr>
          <a:xfrm>
            <a:off x="548640" y="3017520"/>
            <a:ext cx="5394960" cy="3200400"/>
          </a:xfrm>
          <a:prstGeom prst="roundRect">
            <a:avLst>
              <a:gd fmla="val 5000" name="adj"/>
            </a:avLst>
          </a:prstGeom>
          <a:solidFill>
            <a:srgbClr val="F1F5F9"/>
          </a:solidFill>
          <a:ln cap="flat" cmpd="sng" w="9525">
            <a:solidFill>
              <a:srgbClr val="CBD5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28000" lIns="128000" spcFirstLastPara="1" rIns="128000" wrap="square" tIns="128000">
            <a:noAutofit/>
          </a:bodyPr>
          <a:lstStyle/>
          <a:p>
            <a:pPr indent="0" lvl="0" marL="0" marR="0" rtl="0" algn="ctr">
              <a:spcBef>
                <a:spcPts val="0"/>
              </a:spcBef>
              <a:spcAft>
                <a:spcPts val="0"/>
              </a:spcAft>
              <a:buNone/>
            </a:pPr>
            <a:r>
              <a:rPr b="1" i="0" lang="en-US" sz="1500" u="none" cap="none" strike="noStrike">
                <a:solidFill>
                  <a:srgbClr val="0E7490"/>
                </a:solidFill>
                <a:latin typeface="Arial"/>
                <a:ea typeface="Arial"/>
                <a:cs typeface="Arial"/>
                <a:sym typeface="Arial"/>
              </a:rPr>
              <a:t>In Plain Words</a:t>
            </a:r>
            <a:endParaRPr/>
          </a:p>
          <a:p>
            <a:pPr indent="0" lvl="0" marL="0" marR="0" rtl="0" algn="l">
              <a:spcBef>
                <a:spcPts val="0"/>
              </a:spcBef>
              <a:spcAft>
                <a:spcPts val="0"/>
              </a:spcAft>
              <a:buNone/>
            </a:pPr>
            <a:r>
              <a:rPr b="0" i="0" lang="en-US" sz="1350" u="none" cap="none" strike="noStrike">
                <a:solidFill>
                  <a:srgbClr val="0F172A"/>
                </a:solidFill>
                <a:latin typeface="Arial"/>
                <a:ea typeface="Arial"/>
                <a:cs typeface="Arial"/>
                <a:sym typeface="Arial"/>
              </a:rPr>
              <a:t>• Every word in a sentence 'looks around' at all the other words</a:t>
            </a:r>
            <a:endParaRPr/>
          </a:p>
          <a:p>
            <a:pPr indent="0" lvl="0" marL="0" marR="0" rtl="0" algn="l">
              <a:spcBef>
                <a:spcPts val="400"/>
              </a:spcBef>
              <a:spcAft>
                <a:spcPts val="0"/>
              </a:spcAft>
              <a:buNone/>
            </a:pPr>
            <a:r>
              <a:rPr b="0" i="0" lang="en-US" sz="1350" u="none" cap="none" strike="noStrike">
                <a:solidFill>
                  <a:srgbClr val="0F172A"/>
                </a:solidFill>
                <a:latin typeface="Arial"/>
                <a:ea typeface="Arial"/>
                <a:cs typeface="Arial"/>
                <a:sym typeface="Arial"/>
              </a:rPr>
              <a:t>• It decides which other words are most relevant to understanding it right now</a:t>
            </a:r>
            <a:endParaRPr/>
          </a:p>
          <a:p>
            <a:pPr indent="0" lvl="0" marL="0" marR="0" rtl="0" algn="l">
              <a:spcBef>
                <a:spcPts val="400"/>
              </a:spcBef>
              <a:spcAft>
                <a:spcPts val="0"/>
              </a:spcAft>
              <a:buNone/>
            </a:pPr>
            <a:r>
              <a:rPr b="0" i="0" lang="en-US" sz="1350" u="none" cap="none" strike="noStrike">
                <a:solidFill>
                  <a:srgbClr val="0F172A"/>
                </a:solidFill>
                <a:latin typeface="Arial"/>
                <a:ea typeface="Arial"/>
                <a:cs typeface="Arial"/>
                <a:sym typeface="Arial"/>
              </a:rPr>
              <a:t>• Example: in "the animal didn't cross the street because it was tired", attention helps the model figure out 'it' means the animal, not the street</a:t>
            </a:r>
            <a:endParaRPr/>
          </a:p>
          <a:p>
            <a:pPr indent="0" lvl="0" marL="0" marR="0" rtl="0" algn="l">
              <a:spcBef>
                <a:spcPts val="400"/>
              </a:spcBef>
              <a:spcAft>
                <a:spcPts val="0"/>
              </a:spcAft>
              <a:buNone/>
            </a:pPr>
            <a:r>
              <a:rPr b="0" i="0" lang="en-US" sz="1350" u="none" cap="none" strike="noStrike">
                <a:solidFill>
                  <a:srgbClr val="0F172A"/>
                </a:solidFill>
                <a:latin typeface="Arial"/>
                <a:ea typeface="Arial"/>
                <a:cs typeface="Arial"/>
                <a:sym typeface="Arial"/>
              </a:rPr>
              <a:t>• The model then blends information from the relevant words to build understanding</a:t>
            </a:r>
            <a:endParaRPr/>
          </a:p>
        </p:txBody>
      </p:sp>
      <p:sp>
        <p:nvSpPr>
          <p:cNvPr id="287" name="Google Shape;287;p13"/>
          <p:cNvSpPr/>
          <p:nvPr/>
        </p:nvSpPr>
        <p:spPr>
          <a:xfrm>
            <a:off x="6126480" y="3017520"/>
            <a:ext cx="5486400" cy="3200400"/>
          </a:xfrm>
          <a:prstGeom prst="roundRect">
            <a:avLst>
              <a:gd fmla="val 5000" name="adj"/>
            </a:avLst>
          </a:prstGeom>
          <a:solidFill>
            <a:srgbClr val="F1F5F9"/>
          </a:solidFill>
          <a:ln cap="flat" cmpd="sng" w="9525">
            <a:solidFill>
              <a:srgbClr val="CBD5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28000" lIns="128000" spcFirstLastPara="1" rIns="128000" wrap="square" tIns="128000">
            <a:noAutofit/>
          </a:bodyPr>
          <a:lstStyle/>
          <a:p>
            <a:pPr indent="0" lvl="0" marL="0" marR="0" rtl="0" algn="ctr">
              <a:spcBef>
                <a:spcPts val="0"/>
              </a:spcBef>
              <a:spcAft>
                <a:spcPts val="0"/>
              </a:spcAft>
              <a:buNone/>
            </a:pPr>
            <a:r>
              <a:rPr b="1" i="0" lang="en-US" sz="1500" u="none" cap="none" strike="noStrike">
                <a:solidFill>
                  <a:srgbClr val="0E7490"/>
                </a:solidFill>
                <a:latin typeface="Arial"/>
                <a:ea typeface="Arial"/>
                <a:cs typeface="Arial"/>
                <a:sym typeface="Arial"/>
              </a:rPr>
              <a:t>Why This Was a Big Deal</a:t>
            </a:r>
            <a:endParaRPr/>
          </a:p>
          <a:p>
            <a:pPr indent="0" lvl="0" marL="0" marR="0" rtl="0" algn="l">
              <a:spcBef>
                <a:spcPts val="0"/>
              </a:spcBef>
              <a:spcAft>
                <a:spcPts val="0"/>
              </a:spcAft>
              <a:buNone/>
            </a:pPr>
            <a:r>
              <a:rPr b="0" i="0" lang="en-US" sz="1350" u="none" cap="none" strike="noStrike">
                <a:solidFill>
                  <a:srgbClr val="0F172A"/>
                </a:solidFill>
                <a:latin typeface="Arial"/>
                <a:ea typeface="Arial"/>
                <a:cs typeface="Arial"/>
                <a:sym typeface="Arial"/>
              </a:rPr>
              <a:t>• Older models read text one word at a time, in order — slow, and easy to 'forget' earlier words</a:t>
            </a:r>
            <a:endParaRPr/>
          </a:p>
          <a:p>
            <a:pPr indent="0" lvl="0" marL="0" marR="0" rtl="0" algn="l">
              <a:spcBef>
                <a:spcPts val="400"/>
              </a:spcBef>
              <a:spcAft>
                <a:spcPts val="0"/>
              </a:spcAft>
              <a:buNone/>
            </a:pPr>
            <a:r>
              <a:rPr b="0" i="0" lang="en-US" sz="1350" u="none" cap="none" strike="noStrike">
                <a:solidFill>
                  <a:srgbClr val="0F172A"/>
                </a:solidFill>
                <a:latin typeface="Arial"/>
                <a:ea typeface="Arial"/>
                <a:cs typeface="Arial"/>
                <a:sym typeface="Arial"/>
              </a:rPr>
              <a:t>• Attention lets a model look at the whole sentence at once, in parallel — much faster to train</a:t>
            </a:r>
            <a:endParaRPr/>
          </a:p>
          <a:p>
            <a:pPr indent="0" lvl="0" marL="0" marR="0" rtl="0" algn="l">
              <a:spcBef>
                <a:spcPts val="400"/>
              </a:spcBef>
              <a:spcAft>
                <a:spcPts val="0"/>
              </a:spcAft>
              <a:buNone/>
            </a:pPr>
            <a:r>
              <a:rPr b="0" i="0" lang="en-US" sz="1350" u="none" cap="none" strike="noStrike">
                <a:solidFill>
                  <a:srgbClr val="0F172A"/>
                </a:solidFill>
                <a:latin typeface="Arial"/>
                <a:ea typeface="Arial"/>
                <a:cs typeface="Arial"/>
                <a:sym typeface="Arial"/>
              </a:rPr>
              <a:t>• This is the core building block inside GPT, BERT, and most modern language models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2" name="Shape 292"/>
        <p:cNvGrpSpPr/>
        <p:nvPr/>
      </p:nvGrpSpPr>
      <p:grpSpPr>
        <a:xfrm>
          <a:off x="0" y="0"/>
          <a:ext cx="0" cy="0"/>
          <a:chOff x="0" y="0"/>
          <a:chExt cx="0" cy="0"/>
        </a:xfrm>
      </p:grpSpPr>
      <p:sp>
        <p:nvSpPr>
          <p:cNvPr id="293" name="Google Shape;293;p14"/>
          <p:cNvSpPr txBox="1"/>
          <p:nvPr/>
        </p:nvSpPr>
        <p:spPr>
          <a:xfrm>
            <a:off x="548640" y="320040"/>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0E7490"/>
                </a:solidFill>
                <a:latin typeface="Arial"/>
                <a:ea typeface="Arial"/>
                <a:cs typeface="Arial"/>
                <a:sym typeface="Arial"/>
              </a:rPr>
              <a:t>BIAS-VARIANCE, PRECISION &amp; RECALL</a:t>
            </a:r>
            <a:endParaRPr/>
          </a:p>
        </p:txBody>
      </p:sp>
      <p:sp>
        <p:nvSpPr>
          <p:cNvPr id="294" name="Google Shape;294;p14"/>
          <p:cNvSpPr txBox="1"/>
          <p:nvPr/>
        </p:nvSpPr>
        <p:spPr>
          <a:xfrm>
            <a:off x="548640" y="621792"/>
            <a:ext cx="1106424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0F172A"/>
                </a:solidFill>
                <a:latin typeface="Arial"/>
                <a:ea typeface="Arial"/>
                <a:cs typeface="Arial"/>
                <a:sym typeface="Arial"/>
              </a:rPr>
              <a:t>Is the Model Actually Good?</a:t>
            </a:r>
            <a:endParaRPr/>
          </a:p>
        </p:txBody>
      </p:sp>
      <p:sp>
        <p:nvSpPr>
          <p:cNvPr id="295" name="Google Shape;295;p14"/>
          <p:cNvSpPr/>
          <p:nvPr/>
        </p:nvSpPr>
        <p:spPr>
          <a:xfrm>
            <a:off x="548640" y="1307592"/>
            <a:ext cx="1005840" cy="50800"/>
          </a:xfrm>
          <a:prstGeom prst="rect">
            <a:avLst/>
          </a:prstGeom>
          <a:solidFill>
            <a:srgbClr val="1D4ED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6" name="Google Shape;296;p14"/>
          <p:cNvSpPr/>
          <p:nvPr/>
        </p:nvSpPr>
        <p:spPr>
          <a:xfrm>
            <a:off x="548640" y="1463040"/>
            <a:ext cx="5394960" cy="2377440"/>
          </a:xfrm>
          <a:prstGeom prst="roundRect">
            <a:avLst>
              <a:gd fmla="val 5000" name="adj"/>
            </a:avLst>
          </a:prstGeom>
          <a:solidFill>
            <a:srgbClr val="F1F5F9"/>
          </a:solidFill>
          <a:ln cap="flat" cmpd="sng" w="9525">
            <a:solidFill>
              <a:srgbClr val="CBD5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28000" lIns="128000" spcFirstLastPara="1" rIns="128000" wrap="square" tIns="128000">
            <a:noAutofit/>
          </a:bodyPr>
          <a:lstStyle/>
          <a:p>
            <a:pPr indent="0" lvl="0" marL="0" marR="0" rtl="0" algn="ctr">
              <a:spcBef>
                <a:spcPts val="0"/>
              </a:spcBef>
              <a:spcAft>
                <a:spcPts val="0"/>
              </a:spcAft>
              <a:buNone/>
            </a:pPr>
            <a:r>
              <a:rPr b="1" i="0" lang="en-US" sz="1500" u="none" cap="none" strike="noStrike">
                <a:solidFill>
                  <a:srgbClr val="0E7490"/>
                </a:solidFill>
                <a:latin typeface="Arial"/>
                <a:ea typeface="Arial"/>
                <a:cs typeface="Arial"/>
                <a:sym typeface="Arial"/>
              </a:rPr>
              <a:t>Too Simple vs. Too Complicated</a:t>
            </a:r>
            <a:endParaRPr/>
          </a:p>
          <a:p>
            <a:pPr indent="0" lvl="0" marL="0" marR="0" rtl="0" algn="l">
              <a:spcBef>
                <a:spcPts val="0"/>
              </a:spcBef>
              <a:spcAft>
                <a:spcPts val="0"/>
              </a:spcAft>
              <a:buNone/>
            </a:pPr>
            <a:r>
              <a:rPr b="0" i="0" lang="en-US" sz="1350" u="none" cap="none" strike="noStrike">
                <a:solidFill>
                  <a:srgbClr val="0F172A"/>
                </a:solidFill>
                <a:latin typeface="Arial"/>
                <a:ea typeface="Arial"/>
                <a:cs typeface="Arial"/>
                <a:sym typeface="Arial"/>
              </a:rPr>
              <a:t>• Underfitting (high bias): e.g. fitting a straight line to data that actually curves like a parabola</a:t>
            </a:r>
            <a:endParaRPr/>
          </a:p>
          <a:p>
            <a:pPr indent="0" lvl="0" marL="0" marR="0" rtl="0" algn="l">
              <a:spcBef>
                <a:spcPts val="400"/>
              </a:spcBef>
              <a:spcAft>
                <a:spcPts val="0"/>
              </a:spcAft>
              <a:buNone/>
            </a:pPr>
            <a:r>
              <a:rPr b="0" i="0" lang="en-US" sz="1350" u="none" cap="none" strike="noStrike">
                <a:solidFill>
                  <a:srgbClr val="0F172A"/>
                </a:solidFill>
                <a:latin typeface="Arial"/>
                <a:ea typeface="Arial"/>
                <a:cs typeface="Arial"/>
                <a:sym typeface="Arial"/>
              </a:rPr>
              <a:t>• Overfitting (high variance): the model memorized noise instead of the real pattern</a:t>
            </a:r>
            <a:endParaRPr/>
          </a:p>
          <a:p>
            <a:pPr indent="0" lvl="0" marL="0" marR="0" rtl="0" algn="l">
              <a:spcBef>
                <a:spcPts val="400"/>
              </a:spcBef>
              <a:spcAft>
                <a:spcPts val="0"/>
              </a:spcAft>
              <a:buNone/>
            </a:pPr>
            <a:r>
              <a:rPr b="0" i="0" lang="en-US" sz="1350" u="none" cap="none" strike="noStrike">
                <a:solidFill>
                  <a:srgbClr val="0F172A"/>
                </a:solidFill>
                <a:latin typeface="Arial"/>
                <a:ea typeface="Arial"/>
                <a:cs typeface="Arial"/>
                <a:sym typeface="Arial"/>
              </a:rPr>
              <a:t>• The goal is the sweet spot in between — check this by testing on data the model never saw</a:t>
            </a:r>
            <a:endParaRPr/>
          </a:p>
        </p:txBody>
      </p:sp>
      <p:graphicFrame>
        <p:nvGraphicFramePr>
          <p:cNvPr id="297" name="Google Shape;297;p14"/>
          <p:cNvGraphicFramePr/>
          <p:nvPr/>
        </p:nvGraphicFramePr>
        <p:xfrm>
          <a:off x="6126480" y="1463040"/>
          <a:ext cx="3000000" cy="3000000"/>
        </p:xfrm>
        <a:graphic>
          <a:graphicData uri="http://schemas.openxmlformats.org/drawingml/2006/table">
            <a:tbl>
              <a:tblPr bandRow="1" firstRow="1">
                <a:noFill/>
                <a:tableStyleId>{8DC61D44-FBB2-4632-956C-AD5BED243261}</a:tableStyleId>
              </a:tblPr>
              <a:tblGrid>
                <a:gridCol w="2743200"/>
                <a:gridCol w="2743200"/>
              </a:tblGrid>
              <a:tr h="594350">
                <a:tc>
                  <a:txBody>
                    <a:bodyPr/>
                    <a:lstStyle/>
                    <a:p>
                      <a:pPr indent="0" lvl="0" marL="0" marR="0" rtl="0" algn="l">
                        <a:spcBef>
                          <a:spcPts val="0"/>
                        </a:spcBef>
                        <a:spcAft>
                          <a:spcPts val="0"/>
                        </a:spcAft>
                        <a:buNone/>
                      </a:pPr>
                      <a:r>
                        <a:rPr b="1" lang="en-US" sz="1250" u="none" cap="none" strike="noStrike">
                          <a:solidFill>
                            <a:srgbClr val="FFFFFF"/>
                          </a:solidFill>
                          <a:latin typeface="Arial"/>
                          <a:ea typeface="Arial"/>
                          <a:cs typeface="Arial"/>
                          <a:sym typeface="Arial"/>
                        </a:rPr>
                        <a:t>Metric</a:t>
                      </a:r>
                      <a:endParaRPr/>
                    </a:p>
                  </a:txBody>
                  <a:tcPr marT="45725" marB="45725" marR="91450" marL="91450" anchor="ctr">
                    <a:solidFill>
                      <a:srgbClr val="1D4ED8"/>
                    </a:solidFill>
                  </a:tcPr>
                </a:tc>
                <a:tc>
                  <a:txBody>
                    <a:bodyPr/>
                    <a:lstStyle/>
                    <a:p>
                      <a:pPr indent="0" lvl="0" marL="0" marR="0" rtl="0" algn="l">
                        <a:spcBef>
                          <a:spcPts val="0"/>
                        </a:spcBef>
                        <a:spcAft>
                          <a:spcPts val="0"/>
                        </a:spcAft>
                        <a:buNone/>
                      </a:pPr>
                      <a:r>
                        <a:rPr b="1" lang="en-US" sz="1250" u="none" cap="none" strike="noStrike">
                          <a:solidFill>
                            <a:srgbClr val="FFFFFF"/>
                          </a:solidFill>
                          <a:latin typeface="Arial"/>
                          <a:ea typeface="Arial"/>
                          <a:cs typeface="Arial"/>
                          <a:sym typeface="Arial"/>
                        </a:rPr>
                        <a:t>The Question It Answers</a:t>
                      </a:r>
                      <a:endParaRPr/>
                    </a:p>
                  </a:txBody>
                  <a:tcPr marT="45725" marB="45725" marR="91450" marL="91450" anchor="ctr">
                    <a:solidFill>
                      <a:srgbClr val="1D4ED8"/>
                    </a:solidFill>
                  </a:tcPr>
                </a:tc>
              </a:tr>
              <a:tr h="594350">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Precision</a:t>
                      </a:r>
                      <a:endParaRPr/>
                    </a:p>
                  </a:txBody>
                  <a:tcPr marT="45725" marB="45725" marR="91450" marL="91450" anchor="ctr">
                    <a:solidFill>
                      <a:srgbClr val="F1F5F9"/>
                    </a:solidFill>
                  </a:tcPr>
                </a:tc>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Of everything I flagged as 'yes', how much was right?</a:t>
                      </a:r>
                      <a:endParaRPr/>
                    </a:p>
                  </a:txBody>
                  <a:tcPr marT="45725" marB="45725" marR="91450" marL="91450" anchor="ctr">
                    <a:solidFill>
                      <a:srgbClr val="F1F5F9"/>
                    </a:solidFill>
                  </a:tcPr>
                </a:tc>
              </a:tr>
              <a:tr h="594350">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Recall</a:t>
                      </a:r>
                      <a:endParaRPr/>
                    </a:p>
                  </a:txBody>
                  <a:tcPr marT="45725" marB="45725" marR="91450" marL="91450" anchor="ctr">
                    <a:solidFill>
                      <a:srgbClr val="F1F5F9"/>
                    </a:solidFill>
                  </a:tcPr>
                </a:tc>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Of everything that was actually 'yes', how much did I catch?</a:t>
                      </a:r>
                      <a:endParaRPr/>
                    </a:p>
                  </a:txBody>
                  <a:tcPr marT="45725" marB="45725" marR="91450" marL="91450" anchor="ctr">
                    <a:solidFill>
                      <a:srgbClr val="F1F5F9"/>
                    </a:solidFill>
                  </a:tcPr>
                </a:tc>
              </a:tr>
              <a:tr h="594350">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F1</a:t>
                      </a:r>
                      <a:endParaRPr/>
                    </a:p>
                  </a:txBody>
                  <a:tcPr marT="45725" marB="45725" marR="91450" marL="91450" anchor="ctr">
                    <a:solidFill>
                      <a:srgbClr val="F1F5F9"/>
                    </a:solidFill>
                  </a:tcPr>
                </a:tc>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A single score balancing precision and recall</a:t>
                      </a:r>
                      <a:endParaRPr/>
                    </a:p>
                  </a:txBody>
                  <a:tcPr marT="45725" marB="45725" marR="91450" marL="91450" anchor="ctr">
                    <a:solidFill>
                      <a:srgbClr val="F1F5F9"/>
                    </a:solidFill>
                  </a:tcPr>
                </a:tc>
              </a:tr>
            </a:tbl>
          </a:graphicData>
        </a:graphic>
      </p:graphicFrame>
      <p:sp>
        <p:nvSpPr>
          <p:cNvPr id="298" name="Google Shape;298;p14"/>
          <p:cNvSpPr/>
          <p:nvPr/>
        </p:nvSpPr>
        <p:spPr>
          <a:xfrm>
            <a:off x="548640" y="4114800"/>
            <a:ext cx="11064240" cy="2194560"/>
          </a:xfrm>
          <a:prstGeom prst="roundRect">
            <a:avLst>
              <a:gd fmla="val 5000" name="adj"/>
            </a:avLst>
          </a:prstGeom>
          <a:solidFill>
            <a:srgbClr val="F1F5F9"/>
          </a:solidFill>
          <a:ln cap="flat" cmpd="sng" w="9525">
            <a:solidFill>
              <a:srgbClr val="CBD5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28000" lIns="128000" spcFirstLastPara="1" rIns="128000" wrap="square" tIns="128000">
            <a:noAutofit/>
          </a:bodyPr>
          <a:lstStyle/>
          <a:p>
            <a:pPr indent="0" lvl="0" marL="0" marR="0" rtl="0" algn="ctr">
              <a:spcBef>
                <a:spcPts val="0"/>
              </a:spcBef>
              <a:spcAft>
                <a:spcPts val="0"/>
              </a:spcAft>
              <a:buNone/>
            </a:pPr>
            <a:r>
              <a:rPr b="1" i="0" lang="en-US" sz="1500" u="none" cap="none" strike="noStrike">
                <a:solidFill>
                  <a:srgbClr val="0E7490"/>
                </a:solidFill>
                <a:latin typeface="Arial"/>
                <a:ea typeface="Arial"/>
                <a:cs typeface="Arial"/>
                <a:sym typeface="Arial"/>
              </a:rPr>
              <a:t>Picking the Right Metric</a:t>
            </a:r>
            <a:endParaRPr/>
          </a:p>
          <a:p>
            <a:pPr indent="0" lvl="0" marL="0" marR="0" rtl="0" algn="l">
              <a:spcBef>
                <a:spcPts val="0"/>
              </a:spcBef>
              <a:spcAft>
                <a:spcPts val="0"/>
              </a:spcAft>
              <a:buNone/>
            </a:pPr>
            <a:r>
              <a:rPr b="0" i="0" lang="en-US" sz="1350" u="none" cap="none" strike="noStrike">
                <a:solidFill>
                  <a:srgbClr val="0F172A"/>
                </a:solidFill>
                <a:latin typeface="Arial"/>
                <a:ea typeface="Arial"/>
                <a:cs typeface="Arial"/>
                <a:sym typeface="Arial"/>
              </a:rPr>
              <a:t>• Example: spam filter — missing a spam email (low recall) is annoying but a false alarm blocking a real email (low precision) may be worse</a:t>
            </a:r>
            <a:endParaRPr/>
          </a:p>
          <a:p>
            <a:pPr indent="0" lvl="0" marL="0" marR="0" rtl="0" algn="l">
              <a:spcBef>
                <a:spcPts val="400"/>
              </a:spcBef>
              <a:spcAft>
                <a:spcPts val="0"/>
              </a:spcAft>
              <a:buNone/>
            </a:pPr>
            <a:r>
              <a:rPr b="0" i="0" lang="en-US" sz="1350" u="none" cap="none" strike="noStrike">
                <a:solidFill>
                  <a:srgbClr val="0F172A"/>
                </a:solidFill>
                <a:latin typeface="Arial"/>
                <a:ea typeface="Arial"/>
                <a:cs typeface="Arial"/>
                <a:sym typeface="Arial"/>
              </a:rPr>
              <a:t>• There's no universally 'best' metric — pick the one that matches what mistakes actually cost your business</a:t>
            </a:r>
            <a:endParaRPr/>
          </a:p>
          <a:p>
            <a:pPr indent="0" lvl="0" marL="0" marR="0" rtl="0" algn="l">
              <a:spcBef>
                <a:spcPts val="400"/>
              </a:spcBef>
              <a:spcAft>
                <a:spcPts val="0"/>
              </a:spcAft>
              <a:buNone/>
            </a:pPr>
            <a:r>
              <a:rPr b="0" i="0" lang="en-US" sz="1350" u="none" cap="none" strike="noStrike">
                <a:solidFill>
                  <a:srgbClr val="0F172A"/>
                </a:solidFill>
                <a:latin typeface="Arial"/>
                <a:ea typeface="Arial"/>
                <a:cs typeface="Arial"/>
                <a:sym typeface="Arial"/>
              </a:rPr>
              <a:t>• Accuracy alone can be misleading when one class is much rarer than the other</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3" name="Shape 303"/>
        <p:cNvGrpSpPr/>
        <p:nvPr/>
      </p:nvGrpSpPr>
      <p:grpSpPr>
        <a:xfrm>
          <a:off x="0" y="0"/>
          <a:ext cx="0" cy="0"/>
          <a:chOff x="0" y="0"/>
          <a:chExt cx="0" cy="0"/>
        </a:xfrm>
      </p:grpSpPr>
      <p:sp>
        <p:nvSpPr>
          <p:cNvPr id="304" name="Google Shape;304;p15"/>
          <p:cNvSpPr txBox="1"/>
          <p:nvPr/>
        </p:nvSpPr>
        <p:spPr>
          <a:xfrm>
            <a:off x="548640" y="320040"/>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0E7490"/>
                </a:solidFill>
                <a:latin typeface="Arial"/>
                <a:ea typeface="Arial"/>
                <a:cs typeface="Arial"/>
                <a:sym typeface="Arial"/>
              </a:rPr>
              <a:t>WHICH TOOL DO I REACH FOR?</a:t>
            </a:r>
            <a:endParaRPr/>
          </a:p>
        </p:txBody>
      </p:sp>
      <p:sp>
        <p:nvSpPr>
          <p:cNvPr id="305" name="Google Shape;305;p15"/>
          <p:cNvSpPr txBox="1"/>
          <p:nvPr/>
        </p:nvSpPr>
        <p:spPr>
          <a:xfrm>
            <a:off x="548640" y="621792"/>
            <a:ext cx="1106424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0F172A"/>
                </a:solidFill>
                <a:latin typeface="Arial"/>
                <a:ea typeface="Arial"/>
                <a:cs typeface="Arial"/>
                <a:sym typeface="Arial"/>
              </a:rPr>
              <a:t>Putting It All Together</a:t>
            </a:r>
            <a:endParaRPr/>
          </a:p>
        </p:txBody>
      </p:sp>
      <p:sp>
        <p:nvSpPr>
          <p:cNvPr id="306" name="Google Shape;306;p15"/>
          <p:cNvSpPr/>
          <p:nvPr/>
        </p:nvSpPr>
        <p:spPr>
          <a:xfrm>
            <a:off x="548640" y="1307592"/>
            <a:ext cx="1005840" cy="50800"/>
          </a:xfrm>
          <a:prstGeom prst="rect">
            <a:avLst/>
          </a:prstGeom>
          <a:solidFill>
            <a:srgbClr val="1D4ED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307" name="Google Shape;307;p15"/>
          <p:cNvGraphicFramePr/>
          <p:nvPr/>
        </p:nvGraphicFramePr>
        <p:xfrm>
          <a:off x="548640" y="1463040"/>
          <a:ext cx="3000000" cy="3000000"/>
        </p:xfrm>
        <a:graphic>
          <a:graphicData uri="http://schemas.openxmlformats.org/drawingml/2006/table">
            <a:tbl>
              <a:tblPr bandRow="1" firstRow="1">
                <a:noFill/>
                <a:tableStyleId>{8DC61D44-FBB2-4632-956C-AD5BED243261}</a:tableStyleId>
              </a:tblPr>
              <a:tblGrid>
                <a:gridCol w="5532125"/>
                <a:gridCol w="5532125"/>
              </a:tblGrid>
              <a:tr h="477525">
                <a:tc>
                  <a:txBody>
                    <a:bodyPr/>
                    <a:lstStyle/>
                    <a:p>
                      <a:pPr indent="0" lvl="0" marL="0" marR="0" rtl="0" algn="l">
                        <a:spcBef>
                          <a:spcPts val="0"/>
                        </a:spcBef>
                        <a:spcAft>
                          <a:spcPts val="0"/>
                        </a:spcAft>
                        <a:buNone/>
                      </a:pPr>
                      <a:r>
                        <a:rPr b="1" lang="en-US" sz="1250" u="none" cap="none" strike="noStrike">
                          <a:solidFill>
                            <a:srgbClr val="FFFFFF"/>
                          </a:solidFill>
                          <a:latin typeface="Arial"/>
                          <a:ea typeface="Arial"/>
                          <a:cs typeface="Arial"/>
                          <a:sym typeface="Arial"/>
                        </a:rPr>
                        <a:t>If your problem looks like...</a:t>
                      </a:r>
                      <a:endParaRPr/>
                    </a:p>
                  </a:txBody>
                  <a:tcPr marT="45725" marB="45725" marR="91450" marL="91450" anchor="ctr">
                    <a:solidFill>
                      <a:srgbClr val="1D4ED8"/>
                    </a:solidFill>
                  </a:tcPr>
                </a:tc>
                <a:tc>
                  <a:txBody>
                    <a:bodyPr/>
                    <a:lstStyle/>
                    <a:p>
                      <a:pPr indent="0" lvl="0" marL="0" marR="0" rtl="0" algn="l">
                        <a:spcBef>
                          <a:spcPts val="0"/>
                        </a:spcBef>
                        <a:spcAft>
                          <a:spcPts val="0"/>
                        </a:spcAft>
                        <a:buNone/>
                      </a:pPr>
                      <a:r>
                        <a:rPr b="1" lang="en-US" sz="1250" u="none" cap="none" strike="noStrike">
                          <a:solidFill>
                            <a:srgbClr val="FFFFFF"/>
                          </a:solidFill>
                          <a:latin typeface="Arial"/>
                          <a:ea typeface="Arial"/>
                          <a:cs typeface="Arial"/>
                          <a:sym typeface="Arial"/>
                        </a:rPr>
                        <a:t>A good starting point is...</a:t>
                      </a:r>
                      <a:endParaRPr/>
                    </a:p>
                  </a:txBody>
                  <a:tcPr marT="45725" marB="45725" marR="91450" marL="91450" anchor="ctr">
                    <a:solidFill>
                      <a:srgbClr val="1D4ED8"/>
                    </a:solidFill>
                  </a:tcPr>
                </a:tc>
              </a:tr>
              <a:tr h="477525">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Small/medium data, need to explain the result</a:t>
                      </a:r>
                      <a:endParaRPr/>
                    </a:p>
                  </a:txBody>
                  <a:tcPr marT="45725" marB="45725" marR="91450" marL="91450" anchor="ctr">
                    <a:solidFill>
                      <a:srgbClr val="F1F5F9"/>
                    </a:solidFill>
                  </a:tcPr>
                </a:tc>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Linear/Logistic Regression, a single Decision Tree</a:t>
                      </a:r>
                      <a:endParaRPr/>
                    </a:p>
                  </a:txBody>
                  <a:tcPr marT="45725" marB="45725" marR="91450" marL="91450" anchor="ctr">
                    <a:solidFill>
                      <a:srgbClr val="F1F5F9"/>
                    </a:solidFill>
                  </a:tcPr>
                </a:tc>
              </a:tr>
              <a:tr h="477525">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Tabular data, want the best accuracy</a:t>
                      </a:r>
                      <a:endParaRPr/>
                    </a:p>
                  </a:txBody>
                  <a:tcPr marT="45725" marB="45725" marR="91450" marL="91450" anchor="ctr">
                    <a:solidFill>
                      <a:srgbClr val="F1F5F9"/>
                    </a:solidFill>
                  </a:tcPr>
                </a:tc>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Random Forest or XGBoost</a:t>
                      </a:r>
                      <a:endParaRPr/>
                    </a:p>
                  </a:txBody>
                  <a:tcPr marT="45725" marB="45725" marR="91450" marL="91450" anchor="ctr">
                    <a:solidFill>
                      <a:srgbClr val="F1F5F9"/>
                    </a:solidFill>
                  </a:tcPr>
                </a:tc>
              </a:tr>
              <a:tr h="477525">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Small dataset with a clear separation between groups</a:t>
                      </a:r>
                      <a:endParaRPr/>
                    </a:p>
                  </a:txBody>
                  <a:tcPr marT="45725" marB="45725" marR="91450" marL="91450" anchor="ctr">
                    <a:solidFill>
                      <a:srgbClr val="F1F5F9"/>
                    </a:solidFill>
                  </a:tcPr>
                </a:tc>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SVM</a:t>
                      </a:r>
                      <a:endParaRPr/>
                    </a:p>
                  </a:txBody>
                  <a:tcPr marT="45725" marB="45725" marR="91450" marL="91450" anchor="ctr">
                    <a:solidFill>
                      <a:srgbClr val="F1F5F9"/>
                    </a:solidFill>
                  </a:tcPr>
                </a:tc>
              </a:tr>
              <a:tr h="477525">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Quick baseline, small dataset</a:t>
                      </a:r>
                      <a:endParaRPr/>
                    </a:p>
                  </a:txBody>
                  <a:tcPr marT="45725" marB="45725" marR="91450" marL="91450" anchor="ctr">
                    <a:solidFill>
                      <a:srgbClr val="F1F5F9"/>
                    </a:solidFill>
                  </a:tcPr>
                </a:tc>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k-NN</a:t>
                      </a:r>
                      <a:endParaRPr/>
                    </a:p>
                  </a:txBody>
                  <a:tcPr marT="45725" marB="45725" marR="91450" marL="91450" anchor="ctr">
                    <a:solidFill>
                      <a:srgbClr val="F1F5F9"/>
                    </a:solidFill>
                  </a:tcPr>
                </a:tc>
              </a:tr>
              <a:tr h="477525">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Images or grid-like data</a:t>
                      </a:r>
                      <a:endParaRPr/>
                    </a:p>
                  </a:txBody>
                  <a:tcPr marT="45725" marB="45725" marR="91450" marL="91450" anchor="ctr">
                    <a:solidFill>
                      <a:srgbClr val="F1F5F9"/>
                    </a:solidFill>
                  </a:tcPr>
                </a:tc>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Deep learning (CNNs)</a:t>
                      </a:r>
                      <a:endParaRPr/>
                    </a:p>
                  </a:txBody>
                  <a:tcPr marT="45725" marB="45725" marR="91450" marL="91450" anchor="ctr">
                    <a:solidFill>
                      <a:srgbClr val="F1F5F9"/>
                    </a:solidFill>
                  </a:tcPr>
                </a:tc>
              </a:tr>
              <a:tr h="477525">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Text or sequences</a:t>
                      </a:r>
                      <a:endParaRPr/>
                    </a:p>
                  </a:txBody>
                  <a:tcPr marT="45725" marB="45725" marR="91450" marL="91450" anchor="ctr">
                    <a:solidFill>
                      <a:srgbClr val="F1F5F9"/>
                    </a:solidFill>
                  </a:tcPr>
                </a:tc>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Transformers (attention-based)</a:t>
                      </a:r>
                      <a:endParaRPr/>
                    </a:p>
                  </a:txBody>
                  <a:tcPr marT="45725" marB="45725" marR="91450" marL="91450" anchor="ctr">
                    <a:solidFill>
                      <a:srgbClr val="F1F5F9"/>
                    </a:solidFill>
                  </a:tcPr>
                </a:tc>
              </a:tr>
              <a:tr h="477525">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'What happens if we change X?' questions</a:t>
                      </a:r>
                      <a:endParaRPr/>
                    </a:p>
                  </a:txBody>
                  <a:tcPr marT="45725" marB="45725" marR="91450" marL="91450" anchor="ctr">
                    <a:solidFill>
                      <a:srgbClr val="F1F5F9"/>
                    </a:solidFill>
                  </a:tcPr>
                </a:tc>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Causal inference</a:t>
                      </a:r>
                      <a:endParaRPr/>
                    </a:p>
                  </a:txBody>
                  <a:tcPr marT="45725" marB="45725" marR="91450" marL="91450" anchor="ctr">
                    <a:solidFill>
                      <a:srgbClr val="F1F5F9"/>
                    </a:solidFill>
                  </a:tcPr>
                </a:tc>
              </a:tr>
              <a:tr h="477525">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Finding rare/unusual events</a:t>
                      </a:r>
                      <a:endParaRPr/>
                    </a:p>
                  </a:txBody>
                  <a:tcPr marT="45725" marB="45725" marR="91450" marL="91450" anchor="ctr">
                    <a:solidFill>
                      <a:srgbClr val="F1F5F9"/>
                    </a:solidFill>
                  </a:tcPr>
                </a:tc>
                <a:tc>
                  <a:txBody>
                    <a:bodyPr/>
                    <a:lstStyle/>
                    <a:p>
                      <a:pPr indent="0" lvl="0" marL="0" marR="0" rtl="0" algn="l">
                        <a:spcBef>
                          <a:spcPts val="0"/>
                        </a:spcBef>
                        <a:spcAft>
                          <a:spcPts val="0"/>
                        </a:spcAft>
                        <a:buNone/>
                      </a:pPr>
                      <a:r>
                        <a:rPr b="0" lang="en-US" sz="1250" u="none" cap="none" strike="noStrike">
                          <a:solidFill>
                            <a:srgbClr val="0F172A"/>
                          </a:solidFill>
                          <a:latin typeface="Arial"/>
                          <a:ea typeface="Arial"/>
                          <a:cs typeface="Arial"/>
                          <a:sym typeface="Arial"/>
                        </a:rPr>
                        <a:t>Isolation Forest (anomaly detection)</a:t>
                      </a:r>
                      <a:endParaRPr/>
                    </a:p>
                  </a:txBody>
                  <a:tcPr marT="45725" marB="45725" marR="91450" marL="91450" anchor="ctr">
                    <a:solidFill>
                      <a:srgbClr val="F1F5F9"/>
                    </a:solid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