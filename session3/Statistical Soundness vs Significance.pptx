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Inter SemiBold"/>
      <p:regular r:id="rId12"/>
      <p:bold r:id="rId13"/>
      <p:italic r:id="rId14"/>
      <p:boldItalic r:id="rId15"/>
    </p:embeddedFont>
    <p:embeddedFont>
      <p:font typeface="Inter"/>
      <p:bold r:id="rId16"/>
      <p:boldItalic r:id="rId17"/>
    </p:embeddedFont>
    <p:embeddedFont>
      <p:font typeface="Poppins"/>
      <p:bold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regular.fntdata"/><Relationship Id="rId11" Type="http://schemas.openxmlformats.org/officeDocument/2006/relationships/font" Target="fonts/Roboto-boldItalic.fntdata"/><Relationship Id="rId22" Type="http://schemas.openxmlformats.org/officeDocument/2006/relationships/font" Target="fonts/PoppinsSemiBold-italic.fntdata"/><Relationship Id="rId10" Type="http://schemas.openxmlformats.org/officeDocument/2006/relationships/font" Target="fonts/Roboto-italic.fntdata"/><Relationship Id="rId21" Type="http://schemas.openxmlformats.org/officeDocument/2006/relationships/font" Target="fonts/PoppinsSemiBold-bold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23" Type="http://schemas.openxmlformats.org/officeDocument/2006/relationships/font" Target="fonts/Poppi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oa5cV365oL6bXYpECPWeZ776-1e7lrrLXV0M8HraohY/edit" TargetMode="External"/><Relationship Id="rId3" Type="http://schemas.openxmlformats.org/officeDocument/2006/relationships/hyperlink" Target="https://docs.google.com/presentation/d/1oa5cV365oL6bXYpECPWeZ776-1e7lrrLXV0M8HraohY/edit" TargetMode="External"/><Relationship Id="rId4" Type="http://schemas.openxmlformats.org/officeDocument/2006/relationships/hyperlink" Target="https://docs.google.com/presentation/d/1oa5cV365oL6bXYpECPWeZ776-1e7lrrLXV0M8HraohY/edit" TargetMode="External"/><Relationship Id="rId5" Type="http://schemas.openxmlformats.org/officeDocument/2006/relationships/hyperlink" Target="https://docs.google.com/presentation/d/1oa5cV365oL6bXYpECPWeZ776-1e7lrrLXV0M8HraohY/edi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INSTRUCTOR SPEAKER NOTES (SLIDE 1)</a:t>
            </a:r>
            <a:endParaRPr sz="8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2575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Font typeface="Inter"/>
              <a:buChar char="●"/>
            </a:pPr>
            <a:r>
              <a:rPr b="1"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Opening Hook (2 mins):</a:t>
            </a:r>
            <a:r>
              <a:rPr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Do not reveal formulas yet! Ask: "If a feature launch gives p = 0.000004, do we automatically ship it?"</a:t>
            </a:r>
            <a:endParaRPr sz="8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850"/>
              <a:buFont typeface="Inter"/>
              <a:buChar char="●"/>
            </a:pPr>
            <a:r>
              <a:rPr b="1"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Deliver ELI10 Story:</a:t>
            </a:r>
            <a:r>
              <a:rPr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Use the soccer field analogy. Emphasize that Big Data gives us a hyper-sensitive lens—letting us prove tiny, invisible differences exist beyond random chance.</a:t>
            </a:r>
            <a:endParaRPr sz="8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2575" lvl="0" marL="45720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850"/>
              <a:buFont typeface="Inter"/>
              <a:buChar char="●"/>
            </a:pPr>
            <a:r>
              <a:rPr b="1"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Pivot to Reality:</a:t>
            </a:r>
            <a:r>
              <a:rPr lang="en-US" sz="8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Ask students if players can feel a 0.0001" difference. Connect this to paying $50k/mo in server costs for a 0.01% conversion lift.</a:t>
            </a:r>
            <a:endParaRPr sz="8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When your sample size (N) becomes extremely large (approaching infinity), your statistical tests become hyper-sensitive to even the slightest fluctuations in data.</a:t>
            </a:r>
            <a:r>
              <a:rPr lang="en-US" sz="7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1</a:t>
            </a:r>
            <a:endParaRPr sz="7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Here is what happens: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Sensitivity: Standard errors shrink, making the test capable of detecting the smallest possible differences or variations in the data.</a:t>
            </a:r>
            <a:r>
              <a:rPr lang="en-US" sz="7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1</a:t>
            </a:r>
            <a:endParaRPr sz="7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P-values: Because the test is so sensitive, these tiny, random variations (noise) produce p-values very close to zero.</a:t>
            </a:r>
            <a:r>
              <a:rPr lang="en-US" sz="7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1</a:t>
            </a:r>
            <a:endParaRPr sz="7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The Trap: Since a p-value below a certain threshold (like 0.05) is traditionally considered statistically significant, everything—even purely random noise—becomes significant.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 statistical analysis, especially when working with large datasets (where N, the sample size, is very large), relying solely on statistical significance (p-values) can be misleading because even trivial, meaningless differences can appear "statistically significant".</a:t>
            </a:r>
            <a:r>
              <a:rPr lang="en-US" sz="7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/>
              </a:rPr>
              <a:t>1</a:t>
            </a:r>
            <a:endParaRPr sz="7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The "Best Practice" note recommends shifting focus to </a:t>
            </a: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Practical Significance</a:t>
            </a: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by using two key tools: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Effect Sizes:</a:t>
            </a: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This measures the </a:t>
            </a:r>
            <a:r>
              <a:rPr i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magnitude</a:t>
            </a: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of the difference. While a p-value tells you if a difference exists, the effect size tells you if that difference is large enough to actually matter in a real-world context (e.g., is a 0.01% increase in conversion actually worth the effort of implementing a change?).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95% Confidence Intervals (CIs):</a:t>
            </a: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This provides a range of plausible values for the effect size. It helps quantify the uncertainty of your estimate, showing you the "spread" of where the true effect likely lies.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Why this is independent of N:</a:t>
            </a:r>
            <a:endParaRPr b="1"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Unlike p-values, which are heavily influenced by your sample size ($N \to \infty$ makes almost any difference significant), effect sizes and confidence intervals provide a consistent measure of the impact and precision of your findings, regardless of how large your dataset is.</a:t>
            </a:r>
            <a:endParaRPr sz="105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476250"/>
            <a:ext cx="5238900" cy="37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-US" sz="2405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p-Value Trap</a:t>
            </a:r>
            <a:r>
              <a:rPr b="1" lang="en-US" sz="2405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in Big Data</a:t>
            </a:r>
            <a:endParaRPr b="1" sz="2405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571500" y="1333500"/>
            <a:ext cx="5048400" cy="1285800"/>
            <a:chOff x="0" y="0"/>
            <a:chExt cx="5048400" cy="12858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5048400" cy="12858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90500" y="142875"/>
              <a:ext cx="4667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The Super-Powered Magnifying Glass</a:t>
              </a:r>
              <a:endParaRPr b="1" sz="1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sample size </a:t>
              </a:r>
              <a:r>
                <a:rPr b="0" i="1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scales into millions, standard errors approach zero. Your statistical microscope becomes hyper-sensitive.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571500" y="2809875"/>
            <a:ext cx="5048325" cy="523800"/>
            <a:chOff x="0" y="0"/>
            <a:chExt cx="5048325" cy="523800"/>
          </a:xfrm>
        </p:grpSpPr>
        <p:sp>
          <p:nvSpPr>
            <p:cNvPr id="92" name="Google Shape;92;p13"/>
            <p:cNvSpPr txBox="1"/>
            <p:nvPr/>
          </p:nvSpPr>
          <p:spPr>
            <a:xfrm>
              <a:off x="0" y="6731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zoom_out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428625" y="0"/>
              <a:ext cx="4619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Small Data View (</a:t>
              </a:r>
              <a:r>
                <a:rPr b="1" i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b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= 1,000)</a:t>
              </a:r>
              <a:endParaRPr b="1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Two soccer fields look identical. You conclude no noticeable difference exists between them.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571500" y="3476625"/>
            <a:ext cx="5048325" cy="523800"/>
            <a:chOff x="0" y="0"/>
            <a:chExt cx="5048325" cy="523800"/>
          </a:xfrm>
        </p:grpSpPr>
        <p:sp>
          <p:nvSpPr>
            <p:cNvPr id="95" name="Google Shape;95;p13"/>
            <p:cNvSpPr txBox="1"/>
            <p:nvPr/>
          </p:nvSpPr>
          <p:spPr>
            <a:xfrm>
              <a:off x="0" y="6731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zoom_in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428625" y="0"/>
              <a:ext cx="4619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Big Data View (</a:t>
              </a:r>
              <a:r>
                <a:rPr b="1" i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b="1" lang="en-US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= 10,000,000)</a:t>
              </a:r>
              <a:endParaRPr b="1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Zooming in 1,000,000× reveals Field B's grass is 0.0001 inches taller (</a:t>
              </a:r>
              <a:r>
                <a:rPr b="0" i="1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</a:t>
              </a: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&lt; 0.0001).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571500" y="4143375"/>
            <a:ext cx="5048325" cy="523800"/>
            <a:chOff x="0" y="0"/>
            <a:chExt cx="5048325" cy="523800"/>
          </a:xfrm>
        </p:grpSpPr>
        <p:sp>
          <p:nvSpPr>
            <p:cNvPr id="98" name="Google Shape;98;p13"/>
            <p:cNvSpPr txBox="1"/>
            <p:nvPr/>
          </p:nvSpPr>
          <p:spPr>
            <a:xfrm>
              <a:off x="0" y="6731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20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428625" y="0"/>
              <a:ext cx="4619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The Big Question</a:t>
              </a:r>
              <a:endParaRPr b="1" sz="105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Does a 0.0001 inch grass height difference actually affect the game?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0" name="Google Shape;100;p13"/>
          <p:cNvSpPr txBox="1"/>
          <p:nvPr/>
        </p:nvSpPr>
        <p:spPr>
          <a:xfrm>
            <a:off x="83575" y="5898825"/>
            <a:ext cx="75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In big data and statistics, a </a:t>
            </a:r>
            <a:r>
              <a:rPr b="1" i="1" lang="en-US" sz="1200">
                <a:solidFill>
                  <a:schemeClr val="dk1"/>
                </a:solidFill>
              </a:rPr>
              <a:t>p-value</a:t>
            </a:r>
            <a:r>
              <a:rPr i="1" lang="en-US" sz="1200">
                <a:solidFill>
                  <a:schemeClr val="dk1"/>
                </a:solidFill>
              </a:rPr>
              <a:t> (probability value) is a number that tells you how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likely it is that your data results happened by random chance.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Significance vs. Soundness vs. Impact</a:t>
            </a:r>
            <a:endParaRPr/>
          </a:p>
        </p:txBody>
      </p:sp>
      <p:grpSp>
        <p:nvGrpSpPr>
          <p:cNvPr id="107" name="Google Shape;107;p14"/>
          <p:cNvGrpSpPr/>
          <p:nvPr/>
        </p:nvGrpSpPr>
        <p:grpSpPr>
          <a:xfrm>
            <a:off x="571500" y="1238250"/>
            <a:ext cx="3429000" cy="4191000"/>
            <a:chOff x="0" y="0"/>
            <a:chExt cx="3429000" cy="4191000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228600" y="838200"/>
              <a:ext cx="2971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1. Statistical Significance</a:t>
              </a:r>
              <a:endParaRPr b="1" sz="1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6366F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"Is this real or random noise?"</a:t>
              </a:r>
              <a:endParaRPr b="0" i="1" sz="1100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Evaluates whether an observed effect is unlikely to occur by chance alone (p-value).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228600" y="2857500"/>
              <a:ext cx="2971800" cy="1104900"/>
            </a:xfrm>
            <a:prstGeom prst="roundRect">
              <a:avLst>
                <a:gd fmla="val 10344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381000" y="3009900"/>
              <a:ext cx="266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rPr>
                <a:t>Big Data Trap</a:t>
              </a:r>
              <a:endParaRPr b="1" sz="105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rPr>
                <a:t>With $N to infty$, $p to 0$ for almost all noise. Everything becomes "significant".</a:t>
              </a:r>
              <a:endParaRPr b="0" sz="105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4381500" y="1238250"/>
            <a:ext cx="3429000" cy="4191000"/>
            <a:chOff x="0" y="0"/>
            <a:chExt cx="3429000" cy="4191000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228600" y="838200"/>
              <a:ext cx="2971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2. Statistical Soundness</a:t>
              </a:r>
              <a:endParaRPr b="1" sz="1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6366F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"Is our measurement valid?"</a:t>
              </a:r>
              <a:endParaRPr b="0" i="1" sz="1100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Verifies experimental assumptions, sampling integrity, independence, and lack of systemic bias.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228600" y="2857500"/>
              <a:ext cx="2971800" cy="1104900"/>
            </a:xfrm>
            <a:prstGeom prst="roundRect">
              <a:avLst>
                <a:gd fmla="val 10344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381000" y="3009900"/>
              <a:ext cx="266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rPr>
                <a:t>Big Data Trap</a:t>
              </a:r>
              <a:endParaRPr b="1" sz="105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rPr>
                <a:t>10M rows of biased data gives 100% confidence in a wrong answer.</a:t>
              </a:r>
              <a:endParaRPr b="0" sz="105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8191500" y="1238250"/>
            <a:ext cx="3429000" cy="4191000"/>
            <a:chOff x="0" y="0"/>
            <a:chExt cx="3429000" cy="4191000"/>
          </a:xfrm>
        </p:grpSpPr>
        <p:sp>
          <p:nvSpPr>
            <p:cNvPr id="118" name="Google Shape;118;p14"/>
            <p:cNvSpPr/>
            <p:nvPr/>
          </p:nvSpPr>
          <p:spPr>
            <a:xfrm>
              <a:off x="0" y="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228600" y="838200"/>
              <a:ext cx="2971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3. Practical Significance</a:t>
              </a:r>
              <a:endParaRPr b="1" sz="1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6366F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"Does anybody actually care?"</a:t>
              </a:r>
              <a:endParaRPr b="0" i="1" sz="1100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Measures the magnitude of the effect size (e.g., financial ROI, lift percentage).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228600" y="2857500"/>
              <a:ext cx="2971800" cy="1104900"/>
            </a:xfrm>
            <a:prstGeom prst="roundRect">
              <a:avLst>
                <a:gd fmla="val 10344" name="adj"/>
              </a:avLst>
            </a:prstGeom>
            <a:solidFill>
              <a:srgbClr val="ECFDF5"/>
            </a:solidFill>
            <a:ln cap="flat" cmpd="sng" w="9525">
              <a:solidFill>
                <a:srgbClr val="A7F3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381000" y="3009900"/>
              <a:ext cx="266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Best Practice</a:t>
              </a:r>
              <a:endParaRPr b="1" sz="105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Independent of $N$. Always pair with Effect Sizes &amp; 95% CIs.</a:t>
              </a:r>
              <a:endParaRPr b="0" sz="105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