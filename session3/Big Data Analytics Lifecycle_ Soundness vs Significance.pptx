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7F8272-C755-475D-98AD-A061BE70A1ED}">
  <a:tblStyle styleId="{217F8272-C755-475D-98AD-A061BE70A1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ddacc69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ddacc6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12" Type="http://schemas.openxmlformats.org/officeDocument/2006/relationships/image" Target="../media/image18.png"/><Relationship Id="rId9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912" y="2087165"/>
            <a:ext cx="29241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25553" y="2630090"/>
            <a:ext cx="7140892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Statistical Soundness vs.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Statistical Significance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4100512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Scalable Summary Operations, Hypothesis Testing at Scale, and Practical Impact for Modern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3140"/>
            <a:ext cx="5334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3140"/>
            <a:ext cx="5334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Scalable Summary Operations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284604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Relational Summaries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331815"/>
            <a:ext cx="46482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Compute Where Data Lives: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Packages like </a:t>
            </a:r>
            <a:r>
              <a:rPr b="1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dbplyr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duckdb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translate R code into optimized SQL queries.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3960465"/>
            <a:ext cx="4648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Lazy Evaluation: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Aggregations execute directly on database backends, preventing R memory crashes (`vector memory exhausted`).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284604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Approximate Algorithms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3331815"/>
            <a:ext cx="4648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HyperLogLog (HLL):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Estimates unique counts (n_distinct) across 100M+ rows in milliseconds with &lt;1% error.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421764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t-Digests: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Approximates percentiles and medians without requiring massive array sorting in RAM.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76250"/>
            <a:ext cx="5300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28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p-Value Paradox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638573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Big Data, as sample size N to infinity, standard error drops to zero: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253656"/>
            <a:ext cx="50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Super-Magnifying Glass Effect: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millions of records, standard errors collapse. Even a tiny, meaningless $0.0001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difference yields p &lt; 0.0001.</a:t>
            </a:r>
            <a:endParaRPr/>
          </a:p>
        </p:txBody>
      </p:sp>
      <p:pic>
        <p:nvPicPr>
          <p:cNvPr id="111" name="Google Shape;111;p15" title="Screenshot 2026-08-11 at 8.44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3216863"/>
            <a:ext cx="3950999" cy="9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5002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65002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65002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Three Pillars Framework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47932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09625" y="3203227"/>
            <a:ext cx="15901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Significance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3631852"/>
            <a:ext cx="30162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"Is this difference real or random noise?"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625" y="4184302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Determined by $p$-values. In Big Data, almost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everything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becomes statistically significant.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7924" y="247932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4587924" y="3203227"/>
            <a:ext cx="14601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Soundness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587924" y="3631852"/>
            <a:ext cx="30162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"Are our test and data fair and unbiased?"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587924" y="4184302"/>
            <a:ext cx="30162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Checks experimental design, independence, and sampling integrity. Bad data gives high confidence in wrong answers.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47932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366224" y="3203227"/>
            <a:ext cx="15601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Practicality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366224" y="3631852"/>
            <a:ext cx="30162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"Does the size of the difference matter?"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66224" y="4184302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Measures Effect Size (Cohen's $d$, $95\%$ CIs, ROI). Independent of sample size $N$.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26317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1749" y="263172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8624" y="263172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Significance vs. Practical Impact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" y="197926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1979265"/>
            <a:ext cx="5143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p-Values Ignore Magnitude: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feature shift from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10.00 to $10.01 gives p &lt; 0.0001 at N = 10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but adds no real revenue.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" y="290319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2903190"/>
            <a:ext cx="5143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 on Effect Sizes: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Report standardized metrics (Cohen's d) and absolute lifts alongside 95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Confidence Intervals.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66750" y="382711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3827115"/>
            <a:ext cx="5143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Business ROI Rules: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If server costs to deploy a feature exceed financial gains, the result lacks practical significance.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9265"/>
            <a:ext cx="53340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Ensuring Statistical Soundness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00125" y="2598390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Beware Sampling Bias: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10 million rows of biased data just yields 100% confidence in a wrong conclusion.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3065115"/>
            <a:ext cx="10620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Validate Modeling Assumptions: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Verify independence of observations, check for autocorrelation, and use cluster-robust standard errors.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0125" y="3789015"/>
            <a:ext cx="10620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 Subsampling Checks: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Compare results from $N = 10,000,000$ against stratified samples of $N = 5,000$ to observe parameter stability.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00125" y="4512915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 Data Pipelines: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Ensure no data leakage or aggregation artifacts contaminate summary metrics.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22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889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28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3672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680700" y="850875"/>
            <a:ext cx="8976600" cy="5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Imagine you built a </a:t>
            </a:r>
            <a:r>
              <a:rPr b="1" lang="en-US" sz="1100">
                <a:solidFill>
                  <a:schemeClr val="dk1"/>
                </a:solidFill>
              </a:rPr>
              <a:t>Robot Dog Finder</a:t>
            </a:r>
            <a:r>
              <a:rPr lang="en-US" sz="1100">
                <a:solidFill>
                  <a:schemeClr val="dk1"/>
                </a:solidFill>
              </a:rPr>
              <a:t> camera. You take it to the park to find dogs in photos.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1. Accuracy (The Big Picture Score)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What it asks: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i="1" lang="en-US" sz="1100">
                <a:solidFill>
                  <a:schemeClr val="dk1"/>
                </a:solidFill>
              </a:rPr>
              <a:t>"Out of ALL photos the robot checked, how often was it right overall?"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How it works:</a:t>
            </a:r>
            <a:r>
              <a:rPr lang="en-US" sz="1100">
                <a:solidFill>
                  <a:schemeClr val="dk1"/>
                </a:solidFill>
              </a:rPr>
              <a:t> It counts every photo where the robot was correct—both when it correctly spotted a dog AND when it correctly realized a photo was </a:t>
            </a:r>
            <a:r>
              <a:rPr i="1" lang="en-US" sz="1100">
                <a:solidFill>
                  <a:schemeClr val="dk1"/>
                </a:solidFill>
              </a:rPr>
              <a:t>not</a:t>
            </a:r>
            <a:r>
              <a:rPr lang="en-US" sz="1100">
                <a:solidFill>
                  <a:schemeClr val="dk1"/>
                </a:solidFill>
              </a:rPr>
              <a:t> a dog.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The Catch:</a:t>
            </a:r>
            <a:r>
              <a:rPr lang="en-US" sz="1100">
                <a:solidFill>
                  <a:schemeClr val="dk1"/>
                </a:solidFill>
              </a:rPr>
              <a:t> If you have 99 cats and 1 dog, a lazy robot that screams </a:t>
            </a:r>
            <a:r>
              <a:rPr i="1" lang="en-US" sz="1100">
                <a:solidFill>
                  <a:schemeClr val="dk1"/>
                </a:solidFill>
              </a:rPr>
              <a:t>"NO DOG"</a:t>
            </a:r>
            <a:r>
              <a:rPr lang="en-US" sz="1100">
                <a:solidFill>
                  <a:schemeClr val="dk1"/>
                </a:solidFill>
              </a:rPr>
              <a:t> every single time is </a:t>
            </a:r>
            <a:r>
              <a:rPr b="1" lang="en-US" sz="1100">
                <a:solidFill>
                  <a:schemeClr val="dk1"/>
                </a:solidFill>
              </a:rPr>
              <a:t>99% accurate</a:t>
            </a:r>
            <a:r>
              <a:rPr lang="en-US" sz="1100">
                <a:solidFill>
                  <a:schemeClr val="dk1"/>
                </a:solidFill>
              </a:rPr>
              <a:t>, but it’s completely useless at finding dogs!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2. Precision (Avoiding False Alarms)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What it asks: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i="1" lang="en-US" sz="1100">
                <a:solidFill>
                  <a:schemeClr val="dk1"/>
                </a:solidFill>
              </a:rPr>
              <a:t>"When the robot shouts 'I found a dog!', how often is it ACTUALLY a dog?"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How it works:</a:t>
            </a:r>
            <a:r>
              <a:rPr lang="en-US" sz="1100">
                <a:solidFill>
                  <a:schemeClr val="dk1"/>
                </a:solidFill>
              </a:rPr>
              <a:t> Think of this as </a:t>
            </a:r>
            <a:r>
              <a:rPr b="1" lang="en-US" sz="1100">
                <a:solidFill>
                  <a:schemeClr val="dk1"/>
                </a:solidFill>
              </a:rPr>
              <a:t>quality over quantity</a:t>
            </a:r>
            <a:r>
              <a:rPr lang="en-US" sz="1100">
                <a:solidFill>
                  <a:schemeClr val="dk1"/>
                </a:solidFill>
              </a:rPr>
              <a:t>. If the robot points at 5 animals and shouts </a:t>
            </a:r>
            <a:r>
              <a:rPr i="1" lang="en-US" sz="1100">
                <a:solidFill>
                  <a:schemeClr val="dk1"/>
                </a:solidFill>
              </a:rPr>
              <a:t>"DOG!"</a:t>
            </a:r>
            <a:r>
              <a:rPr lang="en-US" sz="1100">
                <a:solidFill>
                  <a:schemeClr val="dk1"/>
                </a:solidFill>
              </a:rPr>
              <a:t>, and 4 are real dogs while 1 is actually a fluffy cat, its Precision is </a:t>
            </a:r>
            <a:r>
              <a:rPr b="1" lang="en-US" sz="1100">
                <a:solidFill>
                  <a:schemeClr val="dk1"/>
                </a:solidFill>
              </a:rPr>
              <a:t>4 out of 5 (80%)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High Precision means:</a:t>
            </a:r>
            <a:r>
              <a:rPr lang="en-US" sz="1100">
                <a:solidFill>
                  <a:schemeClr val="dk1"/>
                </a:solidFill>
              </a:rPr>
              <a:t> Very few false alarms!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3. Recall (Catching Everything)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What it asks: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i="1" lang="en-US" sz="1100">
                <a:solidFill>
                  <a:schemeClr val="dk1"/>
                </a:solidFill>
              </a:rPr>
              <a:t>"Out of ALL the real dogs hidden in the park, how many did the robot actually find?"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How it works:</a:t>
            </a:r>
            <a:r>
              <a:rPr lang="en-US" sz="1100">
                <a:solidFill>
                  <a:schemeClr val="dk1"/>
                </a:solidFill>
              </a:rPr>
              <a:t> Think of this like </a:t>
            </a:r>
            <a:r>
              <a:rPr b="1" lang="en-US" sz="1100">
                <a:solidFill>
                  <a:schemeClr val="dk1"/>
                </a:solidFill>
              </a:rPr>
              <a:t>hide-and-seek</a:t>
            </a:r>
            <a:r>
              <a:rPr lang="en-US" sz="1100">
                <a:solidFill>
                  <a:schemeClr val="dk1"/>
                </a:solidFill>
              </a:rPr>
              <a:t>. If there are 10 real dogs hiding in the park, and the robot successfully finds 8 of them (and completely misses 2), its Recall is </a:t>
            </a:r>
            <a:r>
              <a:rPr b="1" lang="en-US" sz="1100">
                <a:solidFill>
                  <a:schemeClr val="dk1"/>
                </a:solidFill>
              </a:rPr>
              <a:t>8 out of 10 (80%)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High Recall means:</a:t>
            </a:r>
            <a:r>
              <a:rPr lang="en-US" sz="1100">
                <a:solidFill>
                  <a:schemeClr val="dk1"/>
                </a:solidFill>
              </a:rPr>
              <a:t> Very few missed targets!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Big Data R Ecosystem &amp; Tools</a:t>
            </a:r>
            <a:endParaRPr/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71500" y="2403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{217F8272-C755-475D-98AD-A061BE70A1ED}</a:tableStyleId>
              </a:tblPr>
              <a:tblGrid>
                <a:gridCol w="2278550"/>
                <a:gridCol w="2025700"/>
                <a:gridCol w="6744750"/>
              </a:tblGrid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Analytics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 Package / Tool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Core Function &amp; Benefit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Out-of-Core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duckdb / arrow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 multi-GB Parquet/CSV files without loading full datasets into RAM.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Scalable Summaries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dbplyr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Translates dplyr syntax directly into optimized SQL engine execution plans.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Effect Size &amp; 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effectsize / broom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Calculates Cohen's $d$, $95\%$ Confidence Intervals, and tidy model summaries.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Big Data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sparklyr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Fits distributed machine learning models over Spark clusters at scale.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0"/>
          <p:cNvSpPr/>
          <p:nvPr/>
        </p:nvSpPr>
        <p:spPr>
          <a:xfrm>
            <a:off x="571500" y="3503265"/>
            <a:ext cx="2278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850058" y="3503265"/>
            <a:ext cx="2025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75758" y="3503265"/>
            <a:ext cx="6744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1500" y="4055715"/>
            <a:ext cx="2278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850058" y="4055715"/>
            <a:ext cx="2025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875758" y="4055715"/>
            <a:ext cx="6744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1500" y="4608165"/>
            <a:ext cx="2278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850058" y="4608165"/>
            <a:ext cx="2025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75758" y="4608165"/>
            <a:ext cx="6744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71500" y="5160615"/>
            <a:ext cx="2278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850058" y="5160615"/>
            <a:ext cx="2025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875758" y="5160615"/>
            <a:ext cx="67447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35305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952750"/>
            <a:ext cx="3530649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2952750"/>
            <a:ext cx="35305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125753" y="1952625"/>
            <a:ext cx="39404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Golden Rules for Data Scientists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262312" y="2381250"/>
            <a:ext cx="5667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Three core principles for evaluating Big Data statistical results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71525" y="3228975"/>
            <a:ext cx="313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71525" y="3695700"/>
            <a:ext cx="32869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Check Soundness First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71525" y="4029075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Garbage in, garbage out. Validate sampling fairness and data pipeline integrity before running any test.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530625" y="3228975"/>
            <a:ext cx="31305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530625" y="3695700"/>
            <a:ext cx="328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Never Trust p Alone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530625" y="4029075"/>
            <a:ext cx="31305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Big Data, $p &lt; 0.05$ is an engineering byproduct of large $N$. Always demand Effect Sizes &amp; Confidence Intervals.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289875" y="3228975"/>
            <a:ext cx="313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289875" y="3695700"/>
            <a:ext cx="32869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Demand Practical Impact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289875" y="4029075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Statistical significance proves a difference exists; Practical significance proves anybody should care.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