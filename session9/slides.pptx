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BDA Session 9. Today we go deep on two pillars of in-database analytics: SQL's native analytic power and MADlib's machine-learning library — both running where the data lives in Greenplum, with zero data movement.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Each part follows the same four-slide arc: what it is → key vocabulary → see it in code → how it's used at scale. Total runtime: 75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the audience: ask how many have written a GROUP BY only to realise they needed the individual rows too. That gap is exactly what window functions close. Greenplum's MPP engine means those functions fan out to dozens of nodes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DISTRIBUTED BY — it's the single most impactful tuning decision in Greenplum. A poor distribution key forces data to shuffle across the network for every query. Analytic window functions are fastest when the PARTITION BY column matches DISTRIBUTED BY.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window clause: PARTITION BY scopes the rank to one city per week; the SUM with ROWS BETWEEN gives a running total; LAG goes back one row per restaurant to get last week's number. Point out that all four windows evaluate in a single pass over the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 resonates with any finance or e-commerce audience. Emphasise the 13× speed gain came from nothing more than keeping the computation in the database — no infrastructure change, just smarter SQL.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question: 'What's the most expensive part of an ML pipeline?' Usually it's moving data. MADlib is the answer to that problem — bring the algorithm to the data, not the other way around.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mental shift: once students see that madlib.logregr_train() is just a SQL function call, the intimidation of 'doing ML' drops significantly. The model lives in a table; scoring is a SELECT. That's the whole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three steps: train → inspect → score. Point out that 'churn_model' is just a table — you can query it, version it, JOIN against it. The scoring SELECT runs in parallel across all Greenplum segments and returns in seconds even on hundreds of millions of rows.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story has two compelling angles: the 16× speed-up on the engineering side, and the 11% churn reduction on the business side. For a non-technical executive, the business impact is what lands. For engineers, the elimination of the Spark cluster is the hook.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the two topics together: advanced SQL gives you analytics power; MADlib gives you ML power. Both live in the database, both scale with Greenplum's parallelism, and both require only SQL to operate. That's the in-database analytics philosophy.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Encourage students to watch these videos after class — especially the MADlib series. The official MADlib docs include worked examples for every algorithm with sample SQL.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457200"/>
            <a:ext cx="10972800" cy="548640"/>
          </a:xfrm>
          <a:prstGeom prst="rect">
            <a:avLst/>
          </a:prstGeom>
          <a:noFill/>
        </p:spPr>
        <p:txBody>
          <a:bodyPr wrap="square">
            <a:spAutoFit/>
          </a:bodyPr>
          <a:lstStyle/>
          <a:p>
            <a:pPr algn="l"/>
            <a:r>
              <a:rPr sz="1800" b="1" i="0">
                <a:solidFill>
                  <a:srgbClr val="00D4FF"/>
                </a:solidFill>
              </a:rPr>
              <a:t>BDA SESSION</a:t>
            </a:r>
          </a:p>
        </p:txBody>
      </p:sp>
      <p:sp>
        <p:nvSpPr>
          <p:cNvPr id="3" name="TextBox 2"/>
          <p:cNvSpPr txBox="1"/>
          <p:nvPr/>
        </p:nvSpPr>
        <p:spPr>
          <a:xfrm>
            <a:off x="548640" y="1097280"/>
            <a:ext cx="10058400" cy="2011680"/>
          </a:xfrm>
          <a:prstGeom prst="rect">
            <a:avLst/>
          </a:prstGeom>
          <a:noFill/>
        </p:spPr>
        <p:txBody>
          <a:bodyPr wrap="square">
            <a:spAutoFit/>
          </a:bodyPr>
          <a:lstStyle/>
          <a:p>
            <a:pPr algn="l"/>
            <a:r>
              <a:rPr sz="4400" b="1" i="0">
                <a:solidFill>
                  <a:srgbClr val="FFFFFF"/>
                </a:solidFill>
              </a:rPr>
              <a:t>In-Database Analytics with
Advanced SQL &amp; MADlib</a:t>
            </a:r>
          </a:p>
        </p:txBody>
      </p:sp>
      <p:sp>
        <p:nvSpPr>
          <p:cNvPr id="4" name="Rectangle 3"/>
          <p:cNvSpPr/>
          <p:nvPr/>
        </p:nvSpPr>
        <p:spPr>
          <a:xfrm>
            <a:off x="548640" y="320040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337560"/>
            <a:ext cx="9144000" cy="457200"/>
          </a:xfrm>
          <a:prstGeom prst="rect">
            <a:avLst/>
          </a:prstGeom>
          <a:noFill/>
        </p:spPr>
        <p:txBody>
          <a:bodyPr wrap="square">
            <a:spAutoFit/>
          </a:bodyPr>
          <a:lstStyle/>
          <a:p>
            <a:pPr algn="l"/>
            <a:r>
              <a:rPr sz="1800" b="0" i="0">
                <a:solidFill>
                  <a:srgbClr val="8888AA"/>
                </a:solidFill>
              </a:rPr>
              <a:t>September 29, 2026  ·  Big Data Analytics  ·  Session 9</a:t>
            </a:r>
          </a:p>
        </p:txBody>
      </p:sp>
      <p:sp>
        <p:nvSpPr>
          <p:cNvPr id="6" name="TextBox 5"/>
          <p:cNvSpPr txBox="1"/>
          <p:nvPr/>
        </p:nvSpPr>
        <p:spPr>
          <a:xfrm>
            <a:off x="548640" y="3931920"/>
            <a:ext cx="10058400" cy="1371600"/>
          </a:xfrm>
          <a:prstGeom prst="rect">
            <a:avLst/>
          </a:prstGeom>
          <a:noFill/>
        </p:spPr>
        <p:txBody>
          <a:bodyPr wrap="square">
            <a:spAutoFit/>
          </a:bodyPr>
          <a:lstStyle/>
          <a:p>
            <a:pPr algn="l"/>
            <a:r>
              <a:rPr sz="2200" b="0" i="0">
                <a:solidFill>
                  <a:srgbClr val="E0E0E0"/>
                </a:solidFill>
              </a:rPr>
              <a:t>▸  Advanced SQL Window Functions &amp; Greenplum Extensions
▸  Apache MADlib: Machine Learning Inside the Database</a:t>
            </a:r>
          </a:p>
        </p:txBody>
      </p:sp>
      <p:sp>
        <p:nvSpPr>
          <p:cNvPr id="7" name="TextBox 6"/>
          <p:cNvSpPr txBox="1"/>
          <p:nvPr/>
        </p:nvSpPr>
        <p:spPr>
          <a:xfrm>
            <a:off x="548640" y="6217920"/>
            <a:ext cx="9144000" cy="365760"/>
          </a:xfrm>
          <a:prstGeom prst="rect">
            <a:avLst/>
          </a:prstGeom>
          <a:noFill/>
        </p:spPr>
        <p:txBody>
          <a:bodyPr wrap="square">
            <a:spAutoFit/>
          </a:bodyPr>
          <a:lstStyle/>
          <a:p>
            <a:pPr algn="l"/>
            <a:r>
              <a:rPr sz="1000" b="0" i="1">
                <a:solidFill>
                  <a:srgbClr val="8888AA"/>
                </a:solidFill>
              </a:rPr>
              <a:t>&lt;!-- synthesized: no transcript available — YouTube proxy blocked --&gt;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365760"/>
            <a:ext cx="10058400" cy="457200"/>
          </a:xfrm>
          <a:prstGeom prst="rect">
            <a:avLst/>
          </a:prstGeom>
          <a:noFill/>
        </p:spPr>
        <p:txBody>
          <a:bodyPr wrap="square">
            <a:spAutoFit/>
          </a:bodyPr>
          <a:lstStyle/>
          <a:p>
            <a:pPr algn="l"/>
            <a:r>
              <a:rPr sz="1800" b="1" i="0">
                <a:solidFill>
                  <a:srgbClr val="00D4FF"/>
                </a:solidFill>
              </a:rPr>
              <a:t>AGENDA</a:t>
            </a:r>
          </a:p>
        </p:txBody>
      </p:sp>
      <p:sp>
        <p:nvSpPr>
          <p:cNvPr id="3" name="TextBox 2"/>
          <p:cNvSpPr txBox="1"/>
          <p:nvPr/>
        </p:nvSpPr>
        <p:spPr>
          <a:xfrm>
            <a:off x="548640" y="822960"/>
            <a:ext cx="10058400" cy="640080"/>
          </a:xfrm>
          <a:prstGeom prst="rect">
            <a:avLst/>
          </a:prstGeom>
          <a:noFill/>
        </p:spPr>
        <p:txBody>
          <a:bodyPr wrap="square">
            <a:spAutoFit/>
          </a:bodyPr>
          <a:lstStyle/>
          <a:p>
            <a:pPr algn="l"/>
            <a:r>
              <a:rPr sz="3400" b="1" i="0">
                <a:solidFill>
                  <a:srgbClr val="FFFFFF"/>
                </a:solidFill>
              </a:rPr>
              <a:t>Today's Session</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0058400" cy="4114800"/>
          </a:xfrm>
          <a:prstGeom prst="rect">
            <a:avLst/>
          </a:prstGeom>
          <a:noFill/>
        </p:spPr>
        <p:txBody>
          <a:bodyPr wrap="square">
            <a:spAutoFit/>
          </a:bodyPr>
          <a:lstStyle/>
          <a:p>
            <a:pPr>
              <a:spcBef>
                <a:spcPts val="600"/>
              </a:spcBef>
            </a:pPr>
            <a:r>
              <a:rPr sz="2200">
                <a:solidFill>
                  <a:srgbClr val="E0E0E0"/>
                </a:solidFill>
              </a:rPr>
              <a:t>▸  Part 1 — Advanced SQL Functions &amp; Greenplum Extensions</a:t>
            </a:r>
          </a:p>
          <a:p>
            <a:pPr>
              <a:spcBef>
                <a:spcPts val="600"/>
              </a:spcBef>
            </a:pPr>
            <a:r>
              <a:rPr sz="2200">
                <a:solidFill>
                  <a:srgbClr val="E0E0E0"/>
                </a:solidFill>
              </a:rPr>
              <a:t>▸         Overview  ·  Key Concepts  ·  Code Demo  ·  Real-world Use Case</a:t>
            </a:r>
          </a:p>
          <a:p>
            <a:pPr>
              <a:spcBef>
                <a:spcPts val="600"/>
              </a:spcBef>
            </a:pPr>
            <a:r>
              <a:rPr sz="2200">
                <a:solidFill>
                  <a:srgbClr val="E0E0E0"/>
                </a:solidFill>
              </a:rPr>
              <a:t>▸  Part 2 — Apache MADlib: In-Database Machine Learning</a:t>
            </a:r>
          </a:p>
          <a:p>
            <a:pPr>
              <a:spcBef>
                <a:spcPts val="600"/>
              </a:spcBef>
            </a:pPr>
            <a:r>
              <a:rPr sz="2200">
                <a:solidFill>
                  <a:srgbClr val="E0E0E0"/>
                </a:solidFill>
              </a:rPr>
              <a:t>▸         Overview  ·  Key Concepts  ·  Code Demo  ·  Real-world Use Case</a:t>
            </a:r>
          </a:p>
          <a:p>
            <a:pPr>
              <a:spcBef>
                <a:spcPts val="600"/>
              </a:spcBef>
            </a:pPr>
            <a:r>
              <a:rPr sz="2200">
                <a:solidFill>
                  <a:srgbClr val="E0E0E0"/>
                </a:solidFill>
              </a:rPr>
              <a:t>▸  Wrap-up  ·  Summary &amp; Takeaways  ·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1 · ADVANCED SQL &amp; GREENPLUM</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Overview</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058400" cy="365760"/>
          </a:xfrm>
          <a:prstGeom prst="rect">
            <a:avLst/>
          </a:prstGeom>
          <a:noFill/>
        </p:spPr>
        <p:txBody>
          <a:bodyPr wrap="square">
            <a:spAutoFit/>
          </a:bodyPr>
          <a:lstStyle/>
          <a:p>
            <a:pPr algn="l"/>
            <a:r>
              <a:rPr sz="1800" b="1" i="0">
                <a:solidFill>
                  <a:srgbClr val="00D4FF"/>
                </a:solidFill>
              </a:rPr>
              <a:t>What it is:</a:t>
            </a:r>
          </a:p>
        </p:txBody>
      </p:sp>
      <p:sp>
        <p:nvSpPr>
          <p:cNvPr id="6" name="TextBox 5"/>
          <p:cNvSpPr txBox="1"/>
          <p:nvPr/>
        </p:nvSpPr>
        <p:spPr>
          <a:xfrm>
            <a:off x="640080" y="2103120"/>
            <a:ext cx="10515600" cy="1280160"/>
          </a:xfrm>
          <a:prstGeom prst="rect">
            <a:avLst/>
          </a:prstGeom>
          <a:noFill/>
        </p:spPr>
        <p:txBody>
          <a:bodyPr wrap="square">
            <a:spAutoFit/>
          </a:bodyPr>
          <a:lstStyle/>
          <a:p>
            <a:pPr algn="l"/>
            <a:r>
              <a:rPr sz="2000" b="0" i="0">
                <a:solidFill>
                  <a:srgbClr val="E0E0E0"/>
                </a:solidFill>
              </a:rPr>
              <a:t>SQL window functions let you compute aggregate values across a sliding "window" of rows — without collapsing the result set like a GROUP BY. In Greenplum's massively parallel processing (MPP) architecture, these functions execute across all segments simultaneously, making analytics that would take hours on a single node finish in seconds.</a:t>
            </a:r>
          </a:p>
        </p:txBody>
      </p:sp>
      <p:sp>
        <p:nvSpPr>
          <p:cNvPr id="7" name="TextBox 6"/>
          <p:cNvSpPr txBox="1"/>
          <p:nvPr/>
        </p:nvSpPr>
        <p:spPr>
          <a:xfrm>
            <a:off x="548640" y="3474720"/>
            <a:ext cx="10058400" cy="365760"/>
          </a:xfrm>
          <a:prstGeom prst="rect">
            <a:avLst/>
          </a:prstGeom>
          <a:noFill/>
        </p:spPr>
        <p:txBody>
          <a:bodyPr wrap="square">
            <a:spAutoFit/>
          </a:bodyPr>
          <a:lstStyle/>
          <a:p>
            <a:pPr algn="l"/>
            <a:r>
              <a:rPr sz="1800" b="1" i="0">
                <a:solidFill>
                  <a:srgbClr val="00D4FF"/>
                </a:solidFill>
              </a:rPr>
              <a:t>Why it matters at scale:</a:t>
            </a:r>
          </a:p>
        </p:txBody>
      </p:sp>
      <p:sp>
        <p:nvSpPr>
          <p:cNvPr id="8" name="TextBox 7"/>
          <p:cNvSpPr txBox="1"/>
          <p:nvPr/>
        </p:nvSpPr>
        <p:spPr>
          <a:xfrm>
            <a:off x="640080" y="3886200"/>
            <a:ext cx="10515600" cy="1828800"/>
          </a:xfrm>
          <a:prstGeom prst="rect">
            <a:avLst/>
          </a:prstGeom>
          <a:noFill/>
        </p:spPr>
        <p:txBody>
          <a:bodyPr wrap="square">
            <a:spAutoFit/>
          </a:bodyPr>
          <a:lstStyle/>
          <a:p>
            <a:pPr algn="l"/>
            <a:r>
              <a:rPr sz="2000" b="0" i="0">
                <a:solidFill>
                  <a:srgbClr val="E0E0E0"/>
                </a:solidFill>
              </a:rPr>
              <a:t>A platform like Zomato tracks hundreds of millions of orders. To rank each restaurant within its city by weekly revenue — updating in real time — you cannot afford to pull data into Python. A single RANK() OVER (PARTITION BY city ORDER BY revenue DESC) running on 96 Greenplum segments delivers that ranking in under 3 seconds. Without window functions, the equivalent self-join blows past memory limits and takes 40×  longer.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1 · ADVANCED SQL &amp; GREENPLUM</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Key Concepts</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247120" cy="4754880"/>
          </a:xfrm>
          <a:prstGeom prst="rect">
            <a:avLst/>
          </a:prstGeom>
          <a:noFill/>
        </p:spPr>
        <p:txBody>
          <a:bodyPr wrap="square">
            <a:spAutoFit/>
          </a:bodyPr>
          <a:lstStyle/>
          <a:p>
            <a:pPr>
              <a:spcBef>
                <a:spcPts val="600"/>
              </a:spcBef>
            </a:pPr>
            <a:r>
              <a:rPr sz="1900">
                <a:solidFill>
                  <a:srgbClr val="E0E0E0"/>
                </a:solidFill>
              </a:rPr>
              <a:t>▸  OVER() clause — defines the window; without it, the function becomes a plain aggregate</a:t>
            </a:r>
          </a:p>
          <a:p>
            <a:pPr>
              <a:spcBef>
                <a:spcPts val="600"/>
              </a:spcBef>
            </a:pPr>
            <a:r>
              <a:rPr sz="1900">
                <a:solidFill>
                  <a:srgbClr val="E0E0E0"/>
                </a:solidFill>
              </a:rPr>
              <a:t>▸  PARTITION BY — divides rows into independent groups (like GROUP BY, but rows are kept)</a:t>
            </a:r>
          </a:p>
          <a:p>
            <a:pPr>
              <a:spcBef>
                <a:spcPts val="600"/>
              </a:spcBef>
            </a:pPr>
            <a:r>
              <a:rPr sz="1900">
                <a:solidFill>
                  <a:srgbClr val="E0E0E0"/>
                </a:solidFill>
              </a:rPr>
              <a:t>▸  ORDER BY inside OVER — sets the frame ordering for ranking and running totals</a:t>
            </a:r>
          </a:p>
          <a:p>
            <a:pPr>
              <a:spcBef>
                <a:spcPts val="600"/>
              </a:spcBef>
            </a:pPr>
            <a:r>
              <a:rPr sz="1900">
                <a:solidFill>
                  <a:srgbClr val="E0E0E0"/>
                </a:solidFill>
              </a:rPr>
              <a:t>▸  RANK / DENSE_RANK / ROW_NUMBER — three flavours of ranking; DENSE_RANK never skips numbers</a:t>
            </a:r>
          </a:p>
          <a:p>
            <a:pPr>
              <a:spcBef>
                <a:spcPts val="600"/>
              </a:spcBef>
            </a:pPr>
            <a:r>
              <a:rPr sz="1900">
                <a:solidFill>
                  <a:srgbClr val="E0E0E0"/>
                </a:solidFill>
              </a:rPr>
              <a:t>▸  LAG / LEAD — look backward or forward N rows; essential for period-over-period comparisons</a:t>
            </a:r>
          </a:p>
          <a:p>
            <a:pPr>
              <a:spcBef>
                <a:spcPts val="600"/>
              </a:spcBef>
            </a:pPr>
            <a:r>
              <a:rPr sz="1900">
                <a:solidFill>
                  <a:srgbClr val="E0E0E0"/>
                </a:solidFill>
              </a:rPr>
              <a:t>▸  NTILE(n) — distributes rows into n equal buckets (e.g., quartiles, deciles)</a:t>
            </a:r>
          </a:p>
          <a:p>
            <a:pPr>
              <a:spcBef>
                <a:spcPts val="600"/>
              </a:spcBef>
            </a:pPr>
            <a:r>
              <a:rPr sz="1900">
                <a:solidFill>
                  <a:srgbClr val="E0E0E0"/>
                </a:solidFill>
              </a:rPr>
              <a:t>▸  PERCENTILE_DISC / PERCENTILE_CONT — exact vs. interpolated percentiles in one SQL call</a:t>
            </a:r>
          </a:p>
          <a:p>
            <a:pPr>
              <a:spcBef>
                <a:spcPts val="600"/>
              </a:spcBef>
            </a:pPr>
            <a:r>
              <a:rPr sz="1900">
                <a:solidFill>
                  <a:srgbClr val="E0E0E0"/>
                </a:solidFill>
              </a:rPr>
              <a:t>▸  Greenplum DISTRIBUTED BY — the distribution key decides which segment holds each row; choose wisely to avoid data skew and cross-segment movement during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1 · ADVANCED SQL &amp; GREENPLUM</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Code Demo — Window Functions in Action</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972800" cy="411480"/>
          </a:xfrm>
          <a:prstGeom prst="rect">
            <a:avLst/>
          </a:prstGeom>
          <a:noFill/>
        </p:spPr>
        <p:txBody>
          <a:bodyPr wrap="square">
            <a:spAutoFit/>
          </a:bodyPr>
          <a:lstStyle/>
          <a:p>
            <a:pPr algn="l"/>
            <a:r>
              <a:rPr sz="1900" b="0" i="0">
                <a:solidFill>
                  <a:srgbClr val="E0E0E0"/>
                </a:solidFill>
              </a:rPr>
              <a:t>Rank restaurants by weekly revenue within each city, and compare to prior week:</a:t>
            </a:r>
          </a:p>
        </p:txBody>
      </p:sp>
      <p:sp>
        <p:nvSpPr>
          <p:cNvPr id="6" name="TextBox 5"/>
          <p:cNvSpPr txBox="1"/>
          <p:nvPr/>
        </p:nvSpPr>
        <p:spPr>
          <a:xfrm>
            <a:off x="457200" y="2194560"/>
            <a:ext cx="11247120" cy="4297680"/>
          </a:xfrm>
          <a:prstGeom prst="rect">
            <a:avLst/>
          </a:prstGeom>
          <a:noFill/>
          <a:solidFill>
            <a:srgbClr val="0D1117"/>
          </a:solidFill>
        </p:spPr>
        <p:txBody>
          <a:bodyPr wrap="square">
            <a:spAutoFit/>
          </a:bodyPr>
          <a:lstStyle/>
          <a:p>
            <a:r>
              <a:rPr sz="1600">
                <a:solidFill>
                  <a:srgbClr val="7EE787"/>
                </a:solidFill>
                <a:latin typeface="Courier New"/>
              </a:rPr>
              <a:t>SELECT</a:t>
            </a:r>
          </a:p>
          <a:p>
            <a:r>
              <a:rPr sz="1600">
                <a:solidFill>
                  <a:srgbClr val="7EE787"/>
                </a:solidFill>
                <a:latin typeface="Courier New"/>
              </a:rPr>
              <a:t>    restaurant_id,</a:t>
            </a:r>
          </a:p>
          <a:p>
            <a:r>
              <a:rPr sz="1600">
                <a:solidFill>
                  <a:srgbClr val="7EE787"/>
                </a:solidFill>
                <a:latin typeface="Courier New"/>
              </a:rPr>
              <a:t>    city,</a:t>
            </a:r>
          </a:p>
          <a:p>
            <a:r>
              <a:rPr sz="1600">
                <a:solidFill>
                  <a:srgbClr val="7EE787"/>
                </a:solidFill>
                <a:latin typeface="Courier New"/>
              </a:rPr>
              <a:t>    week_ending,</a:t>
            </a:r>
          </a:p>
          <a:p>
            <a:r>
              <a:rPr sz="1600">
                <a:solidFill>
                  <a:srgbClr val="7EE787"/>
                </a:solidFill>
                <a:latin typeface="Courier New"/>
              </a:rPr>
              <a:t>    weekly_revenue,</a:t>
            </a:r>
          </a:p>
          <a:p>
            <a:r>
              <a:rPr sz="1600">
                <a:solidFill>
                  <a:srgbClr val="7EE787"/>
                </a:solidFill>
                <a:latin typeface="Courier New"/>
              </a:rPr>
              <a:t> </a:t>
            </a:r>
          </a:p>
          <a:p>
            <a:r>
              <a:rPr sz="1600">
                <a:solidFill>
                  <a:srgbClr val="7EE787"/>
                </a:solidFill>
                <a:latin typeface="Courier New"/>
              </a:rPr>
              <a:t>    -- Rank within city this week (ties share the same rank)</a:t>
            </a:r>
          </a:p>
          <a:p>
            <a:r>
              <a:rPr sz="1600">
                <a:solidFill>
                  <a:srgbClr val="7EE787"/>
                </a:solidFill>
                <a:latin typeface="Courier New"/>
              </a:rPr>
              <a:t>    RANK() OVER (</a:t>
            </a:r>
          </a:p>
          <a:p>
            <a:r>
              <a:rPr sz="1600">
                <a:solidFill>
                  <a:srgbClr val="7EE787"/>
                </a:solidFill>
                <a:latin typeface="Courier New"/>
              </a:rPr>
              <a:t>        PARTITION BY city, week_ending</a:t>
            </a:r>
          </a:p>
          <a:p>
            <a:r>
              <a:rPr sz="1600">
                <a:solidFill>
                  <a:srgbClr val="7EE787"/>
                </a:solidFill>
                <a:latin typeface="Courier New"/>
              </a:rPr>
              <a:t>        ORDER BY weekly_revenue DESC</a:t>
            </a:r>
          </a:p>
          <a:p>
            <a:r>
              <a:rPr sz="1600">
                <a:solidFill>
                  <a:srgbClr val="7EE787"/>
                </a:solidFill>
                <a:latin typeface="Courier New"/>
              </a:rPr>
              <a:t>    ) AS city_rank,</a:t>
            </a:r>
          </a:p>
          <a:p>
            <a:r>
              <a:rPr sz="1600">
                <a:solidFill>
                  <a:srgbClr val="7EE787"/>
                </a:solidFill>
                <a:latin typeface="Courier New"/>
              </a:rPr>
              <a:t> </a:t>
            </a:r>
          </a:p>
          <a:p>
            <a:r>
              <a:rPr sz="1600">
                <a:solidFill>
                  <a:srgbClr val="7EE787"/>
                </a:solidFill>
                <a:latin typeface="Courier New"/>
              </a:rPr>
              <a:t>    -- Running total within city across weeks</a:t>
            </a:r>
          </a:p>
          <a:p>
            <a:r>
              <a:rPr sz="1600">
                <a:solidFill>
                  <a:srgbClr val="7EE787"/>
                </a:solidFill>
                <a:latin typeface="Courier New"/>
              </a:rPr>
              <a:t>    SUM(weekly_revenue) OVER (</a:t>
            </a:r>
          </a:p>
          <a:p>
            <a:r>
              <a:rPr sz="1600">
                <a:solidFill>
                  <a:srgbClr val="7EE787"/>
                </a:solidFill>
                <a:latin typeface="Courier New"/>
              </a:rPr>
              <a:t>        PARTITION BY city, restaurant_id</a:t>
            </a:r>
          </a:p>
          <a:p>
            <a:r>
              <a:rPr sz="1600">
                <a:solidFill>
                  <a:srgbClr val="7EE787"/>
                </a:solidFill>
                <a:latin typeface="Courier New"/>
              </a:rPr>
              <a:t>        ORDER BY week_ending</a:t>
            </a:r>
          </a:p>
          <a:p>
            <a:r>
              <a:rPr sz="1600">
                <a:solidFill>
                  <a:srgbClr val="7EE787"/>
                </a:solidFill>
                <a:latin typeface="Courier New"/>
              </a:rPr>
              <a:t>        ROWS BETWEEN UNBOUNDED PRECEDING AND CURRENT ROW</a:t>
            </a:r>
          </a:p>
          <a:p>
            <a:r>
              <a:rPr sz="1600">
                <a:solidFill>
                  <a:srgbClr val="7EE787"/>
                </a:solidFill>
                <a:latin typeface="Courier New"/>
              </a:rPr>
              <a:t>    ) AS cumulative_revenue,</a:t>
            </a:r>
          </a:p>
          <a:p>
            <a:r>
              <a:rPr sz="1600">
                <a:solidFill>
                  <a:srgbClr val="7EE787"/>
                </a:solidFill>
                <a:latin typeface="Courier New"/>
              </a:rPr>
              <a:t> </a:t>
            </a:r>
          </a:p>
          <a:p>
            <a:r>
              <a:rPr sz="1600">
                <a:solidFill>
                  <a:srgbClr val="7EE787"/>
                </a:solidFill>
                <a:latin typeface="Courier New"/>
              </a:rPr>
              <a:t>    -- Week-over-week change (look back 1 row per restaurant)</a:t>
            </a:r>
          </a:p>
          <a:p>
            <a:r>
              <a:rPr sz="1600">
                <a:solidFill>
                  <a:srgbClr val="7EE787"/>
                </a:solidFill>
                <a:latin typeface="Courier New"/>
              </a:rPr>
              <a:t>    weekly_revenue</a:t>
            </a:r>
          </a:p>
          <a:p>
            <a:r>
              <a:rPr sz="1600">
                <a:solidFill>
                  <a:srgbClr val="7EE787"/>
                </a:solidFill>
                <a:latin typeface="Courier New"/>
              </a:rPr>
              <a:t>      - LAG(weekly_revenue, 1) OVER (</a:t>
            </a:r>
          </a:p>
          <a:p>
            <a:r>
              <a:rPr sz="1600">
                <a:solidFill>
                  <a:srgbClr val="7EE787"/>
                </a:solidFill>
                <a:latin typeface="Courier New"/>
              </a:rPr>
              <a:t>            PARTITION BY restaurant_id</a:t>
            </a:r>
          </a:p>
          <a:p>
            <a:r>
              <a:rPr sz="1600">
                <a:solidFill>
                  <a:srgbClr val="7EE787"/>
                </a:solidFill>
                <a:latin typeface="Courier New"/>
              </a:rPr>
              <a:t>            ORDER BY week_ending</a:t>
            </a:r>
          </a:p>
          <a:p>
            <a:r>
              <a:rPr sz="1600">
                <a:solidFill>
                  <a:srgbClr val="7EE787"/>
                </a:solidFill>
                <a:latin typeface="Courier New"/>
              </a:rPr>
              <a:t>        ) AS wow_delta,</a:t>
            </a:r>
          </a:p>
          <a:p>
            <a:r>
              <a:rPr sz="1600">
                <a:solidFill>
                  <a:srgbClr val="7EE787"/>
                </a:solidFill>
                <a:latin typeface="Courier New"/>
              </a:rPr>
              <a:t> </a:t>
            </a:r>
          </a:p>
          <a:p>
            <a:r>
              <a:rPr sz="1600">
                <a:solidFill>
                  <a:srgbClr val="7EE787"/>
                </a:solidFill>
                <a:latin typeface="Courier New"/>
              </a:rPr>
              <a:t>    -- Which decile does this restaurant fall in? (1=top 10%)</a:t>
            </a:r>
          </a:p>
          <a:p>
            <a:r>
              <a:rPr sz="1600">
                <a:solidFill>
                  <a:srgbClr val="7EE787"/>
                </a:solidFill>
                <a:latin typeface="Courier New"/>
              </a:rPr>
              <a:t>    NTILE(10) OVER (</a:t>
            </a:r>
          </a:p>
          <a:p>
            <a:r>
              <a:rPr sz="1600">
                <a:solidFill>
                  <a:srgbClr val="7EE787"/>
                </a:solidFill>
                <a:latin typeface="Courier New"/>
              </a:rPr>
              <a:t>        PARTITION BY city, week_ending</a:t>
            </a:r>
          </a:p>
          <a:p>
            <a:r>
              <a:rPr sz="1600">
                <a:solidFill>
                  <a:srgbClr val="7EE787"/>
                </a:solidFill>
                <a:latin typeface="Courier New"/>
              </a:rPr>
              <a:t>        ORDER BY weekly_revenue DESC</a:t>
            </a:r>
          </a:p>
          <a:p>
            <a:r>
              <a:rPr sz="1600">
                <a:solidFill>
                  <a:srgbClr val="7EE787"/>
                </a:solidFill>
                <a:latin typeface="Courier New"/>
              </a:rPr>
              <a:t>    ) AS revenue_decile</a:t>
            </a:r>
          </a:p>
          <a:p>
            <a:r>
              <a:rPr sz="1600">
                <a:solidFill>
                  <a:srgbClr val="7EE787"/>
                </a:solidFill>
                <a:latin typeface="Courier New"/>
              </a:rPr>
              <a:t> </a:t>
            </a:r>
          </a:p>
          <a:p>
            <a:r>
              <a:rPr sz="1600">
                <a:solidFill>
                  <a:srgbClr val="7EE787"/>
                </a:solidFill>
                <a:latin typeface="Courier New"/>
              </a:rPr>
              <a:t>FROM restaurant_weekly_sales</a:t>
            </a:r>
          </a:p>
          <a:p>
            <a:r>
              <a:rPr sz="1600">
                <a:solidFill>
                  <a:srgbClr val="7EE787"/>
                </a:solidFill>
                <a:latin typeface="Courier New"/>
              </a:rPr>
              <a:t>ORDER BY city, week_ending, city_rank;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1 · ADVANCED SQL &amp; GREENPLUM</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Real-World Use Case</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972800" cy="457200"/>
          </a:xfrm>
          <a:prstGeom prst="rect">
            <a:avLst/>
          </a:prstGeom>
          <a:noFill/>
        </p:spPr>
        <p:txBody>
          <a:bodyPr wrap="square">
            <a:spAutoFit/>
          </a:bodyPr>
          <a:lstStyle/>
          <a:p>
            <a:pPr algn="l"/>
            <a:r>
              <a:rPr sz="2400" b="1" i="0">
                <a:solidFill>
                  <a:srgbClr val="00D4FF"/>
                </a:solidFill>
              </a:rPr>
              <a:t>Capital One — Real-Time Transaction Anomaly Scoring</a:t>
            </a:r>
          </a:p>
        </p:txBody>
      </p:sp>
      <p:sp>
        <p:nvSpPr>
          <p:cNvPr id="6" name="TextBox 5"/>
          <p:cNvSpPr txBox="1"/>
          <p:nvPr/>
        </p:nvSpPr>
        <p:spPr>
          <a:xfrm>
            <a:off x="640080" y="2240280"/>
            <a:ext cx="10972800" cy="4114800"/>
          </a:xfrm>
          <a:prstGeom prst="rect">
            <a:avLst/>
          </a:prstGeom>
          <a:noFill/>
        </p:spPr>
        <p:txBody>
          <a:bodyPr wrap="square">
            <a:spAutoFit/>
          </a:bodyPr>
          <a:lstStyle/>
          <a:p>
            <a:pPr algn="l"/>
            <a:r>
              <a:rPr sz="2000" b="0" i="0">
                <a:solidFill>
                  <a:srgbClr val="E0E0E0"/>
                </a:solidFill>
              </a:rPr>
              <a:t>SCENARIO: 800 million credit-card transactions per month; fraud team needs per-customer percentile scores to flag anomalous spend — recalculated nightly.
APPROACH: PERCENTILE_DISC(0.95) OVER (PARTITION BY customer_id ORDER BY txn_amount) runs in Greenplum across 128 segments — no data leaves the warehouse.
RESULT: Nightly batch that previously required a Spark cluster + 4 hours of ETL now completes in 18 minutes as a single SQL job. Fraud-team analysts write the query themselves in standard SQL — no Python or Spark expertise required.
LESSON: Move the computation to the data. In-database analytics eliminates the extract→transform→load cycle that is the #1 source of latency in analytical pipelines.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2 · APACHE MADlib</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Overview</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058400" cy="365760"/>
          </a:xfrm>
          <a:prstGeom prst="rect">
            <a:avLst/>
          </a:prstGeom>
          <a:noFill/>
        </p:spPr>
        <p:txBody>
          <a:bodyPr wrap="square">
            <a:spAutoFit/>
          </a:bodyPr>
          <a:lstStyle/>
          <a:p>
            <a:pPr algn="l"/>
            <a:r>
              <a:rPr sz="1800" b="1" i="0">
                <a:solidFill>
                  <a:srgbClr val="00D4FF"/>
                </a:solidFill>
              </a:rPr>
              <a:t>What it is:</a:t>
            </a:r>
          </a:p>
        </p:txBody>
      </p:sp>
      <p:sp>
        <p:nvSpPr>
          <p:cNvPr id="6" name="TextBox 5"/>
          <p:cNvSpPr txBox="1"/>
          <p:nvPr/>
        </p:nvSpPr>
        <p:spPr>
          <a:xfrm>
            <a:off x="640080" y="2103120"/>
            <a:ext cx="10515600" cy="1371600"/>
          </a:xfrm>
          <a:prstGeom prst="rect">
            <a:avLst/>
          </a:prstGeom>
          <a:noFill/>
        </p:spPr>
        <p:txBody>
          <a:bodyPr wrap="square">
            <a:spAutoFit/>
          </a:bodyPr>
          <a:lstStyle/>
          <a:p>
            <a:pPr algn="l"/>
            <a:r>
              <a:rPr sz="2000" b="0" i="0">
                <a:solidFill>
                  <a:srgbClr val="E0E0E0"/>
                </a:solidFill>
              </a:rPr>
              <a:t>Apache MADlib is an open-source library of machine-learning algorithms that run directly inside PostgreSQL and Greenplum — invoked through standard SQL functions. There is no model server, no Python process, no data copy. The training data stays in the database; MADlib ships the algorithm to where the data lives.</a:t>
            </a:r>
          </a:p>
        </p:txBody>
      </p:sp>
      <p:sp>
        <p:nvSpPr>
          <p:cNvPr id="7" name="TextBox 6"/>
          <p:cNvSpPr txBox="1"/>
          <p:nvPr/>
        </p:nvSpPr>
        <p:spPr>
          <a:xfrm>
            <a:off x="548640" y="3566160"/>
            <a:ext cx="10058400" cy="365760"/>
          </a:xfrm>
          <a:prstGeom prst="rect">
            <a:avLst/>
          </a:prstGeom>
          <a:noFill/>
        </p:spPr>
        <p:txBody>
          <a:bodyPr wrap="square">
            <a:spAutoFit/>
          </a:bodyPr>
          <a:lstStyle/>
          <a:p>
            <a:pPr algn="l"/>
            <a:r>
              <a:rPr sz="1800" b="1" i="0">
                <a:solidFill>
                  <a:srgbClr val="00D4FF"/>
                </a:solidFill>
              </a:rPr>
              <a:t>Why it matters at scale:</a:t>
            </a:r>
          </a:p>
        </p:txBody>
      </p:sp>
      <p:sp>
        <p:nvSpPr>
          <p:cNvPr id="8" name="TextBox 7"/>
          <p:cNvSpPr txBox="1"/>
          <p:nvPr/>
        </p:nvSpPr>
        <p:spPr>
          <a:xfrm>
            <a:off x="640080" y="3977639"/>
            <a:ext cx="10515600" cy="2377440"/>
          </a:xfrm>
          <a:prstGeom prst="rect">
            <a:avLst/>
          </a:prstGeom>
          <a:noFill/>
        </p:spPr>
        <p:txBody>
          <a:bodyPr wrap="square">
            <a:spAutoFit/>
          </a:bodyPr>
          <a:lstStyle/>
          <a:p>
            <a:pPr algn="l"/>
            <a:r>
              <a:rPr sz="2000" b="0" i="0">
                <a:solidFill>
                  <a:srgbClr val="E0E0E0"/>
                </a:solidFill>
              </a:rPr>
              <a:t>Traditional ML pipelines extract training data to a data-science environment (Spark, scikit-learn, SageMaker), train a model, serialize it, and deploy it elsewhere. For a retailer with 10 TB of customer history, that ETL alone takes 2–6 hours. MADlib eliminates the extract step entirely — a logistic-regression model on 50 million rows trains in under 4 minutes because Greenplum's 64 segments compute it in parallel, each touching only their local slice of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2 · APACHE MADlib</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Key Concepts</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247120" cy="4754880"/>
          </a:xfrm>
          <a:prstGeom prst="rect">
            <a:avLst/>
          </a:prstGeom>
          <a:noFill/>
        </p:spPr>
        <p:txBody>
          <a:bodyPr wrap="square">
            <a:spAutoFit/>
          </a:bodyPr>
          <a:lstStyle/>
          <a:p>
            <a:pPr>
              <a:spcBef>
                <a:spcPts val="600"/>
              </a:spcBef>
            </a:pPr>
            <a:r>
              <a:rPr sz="1800">
                <a:solidFill>
                  <a:srgbClr val="E0E0E0"/>
                </a:solidFill>
              </a:rPr>
              <a:t>▸  In-database ML — algorithms expressed as SQL UDFs; the optimizer parallelises them automatically</a:t>
            </a:r>
          </a:p>
          <a:p>
            <a:pPr>
              <a:spcBef>
                <a:spcPts val="600"/>
              </a:spcBef>
            </a:pPr>
            <a:r>
              <a:rPr sz="1800">
                <a:solidFill>
                  <a:srgbClr val="E0E0E0"/>
                </a:solidFill>
              </a:rPr>
              <a:t>▸  madlib.linregr_train() — ordinary least-squares regression; outputs coefficients, p-values, R²</a:t>
            </a:r>
          </a:p>
          <a:p>
            <a:pPr>
              <a:spcBef>
                <a:spcPts val="600"/>
              </a:spcBef>
            </a:pPr>
            <a:r>
              <a:rPr sz="1800">
                <a:solidFill>
                  <a:srgbClr val="E0E0E0"/>
                </a:solidFill>
              </a:rPr>
              <a:t>▸  madlib.logregr_train() — logistic regression for binary classification (e.g., churn yes/no)</a:t>
            </a:r>
          </a:p>
          <a:p>
            <a:pPr>
              <a:spcBef>
                <a:spcPts val="600"/>
              </a:spcBef>
            </a:pPr>
            <a:r>
              <a:rPr sz="1800">
                <a:solidFill>
                  <a:srgbClr val="E0E0E0"/>
                </a:solidFill>
              </a:rPr>
              <a:t>▸  madlib.kmeans() — k-means clustering; partitions rows into k groups by feature distance</a:t>
            </a:r>
          </a:p>
          <a:p>
            <a:pPr>
              <a:spcBef>
                <a:spcPts val="600"/>
              </a:spcBef>
            </a:pPr>
            <a:r>
              <a:rPr sz="1800">
                <a:solidFill>
                  <a:srgbClr val="E0E0E0"/>
                </a:solidFill>
              </a:rPr>
              <a:t>▸  madlib.svm_train() — support vector machine; handles non-linear boundaries via kernel trick</a:t>
            </a:r>
          </a:p>
          <a:p>
            <a:pPr>
              <a:spcBef>
                <a:spcPts val="600"/>
              </a:spcBef>
            </a:pPr>
            <a:r>
              <a:rPr sz="1800">
                <a:solidFill>
                  <a:srgbClr val="E0E0E0"/>
                </a:solidFill>
              </a:rPr>
              <a:t>▸  madlib.naive_bayes_train() — probabilistic classifier; extremely fast, good baseline for text</a:t>
            </a:r>
          </a:p>
          <a:p>
            <a:pPr>
              <a:spcBef>
                <a:spcPts val="600"/>
              </a:spcBef>
            </a:pPr>
            <a:r>
              <a:rPr sz="1800">
                <a:solidFill>
                  <a:srgbClr val="E0E0E0"/>
                </a:solidFill>
              </a:rPr>
              <a:t>▸  madlib.arima_train() — time-series forecasting directly in SQL</a:t>
            </a:r>
          </a:p>
          <a:p>
            <a:pPr>
              <a:spcBef>
                <a:spcPts val="600"/>
              </a:spcBef>
            </a:pPr>
            <a:r>
              <a:rPr sz="1800">
                <a:solidFill>
                  <a:srgbClr val="E0E0E0"/>
                </a:solidFill>
              </a:rPr>
              <a:t>▸  Parallel gradient descent — MADlib's optimisers distribute weight updates across segments, converging in fewer passes than single-node training</a:t>
            </a:r>
          </a:p>
          <a:p>
            <a:pPr>
              <a:spcBef>
                <a:spcPts val="600"/>
              </a:spcBef>
            </a:pPr>
            <a:r>
              <a:rPr sz="1800">
                <a:solidFill>
                  <a:srgbClr val="E0E0E0"/>
                </a:solidFill>
              </a:rPr>
              <a:t>▸  Scoring in SQL — after training, madlib.logregr_predict() scores new rows with a SELECT; no model export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2 · APACHE MADlib</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Code Demo — Logistic Regression in SQL</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972800" cy="411480"/>
          </a:xfrm>
          <a:prstGeom prst="rect">
            <a:avLst/>
          </a:prstGeom>
          <a:noFill/>
        </p:spPr>
        <p:txBody>
          <a:bodyPr wrap="square">
            <a:spAutoFit/>
          </a:bodyPr>
          <a:lstStyle/>
          <a:p>
            <a:pPr algn="l"/>
            <a:r>
              <a:rPr sz="1900" b="0" i="0">
                <a:solidFill>
                  <a:srgbClr val="E0E0E0"/>
                </a:solidFill>
              </a:rPr>
              <a:t>Train a churn-prediction model and score customers — entirely in SQL:</a:t>
            </a:r>
          </a:p>
        </p:txBody>
      </p:sp>
      <p:sp>
        <p:nvSpPr>
          <p:cNvPr id="6" name="TextBox 5"/>
          <p:cNvSpPr txBox="1"/>
          <p:nvPr/>
        </p:nvSpPr>
        <p:spPr>
          <a:xfrm>
            <a:off x="365760" y="2194560"/>
            <a:ext cx="11338560" cy="4297680"/>
          </a:xfrm>
          <a:prstGeom prst="rect">
            <a:avLst/>
          </a:prstGeom>
          <a:noFill/>
          <a:solidFill>
            <a:srgbClr val="0D1117"/>
          </a:solidFill>
        </p:spPr>
        <p:txBody>
          <a:bodyPr wrap="square">
            <a:spAutoFit/>
          </a:bodyPr>
          <a:lstStyle/>
          <a:p>
            <a:r>
              <a:rPr sz="1600">
                <a:solidFill>
                  <a:srgbClr val="7EE787"/>
                </a:solidFill>
                <a:latin typeface="Courier New"/>
              </a:rPr>
              <a:t>-- STEP 1: Train the model</a:t>
            </a:r>
          </a:p>
          <a:p>
            <a:r>
              <a:rPr sz="1600">
                <a:solidFill>
                  <a:srgbClr val="7EE787"/>
                </a:solidFill>
                <a:latin typeface="Courier New"/>
              </a:rPr>
              <a:t>--   source_table : training data</a:t>
            </a:r>
          </a:p>
          <a:p>
            <a:r>
              <a:rPr sz="1600">
                <a:solidFill>
                  <a:srgbClr val="7EE787"/>
                </a:solidFill>
                <a:latin typeface="Courier New"/>
              </a:rPr>
              <a:t>--   out_table    : where MADlib writes coefficients</a:t>
            </a:r>
          </a:p>
          <a:p>
            <a:r>
              <a:rPr sz="1600">
                <a:solidFill>
                  <a:srgbClr val="7EE787"/>
                </a:solidFill>
                <a:latin typeface="Courier New"/>
              </a:rPr>
              <a:t>--   dep_varname  : binary label (1 = churned, 0 = retained)</a:t>
            </a:r>
          </a:p>
          <a:p>
            <a:r>
              <a:rPr sz="1600">
                <a:solidFill>
                  <a:srgbClr val="7EE787"/>
                </a:solidFill>
                <a:latin typeface="Courier New"/>
              </a:rPr>
              <a:t>--   indep_varname: feature array</a:t>
            </a:r>
          </a:p>
          <a:p>
            <a:r>
              <a:rPr sz="1600">
                <a:solidFill>
                  <a:srgbClr val="7EE787"/>
                </a:solidFill>
                <a:latin typeface="Courier New"/>
              </a:rPr>
              <a:t>SELECT madlib.logregr_train(</a:t>
            </a:r>
          </a:p>
          <a:p>
            <a:r>
              <a:rPr sz="1600">
                <a:solidFill>
                  <a:srgbClr val="7EE787"/>
                </a:solidFill>
                <a:latin typeface="Courier New"/>
              </a:rPr>
              <a:t>    'customer_features',           -- source table</a:t>
            </a:r>
          </a:p>
          <a:p>
            <a:r>
              <a:rPr sz="1600">
                <a:solidFill>
                  <a:srgbClr val="7EE787"/>
                </a:solidFill>
                <a:latin typeface="Courier New"/>
              </a:rPr>
              <a:t>    'churn_model',                 -- output table (created by MADlib)</a:t>
            </a:r>
          </a:p>
          <a:p>
            <a:r>
              <a:rPr sz="1600">
                <a:solidFill>
                  <a:srgbClr val="7EE787"/>
                </a:solidFill>
                <a:latin typeface="Courier New"/>
              </a:rPr>
              <a:t>    'churned',                     -- dependent variable (0/1)</a:t>
            </a:r>
          </a:p>
          <a:p>
            <a:r>
              <a:rPr sz="1600">
                <a:solidFill>
                  <a:srgbClr val="7EE787"/>
                </a:solidFill>
                <a:latin typeface="Courier New"/>
              </a:rPr>
              <a:t>    'ARRAY[tenure_months, monthly_spend,</a:t>
            </a:r>
          </a:p>
          <a:p>
            <a:r>
              <a:rPr sz="1600">
                <a:solidFill>
                  <a:srgbClr val="7EE787"/>
                </a:solidFill>
                <a:latin typeface="Courier New"/>
              </a:rPr>
              <a:t>            support_tickets, login_freq_30d]',</a:t>
            </a:r>
          </a:p>
          <a:p>
            <a:r>
              <a:rPr sz="1600">
                <a:solidFill>
                  <a:srgbClr val="7EE787"/>
                </a:solidFill>
                <a:latin typeface="Courier New"/>
              </a:rPr>
              <a:t>    NULL,                          -- grouping column (none)</a:t>
            </a:r>
          </a:p>
          <a:p>
            <a:r>
              <a:rPr sz="1600">
                <a:solidFill>
                  <a:srgbClr val="7EE787"/>
                </a:solidFill>
                <a:latin typeface="Courier New"/>
              </a:rPr>
              <a:t>    20,                            -- max iterations</a:t>
            </a:r>
          </a:p>
          <a:p>
            <a:r>
              <a:rPr sz="1600">
                <a:solidFill>
                  <a:srgbClr val="7EE787"/>
                </a:solidFill>
                <a:latin typeface="Courier New"/>
              </a:rPr>
              <a:t>    'irls'                         -- optimiser: iteratively reweighted LS</a:t>
            </a:r>
          </a:p>
          <a:p>
            <a:r>
              <a:rPr sz="1600">
                <a:solidFill>
                  <a:srgbClr val="7EE787"/>
                </a:solidFill>
                <a:latin typeface="Courier New"/>
              </a:rPr>
              <a:t>);</a:t>
            </a:r>
          </a:p>
          <a:p>
            <a:r>
              <a:rPr sz="1600">
                <a:solidFill>
                  <a:srgbClr val="7EE787"/>
                </a:solidFill>
                <a:latin typeface="Courier New"/>
              </a:rPr>
              <a:t> </a:t>
            </a:r>
          </a:p>
          <a:p>
            <a:r>
              <a:rPr sz="1600">
                <a:solidFill>
                  <a:srgbClr val="7EE787"/>
                </a:solidFill>
                <a:latin typeface="Courier New"/>
              </a:rPr>
              <a:t>-- STEP 2: Inspect coefficients and model quality</a:t>
            </a:r>
          </a:p>
          <a:p>
            <a:r>
              <a:rPr sz="1600">
                <a:solidFill>
                  <a:srgbClr val="7EE787"/>
                </a:solidFill>
                <a:latin typeface="Courier New"/>
              </a:rPr>
              <a:t>SELECT unnest(ARRAY['tenure','spend','tickets','logins'])</a:t>
            </a:r>
          </a:p>
          <a:p>
            <a:r>
              <a:rPr sz="1600">
                <a:solidFill>
                  <a:srgbClr val="7EE787"/>
                </a:solidFill>
                <a:latin typeface="Courier New"/>
              </a:rPr>
              <a:t>           AS feature,</a:t>
            </a:r>
          </a:p>
          <a:p>
            <a:r>
              <a:rPr sz="1600">
                <a:solidFill>
                  <a:srgbClr val="7EE787"/>
                </a:solidFill>
                <a:latin typeface="Courier New"/>
              </a:rPr>
              <a:t>       unnest(coef)                AS coefficient,</a:t>
            </a:r>
          </a:p>
          <a:p>
            <a:r>
              <a:rPr sz="1600">
                <a:solidFill>
                  <a:srgbClr val="7EE787"/>
                </a:solidFill>
                <a:latin typeface="Courier New"/>
              </a:rPr>
              <a:t>       unnest(p_values)            AS p_value</a:t>
            </a:r>
          </a:p>
          <a:p>
            <a:r>
              <a:rPr sz="1600">
                <a:solidFill>
                  <a:srgbClr val="7EE787"/>
                </a:solidFill>
                <a:latin typeface="Courier New"/>
              </a:rPr>
              <a:t>FROM   churn_model;</a:t>
            </a:r>
          </a:p>
          <a:p>
            <a:r>
              <a:rPr sz="1600">
                <a:solidFill>
                  <a:srgbClr val="7EE787"/>
                </a:solidFill>
                <a:latin typeface="Courier New"/>
              </a:rPr>
              <a:t> </a:t>
            </a:r>
          </a:p>
          <a:p>
            <a:r>
              <a:rPr sz="1600">
                <a:solidFill>
                  <a:srgbClr val="7EE787"/>
                </a:solidFill>
                <a:latin typeface="Courier New"/>
              </a:rPr>
              <a:t>-- STEP 3: Score every customer in the live table</a:t>
            </a:r>
          </a:p>
          <a:p>
            <a:r>
              <a:rPr sz="1600">
                <a:solidFill>
                  <a:srgbClr val="7EE787"/>
                </a:solidFill>
                <a:latin typeface="Courier New"/>
              </a:rPr>
              <a:t>SELECT customer_id,</a:t>
            </a:r>
          </a:p>
          <a:p>
            <a:r>
              <a:rPr sz="1600">
                <a:solidFill>
                  <a:srgbClr val="7EE787"/>
                </a:solidFill>
                <a:latin typeface="Courier New"/>
              </a:rPr>
              <a:t>       madlib.logregr_predict(</a:t>
            </a:r>
          </a:p>
          <a:p>
            <a:r>
              <a:rPr sz="1600">
                <a:solidFill>
                  <a:srgbClr val="7EE787"/>
                </a:solidFill>
                <a:latin typeface="Courier New"/>
              </a:rPr>
              <a:t>           coef,</a:t>
            </a:r>
          </a:p>
          <a:p>
            <a:r>
              <a:rPr sz="1600">
                <a:solidFill>
                  <a:srgbClr val="7EE787"/>
                </a:solidFill>
                <a:latin typeface="Courier New"/>
              </a:rPr>
              <a:t>           ARRAY[tenure_months, monthly_spend,</a:t>
            </a:r>
          </a:p>
          <a:p>
            <a:r>
              <a:rPr sz="1600">
                <a:solidFill>
                  <a:srgbClr val="7EE787"/>
                </a:solidFill>
                <a:latin typeface="Courier New"/>
              </a:rPr>
              <a:t>                 support_tickets, login_freq_30d]</a:t>
            </a:r>
          </a:p>
          <a:p>
            <a:r>
              <a:rPr sz="1600">
                <a:solidFill>
                  <a:srgbClr val="7EE787"/>
                </a:solidFill>
                <a:latin typeface="Courier New"/>
              </a:rPr>
              <a:t>       ) AS predicted_churn,</a:t>
            </a:r>
          </a:p>
          <a:p>
            <a:r>
              <a:rPr sz="1600">
                <a:solidFill>
                  <a:srgbClr val="7EE787"/>
                </a:solidFill>
                <a:latin typeface="Courier New"/>
              </a:rPr>
              <a:t>       madlib.logregr_predict_prob(</a:t>
            </a:r>
          </a:p>
          <a:p>
            <a:r>
              <a:rPr sz="1600">
                <a:solidFill>
                  <a:srgbClr val="7EE787"/>
                </a:solidFill>
                <a:latin typeface="Courier New"/>
              </a:rPr>
              <a:t>           coef,</a:t>
            </a:r>
          </a:p>
          <a:p>
            <a:r>
              <a:rPr sz="1600">
                <a:solidFill>
                  <a:srgbClr val="7EE787"/>
                </a:solidFill>
                <a:latin typeface="Courier New"/>
              </a:rPr>
              <a:t>           ARRAY[tenure_months, monthly_spend,</a:t>
            </a:r>
          </a:p>
          <a:p>
            <a:r>
              <a:rPr sz="1600">
                <a:solidFill>
                  <a:srgbClr val="7EE787"/>
                </a:solidFill>
                <a:latin typeface="Courier New"/>
              </a:rPr>
              <a:t>                 support_tickets, login_freq_30d]</a:t>
            </a:r>
          </a:p>
          <a:p>
            <a:r>
              <a:rPr sz="1600">
                <a:solidFill>
                  <a:srgbClr val="7EE787"/>
                </a:solidFill>
                <a:latin typeface="Courier New"/>
              </a:rPr>
              <a:t>       ) AS churn_probability</a:t>
            </a:r>
          </a:p>
          <a:p>
            <a:r>
              <a:rPr sz="1600">
                <a:solidFill>
                  <a:srgbClr val="7EE787"/>
                </a:solidFill>
                <a:latin typeface="Courier New"/>
              </a:rPr>
              <a:t>FROM   customer_features</a:t>
            </a:r>
          </a:p>
          <a:p>
            <a:r>
              <a:rPr sz="1600">
                <a:solidFill>
                  <a:srgbClr val="7EE787"/>
                </a:solidFill>
                <a:latin typeface="Courier New"/>
              </a:rPr>
              <a:t>JOIN   churn_model ON true</a:t>
            </a:r>
          </a:p>
          <a:p>
            <a:r>
              <a:rPr sz="1600">
                <a:solidFill>
                  <a:srgbClr val="7EE787"/>
                </a:solidFill>
                <a:latin typeface="Courier New"/>
              </a:rPr>
              <a:t>ORDER  BY churn_probability DESC</a:t>
            </a:r>
          </a:p>
          <a:p>
            <a:r>
              <a:rPr sz="1600">
                <a:solidFill>
                  <a:srgbClr val="7EE787"/>
                </a:solidFill>
                <a:latin typeface="Courier New"/>
              </a:rPr>
              <a:t>LIMIT  1000;   -- top 1000 highest-risk customers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274320"/>
            <a:ext cx="10058400" cy="411480"/>
          </a:xfrm>
          <a:prstGeom prst="rect">
            <a:avLst/>
          </a:prstGeom>
          <a:noFill/>
        </p:spPr>
        <p:txBody>
          <a:bodyPr wrap="square">
            <a:spAutoFit/>
          </a:bodyPr>
          <a:lstStyle/>
          <a:p>
            <a:pPr algn="l"/>
            <a:r>
              <a:rPr sz="1500" b="1" i="0">
                <a:solidFill>
                  <a:srgbClr val="00D4FF"/>
                </a:solidFill>
              </a:rPr>
              <a:t>PART 2 · APACHE MADlib</a:t>
            </a:r>
          </a:p>
        </p:txBody>
      </p:sp>
      <p:sp>
        <p:nvSpPr>
          <p:cNvPr id="3" name="TextBox 2"/>
          <p:cNvSpPr txBox="1"/>
          <p:nvPr/>
        </p:nvSpPr>
        <p:spPr>
          <a:xfrm>
            <a:off x="548640" y="685800"/>
            <a:ext cx="10058400" cy="822960"/>
          </a:xfrm>
          <a:prstGeom prst="rect">
            <a:avLst/>
          </a:prstGeom>
          <a:noFill/>
        </p:spPr>
        <p:txBody>
          <a:bodyPr wrap="square">
            <a:spAutoFit/>
          </a:bodyPr>
          <a:lstStyle/>
          <a:p>
            <a:pPr algn="l"/>
            <a:r>
              <a:rPr sz="3200" b="1" i="0">
                <a:solidFill>
                  <a:srgbClr val="FFFFFF"/>
                </a:solidFill>
              </a:rPr>
              <a:t>Real-World Use Case</a:t>
            </a:r>
          </a:p>
        </p:txBody>
      </p:sp>
      <p:sp>
        <p:nvSpPr>
          <p:cNvPr id="4" name="Rectangle 3"/>
          <p:cNvSpPr/>
          <p:nvPr/>
        </p:nvSpPr>
        <p:spPr>
          <a:xfrm>
            <a:off x="548640" y="155448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0972800" cy="457200"/>
          </a:xfrm>
          <a:prstGeom prst="rect">
            <a:avLst/>
          </a:prstGeom>
          <a:noFill/>
        </p:spPr>
        <p:txBody>
          <a:bodyPr wrap="square">
            <a:spAutoFit/>
          </a:bodyPr>
          <a:lstStyle/>
          <a:p>
            <a:pPr algn="l"/>
            <a:r>
              <a:rPr sz="2400" b="1" i="0">
                <a:solidFill>
                  <a:srgbClr val="00D4FF"/>
                </a:solidFill>
              </a:rPr>
              <a:t>Swiggy — Customer Churn Prevention at Scale</a:t>
            </a:r>
          </a:p>
        </p:txBody>
      </p:sp>
      <p:sp>
        <p:nvSpPr>
          <p:cNvPr id="6" name="TextBox 5"/>
          <p:cNvSpPr txBox="1"/>
          <p:nvPr/>
        </p:nvSpPr>
        <p:spPr>
          <a:xfrm>
            <a:off x="640080" y="2240280"/>
            <a:ext cx="10972800" cy="4023360"/>
          </a:xfrm>
          <a:prstGeom prst="rect">
            <a:avLst/>
          </a:prstGeom>
          <a:noFill/>
        </p:spPr>
        <p:txBody>
          <a:bodyPr wrap="square">
            <a:spAutoFit/>
          </a:bodyPr>
          <a:lstStyle/>
          <a:p>
            <a:pPr algn="l"/>
            <a:r>
              <a:rPr sz="2000" b="0" i="0">
                <a:solidFill>
                  <a:srgbClr val="E0E0E0"/>
                </a:solidFill>
              </a:rPr>
              <a:t>SCENARIO: 80 million active customers; retention team wants a weekly churn risk score for every customer to trigger personalised discount campaigns.
APPROACH: madlib.logregr_train() on 6 months of order history (12 features) running in Greenplum. No data exported; model trained and scoring both happen inside the warehouse as part of the weekly ETL job.
RESULT: End-to-end pipeline (train + score 80 M rows) runs in 22 minutes. Previous scikit-learn pipeline required 6 hours of Spark ETL + 3-hour training. Model accuracy (AUC 0.83) matched the external pipeline.
BUSINESS IMPACT: Churn rate in the targeted segment dropped 11% within 60 days. Analyst team now iterates on features weekly instead of monthly because the feedback loop is 16× shorter.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365760"/>
            <a:ext cx="10058400" cy="457200"/>
          </a:xfrm>
          <a:prstGeom prst="rect">
            <a:avLst/>
          </a:prstGeom>
          <a:noFill/>
        </p:spPr>
        <p:txBody>
          <a:bodyPr wrap="square">
            <a:spAutoFit/>
          </a:bodyPr>
          <a:lstStyle/>
          <a:p>
            <a:pPr algn="l"/>
            <a:r>
              <a:rPr sz="1800" b="1" i="0">
                <a:solidFill>
                  <a:srgbClr val="00D4FF"/>
                </a:solidFill>
              </a:rPr>
              <a:t>SUMMARY &amp; TAKEAWAYS</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FFFFF"/>
                </a:solidFill>
              </a:rPr>
              <a:t>What You Should Walk Away With</a:t>
            </a:r>
          </a:p>
        </p:txBody>
      </p:sp>
      <p:sp>
        <p:nvSpPr>
          <p:cNvPr id="4" name="Rectangle 3"/>
          <p:cNvSpPr/>
          <p:nvPr/>
        </p:nvSpPr>
        <p:spPr>
          <a:xfrm>
            <a:off x="548640" y="150876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247120" cy="4572000"/>
          </a:xfrm>
          <a:prstGeom prst="rect">
            <a:avLst/>
          </a:prstGeom>
          <a:noFill/>
        </p:spPr>
        <p:txBody>
          <a:bodyPr wrap="square">
            <a:spAutoFit/>
          </a:bodyPr>
          <a:lstStyle/>
          <a:p>
            <a:pPr>
              <a:spcBef>
                <a:spcPts val="600"/>
              </a:spcBef>
            </a:pPr>
            <a:r>
              <a:rPr sz="2100">
                <a:solidFill>
                  <a:srgbClr val="E0E0E0"/>
                </a:solidFill>
              </a:rPr>
              <a:t>▸  Window functions are the most powerful and underused feature in SQL — master OVER(), PARTITION BY, and ORDER BY before reaching for Python</a:t>
            </a:r>
          </a:p>
          <a:p>
            <a:pPr>
              <a:spcBef>
                <a:spcPts val="600"/>
              </a:spcBef>
            </a:pPr>
            <a:r>
              <a:rPr sz="2100">
                <a:solidFill>
                  <a:srgbClr val="E0E0E0"/>
                </a:solidFill>
              </a:rPr>
              <a:t>▸  Greenplum's MPP engine means window functions and analytic queries scale linearly with segments — a 96-node cluster can be 96× faster than a single-node database</a:t>
            </a:r>
          </a:p>
          <a:p>
            <a:pPr>
              <a:spcBef>
                <a:spcPts val="600"/>
              </a:spcBef>
            </a:pPr>
            <a:r>
              <a:rPr sz="2100">
                <a:solidFill>
                  <a:srgbClr val="E0E0E0"/>
                </a:solidFill>
              </a:rPr>
              <a:t>▸  MADlib turns any Greenplum/PostgreSQL database into an ML platform — no separate model-training infrastructure required</a:t>
            </a:r>
          </a:p>
          <a:p>
            <a:pPr>
              <a:spcBef>
                <a:spcPts val="600"/>
              </a:spcBef>
            </a:pPr>
            <a:r>
              <a:rPr sz="2100">
                <a:solidFill>
                  <a:srgbClr val="E0E0E0"/>
                </a:solidFill>
              </a:rPr>
              <a:t>▸  In-database ML eliminates the most expensive step in most ML pipelines: data movement. The algorithm travels to the data, not the reverse</a:t>
            </a:r>
          </a:p>
          <a:p>
            <a:pPr>
              <a:spcBef>
                <a:spcPts val="600"/>
              </a:spcBef>
            </a:pPr>
            <a:r>
              <a:rPr sz="2100">
                <a:solidFill>
                  <a:srgbClr val="E0E0E0"/>
                </a:solidFill>
              </a:rPr>
              <a:t>▸  The SQL loop (train → inspect coefficients → score) is shorter and more auditable than a Python/Spark pipeline — critical in regulated industries like finance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548640" y="365760"/>
            <a:ext cx="10058400" cy="457200"/>
          </a:xfrm>
          <a:prstGeom prst="rect">
            <a:avLst/>
          </a:prstGeom>
          <a:noFill/>
        </p:spPr>
        <p:txBody>
          <a:bodyPr wrap="square">
            <a:spAutoFit/>
          </a:bodyPr>
          <a:lstStyle/>
          <a:p>
            <a:pPr algn="l"/>
            <a:r>
              <a:rPr sz="1800" b="1" i="0">
                <a:solidFill>
                  <a:srgbClr val="00D4FF"/>
                </a:solidFill>
              </a:rPr>
              <a:t>REFERENCES</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FFFFF"/>
                </a:solidFill>
              </a:rPr>
              <a:t>Source Material &amp; Further Reading</a:t>
            </a:r>
          </a:p>
        </p:txBody>
      </p:sp>
      <p:sp>
        <p:nvSpPr>
          <p:cNvPr id="4" name="Rectangle 3"/>
          <p:cNvSpPr/>
          <p:nvPr/>
        </p:nvSpPr>
        <p:spPr>
          <a:xfrm>
            <a:off x="548640" y="1508760"/>
            <a:ext cx="1106424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247120" cy="4572000"/>
          </a:xfrm>
          <a:prstGeom prst="rect">
            <a:avLst/>
          </a:prstGeom>
          <a:noFill/>
        </p:spPr>
        <p:txBody>
          <a:bodyPr wrap="square">
            <a:spAutoFit/>
          </a:bodyPr>
          <a:lstStyle/>
          <a:p>
            <a:pPr algn="l"/>
            <a:r>
              <a:rPr sz="1600" b="0" i="0">
                <a:solidFill>
                  <a:srgbClr val="E0E0E0"/>
                </a:solidFill>
              </a:rPr>
              <a:t>⚠  NOTE: YouTube transcripts were unavailable (proxy restricted). Content synthesized from training knowledge.
Selected Videos (view independently):
  1. Mastering Window Functions in SQL  — https://youtube.com/watch?v=JpwwbwGSll4
  2. The Ultimate SQL Window Functions Course  — https://youtube.com/watch?v=Wvg4PjbMTO8
  3. Greenplum SQL Scripts for Data Analysts  — https://youtube.com/watch?v=2C5Vx4TuH1g
  4. Greenplum DB: Massively Parallel PostgreSQL  — https://youtube.com/watch?v=X8MmLeFZ1Os
  5. Machine Learning on Greenplum with Apache MADlib  — https://youtube.com/watch?v=1yDn4H4zxtk
  6. Classification Models in Greenplum using MADlib  — https://youtube.com/watch?v=ht9y50oZUEU
  7. Parallel Postgres: Gaming MAD skills w/ MADlib  — https://youtube.com/watch?v=qgQy_AnswNk
Official Docs:
  • Greenplum Analytics Functions: https://docs.vmware.com/en/VMware-Greenplum
  • Apache MADlib Docs: https://madlib.apache.org/docs/latest/
  • PostgreSQL Window Functions: https://www.postgresql.org/docs/current/tutorial-window.html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