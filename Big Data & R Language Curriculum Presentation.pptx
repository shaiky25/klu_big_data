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</p:sldIdLst>
  <p:sldSz cy="6858000" cx="12192000"/>
  <p:notesSz cx="6858000" cy="9144000"/>
  <p:embeddedFontLst>
    <p:embeddedFont>
      <p:font typeface="Inter SemiBold"/>
      <p:regular r:id="rId19"/>
      <p:bold r:id="rId20"/>
      <p:italic r:id="rId21"/>
      <p:boldItalic r:id="rId22"/>
    </p:embeddedFont>
    <p:embeddedFont>
      <p:font typeface="Poppins"/>
      <p:regular r:id="rId23"/>
      <p:bold r:id="rId24"/>
      <p:italic r:id="rId25"/>
      <p:boldItalic r:id="rId26"/>
    </p:embeddedFont>
    <p:embeddedFont>
      <p:font typeface="Inter"/>
      <p:regular r:id="rId27"/>
      <p:bold r:id="rId28"/>
      <p:italic r:id="rId29"/>
      <p:boldItalic r:id="rId30"/>
    </p:embeddedFont>
    <p:embeddedFont>
      <p:font typeface="Poppins Medium"/>
      <p:regular r:id="rId31"/>
      <p:bold r:id="rId32"/>
      <p:italic r:id="rId33"/>
      <p:boldItalic r:id="rId34"/>
    </p:embeddedFont>
    <p:embeddedFont>
      <p:font typeface="Poppins SemiBold"/>
      <p:regular r:id="rId35"/>
      <p:bold r:id="rId36"/>
      <p:italic r:id="rId37"/>
      <p:boldItalic r:id="rId3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InterSemiBold-bold.fntdata"/><Relationship Id="rId22" Type="http://schemas.openxmlformats.org/officeDocument/2006/relationships/font" Target="fonts/InterSemiBold-boldItalic.fntdata"/><Relationship Id="rId21" Type="http://schemas.openxmlformats.org/officeDocument/2006/relationships/font" Target="fonts/InterSemiBold-italic.fntdata"/><Relationship Id="rId24" Type="http://schemas.openxmlformats.org/officeDocument/2006/relationships/font" Target="fonts/Poppins-bold.fntdata"/><Relationship Id="rId23" Type="http://schemas.openxmlformats.org/officeDocument/2006/relationships/font" Target="fonts/Poppins-regular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Poppins-boldItalic.fntdata"/><Relationship Id="rId25" Type="http://schemas.openxmlformats.org/officeDocument/2006/relationships/font" Target="fonts/Poppins-italic.fntdata"/><Relationship Id="rId28" Type="http://schemas.openxmlformats.org/officeDocument/2006/relationships/font" Target="fonts/Inter-bold.fntdata"/><Relationship Id="rId27" Type="http://schemas.openxmlformats.org/officeDocument/2006/relationships/font" Target="fonts/Inter-regular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Inter-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PoppinsMedium-regular.fntdata"/><Relationship Id="rId30" Type="http://schemas.openxmlformats.org/officeDocument/2006/relationships/font" Target="fonts/Inter-boldItalic.fntdata"/><Relationship Id="rId11" Type="http://schemas.openxmlformats.org/officeDocument/2006/relationships/slide" Target="slides/slide6.xml"/><Relationship Id="rId33" Type="http://schemas.openxmlformats.org/officeDocument/2006/relationships/font" Target="fonts/PoppinsMedium-italic.fntdata"/><Relationship Id="rId10" Type="http://schemas.openxmlformats.org/officeDocument/2006/relationships/slide" Target="slides/slide5.xml"/><Relationship Id="rId32" Type="http://schemas.openxmlformats.org/officeDocument/2006/relationships/font" Target="fonts/PoppinsMedium-bold.fntdata"/><Relationship Id="rId13" Type="http://schemas.openxmlformats.org/officeDocument/2006/relationships/slide" Target="slides/slide8.xml"/><Relationship Id="rId35" Type="http://schemas.openxmlformats.org/officeDocument/2006/relationships/font" Target="fonts/PoppinsSemiBold-regular.fntdata"/><Relationship Id="rId12" Type="http://schemas.openxmlformats.org/officeDocument/2006/relationships/slide" Target="slides/slide7.xml"/><Relationship Id="rId34" Type="http://schemas.openxmlformats.org/officeDocument/2006/relationships/font" Target="fonts/PoppinsMedium-boldItalic.fntdata"/><Relationship Id="rId15" Type="http://schemas.openxmlformats.org/officeDocument/2006/relationships/slide" Target="slides/slide10.xml"/><Relationship Id="rId37" Type="http://schemas.openxmlformats.org/officeDocument/2006/relationships/font" Target="fonts/PoppinsSemiBold-italic.fntdata"/><Relationship Id="rId14" Type="http://schemas.openxmlformats.org/officeDocument/2006/relationships/slide" Target="slides/slide9.xml"/><Relationship Id="rId36" Type="http://schemas.openxmlformats.org/officeDocument/2006/relationships/font" Target="fonts/PoppinsSemiBold-bold.fntdata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38" Type="http://schemas.openxmlformats.org/officeDocument/2006/relationships/font" Target="fonts/PoppinsSemiBold-boldItalic.fntdata"/><Relationship Id="rId19" Type="http://schemas.openxmlformats.org/officeDocument/2006/relationships/font" Target="fonts/InterSemiBold-regular.fntdata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" name="Google Shape;128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" name="Google Shape;150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" name="Google Shape;161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" name="Google Shape;174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" name="Google Shape;193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4" name="Google Shape;204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8" name="Google Shape;228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9" name="Google Shape;239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8" name="Google Shape;248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6.png"/><Relationship Id="rId4" Type="http://schemas.openxmlformats.org/officeDocument/2006/relationships/image" Target="../media/image1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6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6.png"/><Relationship Id="rId4" Type="http://schemas.openxmlformats.org/officeDocument/2006/relationships/image" Target="../media/image4.png"/><Relationship Id="rId5" Type="http://schemas.openxmlformats.org/officeDocument/2006/relationships/image" Target="../media/image10.png"/><Relationship Id="rId6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6.png"/><Relationship Id="rId4" Type="http://schemas.openxmlformats.org/officeDocument/2006/relationships/image" Target="../media/image9.png"/><Relationship Id="rId5" Type="http://schemas.openxmlformats.org/officeDocument/2006/relationships/image" Target="../media/image1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6.png"/><Relationship Id="rId4" Type="http://schemas.openxmlformats.org/officeDocument/2006/relationships/image" Target="../media/image5.png"/><Relationship Id="rId11" Type="http://schemas.openxmlformats.org/officeDocument/2006/relationships/image" Target="../media/image13.png"/><Relationship Id="rId10" Type="http://schemas.openxmlformats.org/officeDocument/2006/relationships/image" Target="../media/image26.png"/><Relationship Id="rId12" Type="http://schemas.openxmlformats.org/officeDocument/2006/relationships/image" Target="../media/image28.png"/><Relationship Id="rId9" Type="http://schemas.openxmlformats.org/officeDocument/2006/relationships/image" Target="../media/image2.png"/><Relationship Id="rId5" Type="http://schemas.openxmlformats.org/officeDocument/2006/relationships/image" Target="../media/image7.png"/><Relationship Id="rId6" Type="http://schemas.openxmlformats.org/officeDocument/2006/relationships/image" Target="../media/image15.png"/><Relationship Id="rId7" Type="http://schemas.openxmlformats.org/officeDocument/2006/relationships/image" Target="../media/image3.png"/><Relationship Id="rId8" Type="http://schemas.openxmlformats.org/officeDocument/2006/relationships/image" Target="../media/image8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6.png"/><Relationship Id="rId4" Type="http://schemas.openxmlformats.org/officeDocument/2006/relationships/image" Target="../media/image25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6.png"/><Relationship Id="rId4" Type="http://schemas.openxmlformats.org/officeDocument/2006/relationships/image" Target="../media/image24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6.png"/><Relationship Id="rId4" Type="http://schemas.openxmlformats.org/officeDocument/2006/relationships/image" Target="../media/image18.png"/><Relationship Id="rId11" Type="http://schemas.openxmlformats.org/officeDocument/2006/relationships/image" Target="../media/image21.png"/><Relationship Id="rId10" Type="http://schemas.openxmlformats.org/officeDocument/2006/relationships/image" Target="../media/image30.png"/><Relationship Id="rId12" Type="http://schemas.openxmlformats.org/officeDocument/2006/relationships/image" Target="../media/image23.png"/><Relationship Id="rId9" Type="http://schemas.openxmlformats.org/officeDocument/2006/relationships/image" Target="../media/image20.png"/><Relationship Id="rId5" Type="http://schemas.openxmlformats.org/officeDocument/2006/relationships/image" Target="../media/image16.png"/><Relationship Id="rId6" Type="http://schemas.openxmlformats.org/officeDocument/2006/relationships/image" Target="../media/image19.png"/><Relationship Id="rId7" Type="http://schemas.openxmlformats.org/officeDocument/2006/relationships/image" Target="../media/image14.png"/><Relationship Id="rId8" Type="http://schemas.openxmlformats.org/officeDocument/2006/relationships/image" Target="../media/image29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6.png"/><Relationship Id="rId4" Type="http://schemas.openxmlformats.org/officeDocument/2006/relationships/image" Target="../media/image27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6.png"/><Relationship Id="rId4" Type="http://schemas.openxmlformats.org/officeDocument/2006/relationships/image" Target="../media/image17.png"/><Relationship Id="rId5" Type="http://schemas.openxmlformats.org/officeDocument/2006/relationships/image" Target="../media/image22.png"/><Relationship Id="rId6" Type="http://schemas.openxmlformats.org/officeDocument/2006/relationships/image" Target="../media/image39.png"/><Relationship Id="rId7" Type="http://schemas.openxmlformats.org/officeDocument/2006/relationships/image" Target="../media/image31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6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6.png"/><Relationship Id="rId4" Type="http://schemas.openxmlformats.org/officeDocument/2006/relationships/image" Target="../media/image32.png"/><Relationship Id="rId5" Type="http://schemas.openxmlformats.org/officeDocument/2006/relationships/image" Target="../media/image37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6.png"/><Relationship Id="rId4" Type="http://schemas.openxmlformats.org/officeDocument/2006/relationships/image" Target="../media/image36.png"/><Relationship Id="rId5" Type="http://schemas.openxmlformats.org/officeDocument/2006/relationships/image" Target="../media/image34.png"/><Relationship Id="rId6" Type="http://schemas.openxmlformats.org/officeDocument/2006/relationships/image" Target="../media/image38.png"/><Relationship Id="rId7" Type="http://schemas.openxmlformats.org/officeDocument/2006/relationships/image" Target="../media/image35.png"/><Relationship Id="rId8" Type="http://schemas.openxmlformats.org/officeDocument/2006/relationships/image" Target="../media/image3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4" name="Google Shape;8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85" name="Google Shape;85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711898" y="2435125"/>
            <a:ext cx="2768054" cy="276225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3"/>
          <p:cNvSpPr txBox="1"/>
          <p:nvPr/>
        </p:nvSpPr>
        <p:spPr>
          <a:xfrm>
            <a:off x="2087061" y="2901850"/>
            <a:ext cx="8017877" cy="6351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498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350" u="none" cap="none" strike="noStrik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Big Data in Modern Industry</a:t>
            </a:r>
            <a:endParaRPr/>
          </a:p>
        </p:txBody>
      </p:sp>
      <p:sp>
        <p:nvSpPr>
          <p:cNvPr id="87" name="Google Shape;87;p13"/>
          <p:cNvSpPr txBox="1"/>
          <p:nvPr/>
        </p:nvSpPr>
        <p:spPr>
          <a:xfrm>
            <a:off x="2047875" y="3679924"/>
            <a:ext cx="8096250" cy="628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Exploring enterprise demands, core data tasks, and why the R programming curriculum empowers future data leaders.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2" name="Google Shape;92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93" name="Google Shape;93;p14"/>
          <p:cNvSpPr/>
          <p:nvPr/>
        </p:nvSpPr>
        <p:spPr>
          <a:xfrm>
            <a:off x="5715000" y="2524125"/>
            <a:ext cx="762000" cy="3810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14"/>
          <p:cNvSpPr txBox="1"/>
          <p:nvPr/>
        </p:nvSpPr>
        <p:spPr>
          <a:xfrm>
            <a:off x="2565558" y="2752725"/>
            <a:ext cx="7060882" cy="742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900" u="none" cap="none" strike="noStrike">
                <a:solidFill>
                  <a:srgbClr val="1E1B4B"/>
                </a:solidFill>
                <a:latin typeface="Poppins"/>
                <a:ea typeface="Poppins"/>
                <a:cs typeface="Poppins"/>
                <a:sym typeface="Poppins"/>
              </a:rPr>
              <a:t>Industry Focus on Big Data</a:t>
            </a:r>
            <a:endParaRPr/>
          </a:p>
        </p:txBody>
      </p:sp>
      <p:sp>
        <p:nvSpPr>
          <p:cNvPr id="95" name="Google Shape;95;p14"/>
          <p:cNvSpPr txBox="1"/>
          <p:nvPr/>
        </p:nvSpPr>
        <p:spPr>
          <a:xfrm>
            <a:off x="2047875" y="3781425"/>
            <a:ext cx="8096250" cy="628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How modern enterprises leverage high-velocity datasets for strategic intelligence and competitive advantage.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00" name="Google Shape;100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1" name="Google Shape;101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86500" y="2090737"/>
            <a:ext cx="5334000" cy="3619500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15"/>
          <p:cNvSpPr txBox="1"/>
          <p:nvPr/>
        </p:nvSpPr>
        <p:spPr>
          <a:xfrm>
            <a:off x="838200" y="2090737"/>
            <a:ext cx="506730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Global organizations process petabytes of transactional, log, and cloud sensor data daily.</a:t>
            </a:r>
            <a:endParaRPr/>
          </a:p>
        </p:txBody>
      </p:sp>
      <p:sp>
        <p:nvSpPr>
          <p:cNvPr id="103" name="Google Shape;103;p15"/>
          <p:cNvSpPr txBox="1"/>
          <p:nvPr/>
        </p:nvSpPr>
        <p:spPr>
          <a:xfrm>
            <a:off x="838200" y="2757487"/>
            <a:ext cx="506730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Data-driven firms are 23 times more likely to acquire customers and 6 times as likely to retain them.</a:t>
            </a:r>
            <a:endParaRPr/>
          </a:p>
        </p:txBody>
      </p:sp>
      <p:sp>
        <p:nvSpPr>
          <p:cNvPr id="104" name="Google Shape;104;p15"/>
          <p:cNvSpPr txBox="1"/>
          <p:nvPr/>
        </p:nvSpPr>
        <p:spPr>
          <a:xfrm>
            <a:off x="838200" y="3424237"/>
            <a:ext cx="506730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Industry focus has shifted from simple data storage to real-time analytics and predictive capabilities.</a:t>
            </a:r>
            <a:endParaRPr/>
          </a:p>
        </p:txBody>
      </p:sp>
      <p:sp>
        <p:nvSpPr>
          <p:cNvPr id="105" name="Google Shape;105;p15"/>
          <p:cNvSpPr txBox="1"/>
          <p:nvPr/>
        </p:nvSpPr>
        <p:spPr>
          <a:xfrm>
            <a:off x="838200" y="4090987"/>
            <a:ext cx="506730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Employers demand specialists who combine deep statistical grounding with big-data computing tools.</a:t>
            </a:r>
            <a:endParaRPr/>
          </a:p>
        </p:txBody>
      </p:sp>
      <p:pic>
        <p:nvPicPr>
          <p:cNvPr descr="image.png" id="106" name="Google Shape;106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286500" y="2090737"/>
            <a:ext cx="5334000" cy="3619500"/>
          </a:xfrm>
          <a:prstGeom prst="rect">
            <a:avLst/>
          </a:prstGeom>
          <a:noFill/>
          <a:ln>
            <a:noFill/>
          </a:ln>
        </p:spPr>
      </p:pic>
      <p:sp>
        <p:nvSpPr>
          <p:cNvPr id="107" name="Google Shape;107;p15"/>
          <p:cNvSpPr txBox="1"/>
          <p:nvPr/>
        </p:nvSpPr>
        <p:spPr>
          <a:xfrm>
            <a:off x="571500" y="476250"/>
            <a:ext cx="11601450" cy="542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700" u="none" cap="none" strike="noStrike">
                <a:solidFill>
                  <a:srgbClr val="1E1B4B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The Enterprise Data Explosion</a:t>
            </a:r>
            <a:endParaRPr/>
          </a:p>
        </p:txBody>
      </p:sp>
      <p:sp>
        <p:nvSpPr>
          <p:cNvPr id="108" name="Google Shape;108;p15"/>
          <p:cNvSpPr/>
          <p:nvPr/>
        </p:nvSpPr>
        <p:spPr>
          <a:xfrm>
            <a:off x="571500" y="1114425"/>
            <a:ext cx="1104900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09" name="Google Shape;109;p1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2109787"/>
            <a:ext cx="13335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0" name="Google Shape;110;p1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2776537"/>
            <a:ext cx="13335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1" name="Google Shape;111;p1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3443287"/>
            <a:ext cx="13335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2" name="Google Shape;112;p1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4110037"/>
            <a:ext cx="133350" cy="152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17" name="Google Shape;117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8" name="Google Shape;118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828925"/>
            <a:ext cx="5334000" cy="21431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9" name="Google Shape;119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286500" y="2828925"/>
            <a:ext cx="5334000" cy="2143125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16"/>
          <p:cNvSpPr txBox="1"/>
          <p:nvPr/>
        </p:nvSpPr>
        <p:spPr>
          <a:xfrm>
            <a:off x="866775" y="3124200"/>
            <a:ext cx="4980622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312E81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Data Ingestion &amp; Wrangling</a:t>
            </a:r>
            <a:endParaRPr/>
          </a:p>
        </p:txBody>
      </p:sp>
      <p:sp>
        <p:nvSpPr>
          <p:cNvPr id="121" name="Google Shape;121;p16"/>
          <p:cNvSpPr txBox="1"/>
          <p:nvPr/>
        </p:nvSpPr>
        <p:spPr>
          <a:xfrm>
            <a:off x="866775" y="3533775"/>
            <a:ext cx="4743450" cy="102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Extracting unstructured and structured data from cloud warehouses, SQL databases, and JSON streams. Cleaning missing values, removing anomalies, and partitioning datasets for high-efficiency processing.</a:t>
            </a:r>
            <a:endParaRPr/>
          </a:p>
        </p:txBody>
      </p:sp>
      <p:sp>
        <p:nvSpPr>
          <p:cNvPr id="122" name="Google Shape;122;p16"/>
          <p:cNvSpPr txBox="1"/>
          <p:nvPr/>
        </p:nvSpPr>
        <p:spPr>
          <a:xfrm>
            <a:off x="6581775" y="3124200"/>
            <a:ext cx="4980622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312E81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Exploratory &amp; Predictive Modeling</a:t>
            </a:r>
            <a:endParaRPr/>
          </a:p>
        </p:txBody>
      </p:sp>
      <p:sp>
        <p:nvSpPr>
          <p:cNvPr id="123" name="Google Shape;123;p16"/>
          <p:cNvSpPr txBox="1"/>
          <p:nvPr/>
        </p:nvSpPr>
        <p:spPr>
          <a:xfrm>
            <a:off x="6581775" y="3533775"/>
            <a:ext cx="4743450" cy="102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Performing rigorous statistical analyses to identify trends, developing machine learning pipelines (regression, classification, forecasting), and validating algorithm performance on massive samples.</a:t>
            </a:r>
            <a:endParaRPr/>
          </a:p>
        </p:txBody>
      </p:sp>
      <p:sp>
        <p:nvSpPr>
          <p:cNvPr id="124" name="Google Shape;124;p16"/>
          <p:cNvSpPr txBox="1"/>
          <p:nvPr/>
        </p:nvSpPr>
        <p:spPr>
          <a:xfrm>
            <a:off x="571500" y="476250"/>
            <a:ext cx="11601450" cy="542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700" u="none" cap="none" strike="noStrike">
                <a:solidFill>
                  <a:srgbClr val="1E1B4B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Core Industry Data Tasks</a:t>
            </a:r>
            <a:endParaRPr/>
          </a:p>
        </p:txBody>
      </p:sp>
      <p:sp>
        <p:nvSpPr>
          <p:cNvPr id="125" name="Google Shape;125;p16"/>
          <p:cNvSpPr/>
          <p:nvPr/>
        </p:nvSpPr>
        <p:spPr>
          <a:xfrm>
            <a:off x="571500" y="1114425"/>
            <a:ext cx="1104900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30" name="Google Shape;130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1" name="Google Shape;131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486025"/>
            <a:ext cx="3524250" cy="28289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2" name="Google Shape;132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33875" y="2486025"/>
            <a:ext cx="3524250" cy="28289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3" name="Google Shape;133;p1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096250" y="2486025"/>
            <a:ext cx="3524250" cy="28289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4" name="Google Shape;134;p1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47725" y="2762250"/>
            <a:ext cx="533400" cy="533400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p17"/>
          <p:cNvSpPr txBox="1"/>
          <p:nvPr/>
        </p:nvSpPr>
        <p:spPr>
          <a:xfrm>
            <a:off x="847725" y="3486150"/>
            <a:ext cx="2180272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312E81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Data Manipulation</a:t>
            </a:r>
            <a:endParaRPr/>
          </a:p>
        </p:txBody>
      </p:sp>
      <p:sp>
        <p:nvSpPr>
          <p:cNvPr id="136" name="Google Shape;136;p17"/>
          <p:cNvSpPr txBox="1"/>
          <p:nvPr/>
        </p:nvSpPr>
        <p:spPr>
          <a:xfrm>
            <a:off x="847725" y="3895725"/>
            <a:ext cx="2971800" cy="102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High-speed subsetting, aggregation, and joining of multi-gigabyte datasets using memory-optimized engines.</a:t>
            </a:r>
            <a:endParaRPr/>
          </a:p>
        </p:txBody>
      </p:sp>
      <p:pic>
        <p:nvPicPr>
          <p:cNvPr descr="image.png" id="137" name="Google Shape;137;p17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4610100" y="2762250"/>
            <a:ext cx="533400" cy="533400"/>
          </a:xfrm>
          <a:prstGeom prst="rect">
            <a:avLst/>
          </a:prstGeom>
          <a:noFill/>
          <a:ln>
            <a:noFill/>
          </a:ln>
        </p:spPr>
      </p:pic>
      <p:sp>
        <p:nvSpPr>
          <p:cNvPr id="138" name="Google Shape;138;p17"/>
          <p:cNvSpPr txBox="1"/>
          <p:nvPr/>
        </p:nvSpPr>
        <p:spPr>
          <a:xfrm>
            <a:off x="4610100" y="3486150"/>
            <a:ext cx="1820227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312E81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Statistical Rigor</a:t>
            </a:r>
            <a:endParaRPr/>
          </a:p>
        </p:txBody>
      </p:sp>
      <p:sp>
        <p:nvSpPr>
          <p:cNvPr id="139" name="Google Shape;139;p17"/>
          <p:cNvSpPr txBox="1"/>
          <p:nvPr/>
        </p:nvSpPr>
        <p:spPr>
          <a:xfrm>
            <a:off x="4610100" y="3895725"/>
            <a:ext cx="2971800" cy="102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Applying hypothesis testing, regression models, and time-series analysis to prove cause-and-effect patterns.</a:t>
            </a:r>
            <a:endParaRPr/>
          </a:p>
        </p:txBody>
      </p:sp>
      <p:pic>
        <p:nvPicPr>
          <p:cNvPr descr="image.png" id="140" name="Google Shape;140;p17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8372475" y="2762250"/>
            <a:ext cx="533400" cy="533400"/>
          </a:xfrm>
          <a:prstGeom prst="rect">
            <a:avLst/>
          </a:prstGeom>
          <a:noFill/>
          <a:ln>
            <a:noFill/>
          </a:ln>
        </p:spPr>
      </p:pic>
      <p:sp>
        <p:nvSpPr>
          <p:cNvPr id="141" name="Google Shape;141;p17"/>
          <p:cNvSpPr txBox="1"/>
          <p:nvPr/>
        </p:nvSpPr>
        <p:spPr>
          <a:xfrm>
            <a:off x="8372475" y="3486150"/>
            <a:ext cx="2100262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312E81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Visual Storytelling</a:t>
            </a:r>
            <a:endParaRPr/>
          </a:p>
        </p:txBody>
      </p:sp>
      <p:sp>
        <p:nvSpPr>
          <p:cNvPr id="142" name="Google Shape;142;p17"/>
          <p:cNvSpPr txBox="1"/>
          <p:nvPr/>
        </p:nvSpPr>
        <p:spPr>
          <a:xfrm>
            <a:off x="8372475" y="3895725"/>
            <a:ext cx="2971800" cy="102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Building clear, static, and dynamic visualizations that convey complex statistical results to executive stakeholders.</a:t>
            </a:r>
            <a:endParaRPr/>
          </a:p>
        </p:txBody>
      </p:sp>
      <p:pic>
        <p:nvPicPr>
          <p:cNvPr descr="image.png" id="143" name="Google Shape;143;p17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1014412" y="2914650"/>
            <a:ext cx="200025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4" name="Google Shape;144;p17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4762500" y="2914650"/>
            <a:ext cx="22860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5" name="Google Shape;145;p17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8510587" y="2914650"/>
            <a:ext cx="257175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146" name="Google Shape;146;p17"/>
          <p:cNvSpPr txBox="1"/>
          <p:nvPr/>
        </p:nvSpPr>
        <p:spPr>
          <a:xfrm>
            <a:off x="571500" y="476250"/>
            <a:ext cx="11601450" cy="542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700" u="none" cap="none" strike="noStrike">
                <a:solidFill>
                  <a:srgbClr val="1E1B4B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Essential Technical Competencies</a:t>
            </a:r>
            <a:endParaRPr/>
          </a:p>
        </p:txBody>
      </p:sp>
      <p:sp>
        <p:nvSpPr>
          <p:cNvPr id="147" name="Google Shape;147;p17"/>
          <p:cNvSpPr/>
          <p:nvPr/>
        </p:nvSpPr>
        <p:spPr>
          <a:xfrm>
            <a:off x="571500" y="1114425"/>
            <a:ext cx="1104900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52" name="Google Shape;152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3" name="Google Shape;153;p18"/>
          <p:cNvSpPr txBox="1"/>
          <p:nvPr/>
        </p:nvSpPr>
        <p:spPr>
          <a:xfrm>
            <a:off x="571500" y="476250"/>
            <a:ext cx="5600700" cy="106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700" u="none" cap="none" strike="noStrike">
                <a:solidFill>
                  <a:srgbClr val="1E1B4B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End-to-End Analytics Workflow</a:t>
            </a:r>
            <a:endParaRPr/>
          </a:p>
        </p:txBody>
      </p:sp>
      <p:sp>
        <p:nvSpPr>
          <p:cNvPr id="154" name="Google Shape;154;p18"/>
          <p:cNvSpPr/>
          <p:nvPr/>
        </p:nvSpPr>
        <p:spPr>
          <a:xfrm>
            <a:off x="571500" y="1638300"/>
            <a:ext cx="533400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55" name="Google Shape;155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86500" y="0"/>
            <a:ext cx="59055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6" name="Google Shape;156;p18"/>
          <p:cNvSpPr txBox="1"/>
          <p:nvPr/>
        </p:nvSpPr>
        <p:spPr>
          <a:xfrm>
            <a:off x="571500" y="1943100"/>
            <a:ext cx="5600700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312E81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From Raw Logs to Business Action</a:t>
            </a:r>
            <a:endParaRPr/>
          </a:p>
        </p:txBody>
      </p:sp>
      <p:sp>
        <p:nvSpPr>
          <p:cNvPr id="157" name="Google Shape;157;p18"/>
          <p:cNvSpPr txBox="1"/>
          <p:nvPr/>
        </p:nvSpPr>
        <p:spPr>
          <a:xfrm>
            <a:off x="571500" y="2352675"/>
            <a:ext cx="5334000" cy="7715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Industry data practitioners must automate the entire analytics lifecycle. Modern tasks require writing clean, reproducible scripts that connect directly to distributed data stores.</a:t>
            </a:r>
            <a:endParaRPr/>
          </a:p>
        </p:txBody>
      </p:sp>
      <p:sp>
        <p:nvSpPr>
          <p:cNvPr id="158" name="Google Shape;158;p18"/>
          <p:cNvSpPr txBox="1"/>
          <p:nvPr/>
        </p:nvSpPr>
        <p:spPr>
          <a:xfrm>
            <a:off x="571500" y="3238500"/>
            <a:ext cx="5334000" cy="7715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Teams depend on standardized coding environments where data extraction, modeling, and automated report generation occur seamlessly.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63" name="Google Shape;163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4" name="Google Shape;164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809875"/>
            <a:ext cx="5334000" cy="2133600"/>
          </a:xfrm>
          <a:prstGeom prst="rect">
            <a:avLst/>
          </a:prstGeom>
          <a:noFill/>
          <a:ln>
            <a:noFill/>
          </a:ln>
        </p:spPr>
      </p:pic>
      <p:sp>
        <p:nvSpPr>
          <p:cNvPr id="165" name="Google Shape;165;p19"/>
          <p:cNvSpPr txBox="1"/>
          <p:nvPr/>
        </p:nvSpPr>
        <p:spPr>
          <a:xfrm>
            <a:off x="2095500" y="3190875"/>
            <a:ext cx="2286000" cy="1047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250" u="none" cap="none" strike="noStrike">
                <a:solidFill>
                  <a:srgbClr val="4F46E5"/>
                </a:solidFill>
                <a:latin typeface="Poppins"/>
                <a:ea typeface="Poppins"/>
                <a:cs typeface="Poppins"/>
                <a:sym typeface="Poppins"/>
              </a:rPr>
              <a:t>84%</a:t>
            </a:r>
            <a:endParaRPr/>
          </a:p>
        </p:txBody>
      </p:sp>
      <p:sp>
        <p:nvSpPr>
          <p:cNvPr id="166" name="Google Shape;166;p19"/>
          <p:cNvSpPr txBox="1"/>
          <p:nvPr/>
        </p:nvSpPr>
        <p:spPr>
          <a:xfrm>
            <a:off x="2328862" y="4333875"/>
            <a:ext cx="1819275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12E8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Enterprise Adoption</a:t>
            </a:r>
            <a:endParaRPr/>
          </a:p>
        </p:txBody>
      </p:sp>
      <p:sp>
        <p:nvSpPr>
          <p:cNvPr id="167" name="Google Shape;167;p19"/>
          <p:cNvSpPr txBox="1"/>
          <p:nvPr/>
        </p:nvSpPr>
        <p:spPr>
          <a:xfrm>
            <a:off x="6286500" y="2809875"/>
            <a:ext cx="5600700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312E81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High ROI on Skilled Talent</a:t>
            </a:r>
            <a:endParaRPr/>
          </a:p>
        </p:txBody>
      </p:sp>
      <p:sp>
        <p:nvSpPr>
          <p:cNvPr id="168" name="Google Shape;168;p19"/>
          <p:cNvSpPr txBox="1"/>
          <p:nvPr/>
        </p:nvSpPr>
        <p:spPr>
          <a:xfrm>
            <a:off x="6286500" y="3219450"/>
            <a:ext cx="5334000" cy="7715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Over 84% of Fortune 500 companies have launched advanced analytics projects to optimize supply chains, mitigate financial risk, and personalize customer experience.</a:t>
            </a:r>
            <a:endParaRPr/>
          </a:p>
        </p:txBody>
      </p:sp>
      <p:sp>
        <p:nvSpPr>
          <p:cNvPr id="169" name="Google Shape;169;p19"/>
          <p:cNvSpPr txBox="1"/>
          <p:nvPr/>
        </p:nvSpPr>
        <p:spPr>
          <a:xfrm>
            <a:off x="6286500" y="4105275"/>
            <a:ext cx="5334000" cy="7715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Demand for professionals fluent in R and big data frameworks continues to outpace traditional business roles by more than 25% annually.</a:t>
            </a:r>
            <a:endParaRPr/>
          </a:p>
        </p:txBody>
      </p:sp>
      <p:sp>
        <p:nvSpPr>
          <p:cNvPr id="170" name="Google Shape;170;p19"/>
          <p:cNvSpPr txBox="1"/>
          <p:nvPr/>
        </p:nvSpPr>
        <p:spPr>
          <a:xfrm>
            <a:off x="571500" y="476250"/>
            <a:ext cx="11601450" cy="542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700" u="none" cap="none" strike="noStrike">
                <a:solidFill>
                  <a:srgbClr val="1E1B4B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Big Data Market Demand</a:t>
            </a:r>
            <a:endParaRPr/>
          </a:p>
        </p:txBody>
      </p:sp>
      <p:sp>
        <p:nvSpPr>
          <p:cNvPr id="171" name="Google Shape;171;p19"/>
          <p:cNvSpPr/>
          <p:nvPr/>
        </p:nvSpPr>
        <p:spPr>
          <a:xfrm>
            <a:off x="571500" y="1114425"/>
            <a:ext cx="1104900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76" name="Google Shape;176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7" name="Google Shape;177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507456"/>
            <a:ext cx="3524250" cy="278606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8" name="Google Shape;178;p2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33875" y="2507456"/>
            <a:ext cx="3524250" cy="278606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9" name="Google Shape;179;p2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096250" y="2507456"/>
            <a:ext cx="3524250" cy="278606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0" name="Google Shape;180;p20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733425" y="2669381"/>
            <a:ext cx="3200400" cy="2095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1" name="Google Shape;181;p20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4495800" y="2669381"/>
            <a:ext cx="3200400" cy="2095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2" name="Google Shape;182;p20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8258175" y="2669381"/>
            <a:ext cx="3200400" cy="2095500"/>
          </a:xfrm>
          <a:prstGeom prst="rect">
            <a:avLst/>
          </a:prstGeom>
          <a:noFill/>
          <a:ln>
            <a:noFill/>
          </a:ln>
        </p:spPr>
      </p:pic>
      <p:sp>
        <p:nvSpPr>
          <p:cNvPr id="183" name="Google Shape;183;p20"/>
          <p:cNvSpPr txBox="1"/>
          <p:nvPr/>
        </p:nvSpPr>
        <p:spPr>
          <a:xfrm>
            <a:off x="733425" y="4917281"/>
            <a:ext cx="3200400" cy="2143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1E293B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1. Fast Wrangling with dplyr &amp; data.table</a:t>
            </a:r>
            <a:endParaRPr/>
          </a:p>
        </p:txBody>
      </p:sp>
      <p:sp>
        <p:nvSpPr>
          <p:cNvPr id="184" name="Google Shape;184;p20"/>
          <p:cNvSpPr txBox="1"/>
          <p:nvPr/>
        </p:nvSpPr>
        <p:spPr>
          <a:xfrm>
            <a:off x="4495800" y="4917281"/>
            <a:ext cx="3200400" cy="2143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1E293B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2. Advanced Statistical &amp; Predictive Modeling</a:t>
            </a:r>
            <a:endParaRPr/>
          </a:p>
        </p:txBody>
      </p:sp>
      <p:sp>
        <p:nvSpPr>
          <p:cNvPr id="185" name="Google Shape;185;p20"/>
          <p:cNvSpPr txBox="1"/>
          <p:nvPr/>
        </p:nvSpPr>
        <p:spPr>
          <a:xfrm>
            <a:off x="8258175" y="4917281"/>
            <a:ext cx="3200400" cy="2143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1E293B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3. Publication-Quality Viz via ggplot2 &amp; Shiny</a:t>
            </a:r>
            <a:endParaRPr/>
          </a:p>
        </p:txBody>
      </p:sp>
      <p:pic>
        <p:nvPicPr>
          <p:cNvPr descr="image.png" id="186" name="Google Shape;186;p20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733425" y="2669381"/>
            <a:ext cx="3200400" cy="2095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7" name="Google Shape;187;p20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4495800" y="2669381"/>
            <a:ext cx="3200400" cy="2095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8" name="Google Shape;188;p20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8258175" y="2669381"/>
            <a:ext cx="3200400" cy="2095500"/>
          </a:xfrm>
          <a:prstGeom prst="rect">
            <a:avLst/>
          </a:prstGeom>
          <a:noFill/>
          <a:ln>
            <a:noFill/>
          </a:ln>
        </p:spPr>
      </p:pic>
      <p:sp>
        <p:nvSpPr>
          <p:cNvPr id="189" name="Google Shape;189;p20"/>
          <p:cNvSpPr txBox="1"/>
          <p:nvPr/>
        </p:nvSpPr>
        <p:spPr>
          <a:xfrm>
            <a:off x="571500" y="476250"/>
            <a:ext cx="11601450" cy="542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700" u="none" cap="none" strike="noStrike">
                <a:solidFill>
                  <a:srgbClr val="1E1B4B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Pillars of the R Language Curriculum</a:t>
            </a:r>
            <a:endParaRPr/>
          </a:p>
        </p:txBody>
      </p:sp>
      <p:sp>
        <p:nvSpPr>
          <p:cNvPr id="190" name="Google Shape;190;p20"/>
          <p:cNvSpPr/>
          <p:nvPr/>
        </p:nvSpPr>
        <p:spPr>
          <a:xfrm>
            <a:off x="571500" y="1114425"/>
            <a:ext cx="1104900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95" name="Google Shape;195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6" name="Google Shape;196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419225"/>
            <a:ext cx="11049000" cy="4962525"/>
          </a:xfrm>
          <a:prstGeom prst="rect">
            <a:avLst/>
          </a:prstGeom>
          <a:noFill/>
          <a:ln>
            <a:noFill/>
          </a:ln>
        </p:spPr>
      </p:pic>
      <p:sp>
        <p:nvSpPr>
          <p:cNvPr id="197" name="Google Shape;197;p21"/>
          <p:cNvSpPr/>
          <p:nvPr/>
        </p:nvSpPr>
        <p:spPr>
          <a:xfrm>
            <a:off x="571500" y="4648200"/>
            <a:ext cx="11049000" cy="74295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21"/>
          <p:cNvSpPr txBox="1"/>
          <p:nvPr/>
        </p:nvSpPr>
        <p:spPr>
          <a:xfrm>
            <a:off x="762000" y="4762500"/>
            <a:ext cx="1066800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3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Benchmarks highlight how modern R packages like </a:t>
            </a:r>
            <a:r>
              <a:rPr b="1" i="1" lang="en-US" sz="13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data.table</a:t>
            </a:r>
            <a:r>
              <a:rPr b="0" i="1" lang="en-US" sz="13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, </a:t>
            </a:r>
            <a:r>
              <a:rPr b="1" i="1" lang="en-US" sz="13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arrow</a:t>
            </a:r>
            <a:r>
              <a:rPr b="0" i="1" lang="en-US" sz="13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, and </a:t>
            </a:r>
            <a:r>
              <a:rPr b="1" i="1" lang="en-US" sz="13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duckdb</a:t>
            </a:r>
            <a:r>
              <a:rPr b="0" i="1" lang="en-US" sz="13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process 50 million rows of data in sub-second time directly on local workstations.</a:t>
            </a:r>
            <a:endParaRPr/>
          </a:p>
        </p:txBody>
      </p:sp>
      <p:sp>
        <p:nvSpPr>
          <p:cNvPr id="199" name="Google Shape;199;p21"/>
          <p:cNvSpPr/>
          <p:nvPr/>
        </p:nvSpPr>
        <p:spPr>
          <a:xfrm>
            <a:off x="571500" y="4648200"/>
            <a:ext cx="38100" cy="74295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21"/>
          <p:cNvSpPr txBox="1"/>
          <p:nvPr/>
        </p:nvSpPr>
        <p:spPr>
          <a:xfrm>
            <a:off x="571500" y="476250"/>
            <a:ext cx="11601450" cy="542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700" u="none" cap="none" strike="noStrike">
                <a:solidFill>
                  <a:srgbClr val="1E1B4B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R Big Data Processing Efficiency</a:t>
            </a:r>
            <a:endParaRPr/>
          </a:p>
        </p:txBody>
      </p:sp>
      <p:sp>
        <p:nvSpPr>
          <p:cNvPr id="201" name="Google Shape;201;p21"/>
          <p:cNvSpPr/>
          <p:nvPr/>
        </p:nvSpPr>
        <p:spPr>
          <a:xfrm>
            <a:off x="571500" y="1114425"/>
            <a:ext cx="1104900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06" name="Google Shape;206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7" name="Google Shape;207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4233862"/>
            <a:ext cx="2541240" cy="14954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8" name="Google Shape;208;p2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407419" y="2262187"/>
            <a:ext cx="2541240" cy="14954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9" name="Google Shape;209;p2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243339" y="4233862"/>
            <a:ext cx="2541240" cy="14954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0" name="Google Shape;210;p22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9079259" y="2262187"/>
            <a:ext cx="2541240" cy="1495425"/>
          </a:xfrm>
          <a:prstGeom prst="rect">
            <a:avLst/>
          </a:prstGeom>
          <a:noFill/>
          <a:ln>
            <a:noFill/>
          </a:ln>
        </p:spPr>
      </p:pic>
      <p:sp>
        <p:nvSpPr>
          <p:cNvPr id="211" name="Google Shape;211;p22"/>
          <p:cNvSpPr/>
          <p:nvPr/>
        </p:nvSpPr>
        <p:spPr>
          <a:xfrm>
            <a:off x="571500" y="3976687"/>
            <a:ext cx="11049000" cy="3810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22"/>
          <p:cNvSpPr txBox="1"/>
          <p:nvPr/>
        </p:nvSpPr>
        <p:spPr>
          <a:xfrm>
            <a:off x="677990" y="4395787"/>
            <a:ext cx="2328259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F46E5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Module 1: R Fundamentals</a:t>
            </a:r>
            <a:endParaRPr/>
          </a:p>
        </p:txBody>
      </p:sp>
      <p:sp>
        <p:nvSpPr>
          <p:cNvPr id="213" name="Google Shape;213;p22"/>
          <p:cNvSpPr txBox="1"/>
          <p:nvPr/>
        </p:nvSpPr>
        <p:spPr>
          <a:xfrm>
            <a:off x="733425" y="4967287"/>
            <a:ext cx="2217390" cy="600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Syntax, data structures, vectors, data frames, and Tidyverse workflow basics.</a:t>
            </a:r>
            <a:endParaRPr/>
          </a:p>
        </p:txBody>
      </p:sp>
      <p:sp>
        <p:nvSpPr>
          <p:cNvPr id="214" name="Google Shape;214;p22"/>
          <p:cNvSpPr txBox="1"/>
          <p:nvPr/>
        </p:nvSpPr>
        <p:spPr>
          <a:xfrm>
            <a:off x="3513910" y="2424112"/>
            <a:ext cx="2328259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F46E5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Module 2: High-Speed Wrangling</a:t>
            </a:r>
            <a:endParaRPr/>
          </a:p>
        </p:txBody>
      </p:sp>
      <p:sp>
        <p:nvSpPr>
          <p:cNvPr id="215" name="Google Shape;215;p22"/>
          <p:cNvSpPr txBox="1"/>
          <p:nvPr/>
        </p:nvSpPr>
        <p:spPr>
          <a:xfrm>
            <a:off x="3569344" y="2995612"/>
            <a:ext cx="2217390" cy="600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Mastering data.table, complex joins, piping, and dataset restructuring.</a:t>
            </a:r>
            <a:endParaRPr/>
          </a:p>
        </p:txBody>
      </p:sp>
      <p:sp>
        <p:nvSpPr>
          <p:cNvPr id="216" name="Google Shape;216;p22"/>
          <p:cNvSpPr txBox="1"/>
          <p:nvPr/>
        </p:nvSpPr>
        <p:spPr>
          <a:xfrm>
            <a:off x="6349830" y="4395787"/>
            <a:ext cx="2328259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F46E5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Module 3: Big Data Engine</a:t>
            </a:r>
            <a:endParaRPr/>
          </a:p>
        </p:txBody>
      </p:sp>
      <p:sp>
        <p:nvSpPr>
          <p:cNvPr id="217" name="Google Shape;217;p22"/>
          <p:cNvSpPr txBox="1"/>
          <p:nvPr/>
        </p:nvSpPr>
        <p:spPr>
          <a:xfrm>
            <a:off x="6405264" y="4967287"/>
            <a:ext cx="2217390" cy="600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Connecting R to Apache Arrow, DuckDB, Sparklyr, and SQL databases.</a:t>
            </a:r>
            <a:endParaRPr/>
          </a:p>
        </p:txBody>
      </p:sp>
      <p:sp>
        <p:nvSpPr>
          <p:cNvPr id="218" name="Google Shape;218;p22"/>
          <p:cNvSpPr txBox="1"/>
          <p:nvPr/>
        </p:nvSpPr>
        <p:spPr>
          <a:xfrm>
            <a:off x="9185750" y="2424112"/>
            <a:ext cx="2328259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F46E5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Module 4: Deployment &amp; Viz</a:t>
            </a:r>
            <a:endParaRPr/>
          </a:p>
        </p:txBody>
      </p:sp>
      <p:sp>
        <p:nvSpPr>
          <p:cNvPr id="219" name="Google Shape;219;p22"/>
          <p:cNvSpPr txBox="1"/>
          <p:nvPr/>
        </p:nvSpPr>
        <p:spPr>
          <a:xfrm>
            <a:off x="9241184" y="2995612"/>
            <a:ext cx="2217390" cy="600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Building ggplot2 graphics, interactive Shiny apps, and machine learning pipelines.</a:t>
            </a:r>
            <a:endParaRPr/>
          </a:p>
        </p:txBody>
      </p:sp>
      <p:sp>
        <p:nvSpPr>
          <p:cNvPr id="220" name="Google Shape;220;p22"/>
          <p:cNvSpPr/>
          <p:nvPr/>
        </p:nvSpPr>
        <p:spPr>
          <a:xfrm>
            <a:off x="1746870" y="3900487"/>
            <a:ext cx="190500" cy="190500"/>
          </a:xfrm>
          <a:prstGeom prst="roundRect">
            <a:avLst>
              <a:gd fmla="val 50000" name="adj"/>
            </a:avLst>
          </a:prstGeom>
          <a:solidFill>
            <a:srgbClr val="FFFFFF"/>
          </a:solidFill>
          <a:ln cap="flat" cmpd="sng" w="38100">
            <a:solidFill>
              <a:srgbClr val="4F46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22"/>
          <p:cNvSpPr/>
          <p:nvPr/>
        </p:nvSpPr>
        <p:spPr>
          <a:xfrm>
            <a:off x="4582790" y="3900487"/>
            <a:ext cx="190500" cy="190500"/>
          </a:xfrm>
          <a:prstGeom prst="roundRect">
            <a:avLst>
              <a:gd fmla="val 50000" name="adj"/>
            </a:avLst>
          </a:prstGeom>
          <a:solidFill>
            <a:srgbClr val="FFFFFF"/>
          </a:solidFill>
          <a:ln cap="flat" cmpd="sng" w="38100">
            <a:solidFill>
              <a:srgbClr val="4F46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22"/>
          <p:cNvSpPr/>
          <p:nvPr/>
        </p:nvSpPr>
        <p:spPr>
          <a:xfrm>
            <a:off x="7418709" y="3900487"/>
            <a:ext cx="190500" cy="190500"/>
          </a:xfrm>
          <a:prstGeom prst="roundRect">
            <a:avLst>
              <a:gd fmla="val 50000" name="adj"/>
            </a:avLst>
          </a:prstGeom>
          <a:solidFill>
            <a:srgbClr val="FFFFFF"/>
          </a:solidFill>
          <a:ln cap="flat" cmpd="sng" w="38100">
            <a:solidFill>
              <a:srgbClr val="4F46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22"/>
          <p:cNvSpPr/>
          <p:nvPr/>
        </p:nvSpPr>
        <p:spPr>
          <a:xfrm>
            <a:off x="10254629" y="3900487"/>
            <a:ext cx="190500" cy="190500"/>
          </a:xfrm>
          <a:prstGeom prst="roundRect">
            <a:avLst>
              <a:gd fmla="val 50000" name="adj"/>
            </a:avLst>
          </a:prstGeom>
          <a:solidFill>
            <a:srgbClr val="FFFFFF"/>
          </a:solidFill>
          <a:ln cap="flat" cmpd="sng" w="38100">
            <a:solidFill>
              <a:srgbClr val="4F46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22"/>
          <p:cNvSpPr txBox="1"/>
          <p:nvPr/>
        </p:nvSpPr>
        <p:spPr>
          <a:xfrm>
            <a:off x="571500" y="476250"/>
            <a:ext cx="11601450" cy="542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700" u="none" cap="none" strike="noStrike">
                <a:solidFill>
                  <a:srgbClr val="1E1B4B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R Curriculum Learning Roadmap</a:t>
            </a:r>
            <a:endParaRPr/>
          </a:p>
        </p:txBody>
      </p:sp>
      <p:sp>
        <p:nvSpPr>
          <p:cNvPr id="225" name="Google Shape;225;p22"/>
          <p:cNvSpPr/>
          <p:nvPr/>
        </p:nvSpPr>
        <p:spPr>
          <a:xfrm>
            <a:off x="571500" y="1114425"/>
            <a:ext cx="1104900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30" name="Google Shape;230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31" name="Google Shape;231;p23"/>
          <p:cNvSpPr txBox="1"/>
          <p:nvPr/>
        </p:nvSpPr>
        <p:spPr>
          <a:xfrm>
            <a:off x="1781175" y="2934146"/>
            <a:ext cx="8629650" cy="14658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498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850" u="none" cap="none" strike="noStrike">
                <a:solidFill>
                  <a:srgbClr val="1E1B4B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R remains the gold standard for statistical rigor, reproducible analysis, and turning complex datasets into clear executive insights.</a:t>
            </a:r>
            <a:endParaRPr/>
          </a:p>
        </p:txBody>
      </p:sp>
      <p:sp>
        <p:nvSpPr>
          <p:cNvPr id="232" name="Google Shape;232;p23"/>
          <p:cNvSpPr txBox="1"/>
          <p:nvPr/>
        </p:nvSpPr>
        <p:spPr>
          <a:xfrm>
            <a:off x="4610100" y="4638079"/>
            <a:ext cx="29718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6366F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— Lead Enterprise Data Scientist</a:t>
            </a:r>
            <a:endParaRPr/>
          </a:p>
        </p:txBody>
      </p:sp>
      <p:sp>
        <p:nvSpPr>
          <p:cNvPr id="233" name="Google Shape;233;p23"/>
          <p:cNvSpPr txBox="1"/>
          <p:nvPr/>
        </p:nvSpPr>
        <p:spPr>
          <a:xfrm>
            <a:off x="1304925" y="3124646"/>
            <a:ext cx="285750" cy="129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750" u="none" cap="none" strike="noStrike">
                <a:solidFill>
                  <a:srgbClr val="C7D2FE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"</a:t>
            </a:r>
            <a:endParaRPr/>
          </a:p>
        </p:txBody>
      </p:sp>
      <p:sp>
        <p:nvSpPr>
          <p:cNvPr id="234" name="Google Shape;234;p23"/>
          <p:cNvSpPr txBox="1"/>
          <p:nvPr/>
        </p:nvSpPr>
        <p:spPr>
          <a:xfrm>
            <a:off x="10601325" y="4399958"/>
            <a:ext cx="285750" cy="129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750" u="none" cap="none" strike="noStrike">
                <a:solidFill>
                  <a:srgbClr val="C7D2FE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"</a:t>
            </a:r>
            <a:endParaRPr/>
          </a:p>
        </p:txBody>
      </p:sp>
      <p:sp>
        <p:nvSpPr>
          <p:cNvPr id="235" name="Google Shape;235;p23"/>
          <p:cNvSpPr txBox="1"/>
          <p:nvPr/>
        </p:nvSpPr>
        <p:spPr>
          <a:xfrm>
            <a:off x="571500" y="476250"/>
            <a:ext cx="11601450" cy="542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700" u="none" cap="none" strike="noStrike">
                <a:solidFill>
                  <a:srgbClr val="1E1B4B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Why Industry Values R</a:t>
            </a:r>
            <a:endParaRPr/>
          </a:p>
        </p:txBody>
      </p:sp>
      <p:sp>
        <p:nvSpPr>
          <p:cNvPr id="236" name="Google Shape;236;p23"/>
          <p:cNvSpPr/>
          <p:nvPr/>
        </p:nvSpPr>
        <p:spPr>
          <a:xfrm>
            <a:off x="571500" y="1114425"/>
            <a:ext cx="1104900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41" name="Google Shape;241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42" name="Google Shape;242;p2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871787" y="2314575"/>
            <a:ext cx="6448425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243" name="Google Shape;243;p24"/>
          <p:cNvSpPr txBox="1"/>
          <p:nvPr/>
        </p:nvSpPr>
        <p:spPr>
          <a:xfrm>
            <a:off x="295275" y="476250"/>
            <a:ext cx="11601450" cy="904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800" u="none" cap="none" strike="noStrike">
                <a:solidFill>
                  <a:srgbClr val="1E1B4B"/>
                </a:solidFill>
                <a:latin typeface="Poppins"/>
                <a:ea typeface="Poppins"/>
                <a:cs typeface="Poppins"/>
                <a:sym typeface="Poppins"/>
              </a:rPr>
              <a:t>Questions &amp; Discussion</a:t>
            </a:r>
            <a:endParaRPr/>
          </a:p>
        </p:txBody>
      </p:sp>
      <p:sp>
        <p:nvSpPr>
          <p:cNvPr id="244" name="Google Shape;244;p24"/>
          <p:cNvSpPr txBox="1"/>
          <p:nvPr/>
        </p:nvSpPr>
        <p:spPr>
          <a:xfrm>
            <a:off x="571500" y="1524000"/>
            <a:ext cx="11049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Thank you for exploring the Big Data R Curriculum.</a:t>
            </a:r>
            <a:endParaRPr/>
          </a:p>
        </p:txBody>
      </p:sp>
      <p:pic>
        <p:nvPicPr>
          <p:cNvPr descr="image.png" id="245" name="Google Shape;245;p2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138487" y="2447925"/>
            <a:ext cx="238125" cy="190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50" name="Google Shape;250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51" name="Google Shape;251;p25"/>
          <p:cNvSpPr/>
          <p:nvPr/>
        </p:nvSpPr>
        <p:spPr>
          <a:xfrm>
            <a:off x="571500" y="1976437"/>
            <a:ext cx="11049000" cy="7715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p25"/>
          <p:cNvSpPr/>
          <p:nvPr/>
        </p:nvSpPr>
        <p:spPr>
          <a:xfrm>
            <a:off x="571500" y="2747962"/>
            <a:ext cx="11049000" cy="7715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p25"/>
          <p:cNvSpPr/>
          <p:nvPr/>
        </p:nvSpPr>
        <p:spPr>
          <a:xfrm>
            <a:off x="571500" y="3519487"/>
            <a:ext cx="11049000" cy="7715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p25"/>
          <p:cNvSpPr/>
          <p:nvPr/>
        </p:nvSpPr>
        <p:spPr>
          <a:xfrm>
            <a:off x="571500" y="4291012"/>
            <a:ext cx="11049000" cy="7715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25"/>
          <p:cNvSpPr/>
          <p:nvPr/>
        </p:nvSpPr>
        <p:spPr>
          <a:xfrm>
            <a:off x="571500" y="2738437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25"/>
          <p:cNvSpPr/>
          <p:nvPr/>
        </p:nvSpPr>
        <p:spPr>
          <a:xfrm>
            <a:off x="571500" y="2738437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p25"/>
          <p:cNvSpPr/>
          <p:nvPr/>
        </p:nvSpPr>
        <p:spPr>
          <a:xfrm>
            <a:off x="571500" y="3509962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p25"/>
          <p:cNvSpPr/>
          <p:nvPr/>
        </p:nvSpPr>
        <p:spPr>
          <a:xfrm>
            <a:off x="571500" y="3509962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p25"/>
          <p:cNvSpPr/>
          <p:nvPr/>
        </p:nvSpPr>
        <p:spPr>
          <a:xfrm>
            <a:off x="571500" y="4281487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p25"/>
          <p:cNvSpPr/>
          <p:nvPr/>
        </p:nvSpPr>
        <p:spPr>
          <a:xfrm>
            <a:off x="571500" y="4281487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p25"/>
          <p:cNvSpPr/>
          <p:nvPr/>
        </p:nvSpPr>
        <p:spPr>
          <a:xfrm>
            <a:off x="571500" y="5053012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" name="Google Shape;262;p25"/>
          <p:cNvSpPr/>
          <p:nvPr/>
        </p:nvSpPr>
        <p:spPr>
          <a:xfrm>
            <a:off x="571500" y="5053012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263" name="Google Shape;263;p2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119312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64" name="Google Shape;264;p25"/>
          <p:cNvSpPr txBox="1"/>
          <p:nvPr/>
        </p:nvSpPr>
        <p:spPr>
          <a:xfrm>
            <a:off x="1666875" y="2126456"/>
            <a:ext cx="9953625" cy="1857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https://www.mentionlytics.com/wp-content/uploads/2025/06/Competitive-analysis-dashboard.png</a:t>
            </a:r>
            <a:endParaRPr/>
          </a:p>
        </p:txBody>
      </p:sp>
      <p:sp>
        <p:nvSpPr>
          <p:cNvPr id="265" name="Google Shape;265;p25"/>
          <p:cNvSpPr txBox="1"/>
          <p:nvPr/>
        </p:nvSpPr>
        <p:spPr>
          <a:xfrm>
            <a:off x="1666875" y="2359818"/>
            <a:ext cx="9953625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Inter"/>
                <a:ea typeface="Inter"/>
                <a:cs typeface="Inter"/>
                <a:sym typeface="Inter"/>
              </a:rPr>
              <a:t>www.mentionlytics.com</a:t>
            </a:r>
            <a:endParaRPr/>
          </a:p>
        </p:txBody>
      </p:sp>
      <p:pic>
        <p:nvPicPr>
          <p:cNvPr descr="image.png" id="266" name="Google Shape;266;p2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2890837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67" name="Google Shape;267;p25"/>
          <p:cNvSpPr txBox="1"/>
          <p:nvPr/>
        </p:nvSpPr>
        <p:spPr>
          <a:xfrm>
            <a:off x="1666875" y="2897981"/>
            <a:ext cx="9953625" cy="1857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https://talentoindia.com/blog/wp-content/uploads/2025/09/Data-Scientist-analyzing-Python-code-and-data-visualizations-on-multiple-screens.jpeg</a:t>
            </a:r>
            <a:endParaRPr/>
          </a:p>
        </p:txBody>
      </p:sp>
      <p:sp>
        <p:nvSpPr>
          <p:cNvPr id="268" name="Google Shape;268;p25"/>
          <p:cNvSpPr txBox="1"/>
          <p:nvPr/>
        </p:nvSpPr>
        <p:spPr>
          <a:xfrm>
            <a:off x="1666875" y="3131343"/>
            <a:ext cx="9953625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Inter"/>
                <a:ea typeface="Inter"/>
                <a:cs typeface="Inter"/>
                <a:sym typeface="Inter"/>
              </a:rPr>
              <a:t>talentoindia.com</a:t>
            </a:r>
            <a:endParaRPr/>
          </a:p>
        </p:txBody>
      </p:sp>
      <p:pic>
        <p:nvPicPr>
          <p:cNvPr descr="image.png" id="269" name="Google Shape;269;p2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3662362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70" name="Google Shape;270;p25"/>
          <p:cNvSpPr txBox="1"/>
          <p:nvPr/>
        </p:nvSpPr>
        <p:spPr>
          <a:xfrm>
            <a:off x="1666875" y="3669506"/>
            <a:ext cx="9953625" cy="1857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https://uop.scene7.com/is/image/phoenixedu/blog-hero-hands-typing-on-laptop-with-data-code-and-charts.webp?fmt=webp-alpha&amp;qlt=70&amp;fit=constrain,1&amp;wid=700</a:t>
            </a:r>
            <a:endParaRPr/>
          </a:p>
        </p:txBody>
      </p:sp>
      <p:sp>
        <p:nvSpPr>
          <p:cNvPr id="271" name="Google Shape;271;p25"/>
          <p:cNvSpPr txBox="1"/>
          <p:nvPr/>
        </p:nvSpPr>
        <p:spPr>
          <a:xfrm>
            <a:off x="1666875" y="3902868"/>
            <a:ext cx="9953625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Inter"/>
                <a:ea typeface="Inter"/>
                <a:cs typeface="Inter"/>
                <a:sym typeface="Inter"/>
              </a:rPr>
              <a:t>www.phoenix.edu</a:t>
            </a:r>
            <a:endParaRPr/>
          </a:p>
        </p:txBody>
      </p:sp>
      <p:pic>
        <p:nvPicPr>
          <p:cNvPr descr="image.png" id="272" name="Google Shape;272;p2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71500" y="4433887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73" name="Google Shape;273;p25"/>
          <p:cNvSpPr txBox="1"/>
          <p:nvPr/>
        </p:nvSpPr>
        <p:spPr>
          <a:xfrm>
            <a:off x="1666875" y="4441031"/>
            <a:ext cx="9953625" cy="1857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https://i1.pickpik.com/photos/526/868/890/analysis-analytics-business-chart-preview.jpg</a:t>
            </a:r>
            <a:endParaRPr/>
          </a:p>
        </p:txBody>
      </p:sp>
      <p:sp>
        <p:nvSpPr>
          <p:cNvPr id="274" name="Google Shape;274;p25"/>
          <p:cNvSpPr txBox="1"/>
          <p:nvPr/>
        </p:nvSpPr>
        <p:spPr>
          <a:xfrm>
            <a:off x="1666875" y="4674393"/>
            <a:ext cx="9953625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Inter"/>
                <a:ea typeface="Inter"/>
                <a:cs typeface="Inter"/>
                <a:sym typeface="Inter"/>
              </a:rPr>
              <a:t>www.pickpik.com</a:t>
            </a:r>
            <a:endParaRPr/>
          </a:p>
        </p:txBody>
      </p:sp>
      <p:pic>
        <p:nvPicPr>
          <p:cNvPr descr="image.png" id="275" name="Google Shape;275;p25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71500" y="5205412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76" name="Google Shape;276;p25"/>
          <p:cNvSpPr txBox="1"/>
          <p:nvPr/>
        </p:nvSpPr>
        <p:spPr>
          <a:xfrm>
            <a:off x="1666875" y="5212556"/>
            <a:ext cx="9953625" cy="1857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https://www.clicdata.com/wp-content/uploads/2025/03/dashboards-sample-1-1024x829.webp</a:t>
            </a:r>
            <a:endParaRPr/>
          </a:p>
        </p:txBody>
      </p:sp>
      <p:sp>
        <p:nvSpPr>
          <p:cNvPr id="277" name="Google Shape;277;p25"/>
          <p:cNvSpPr txBox="1"/>
          <p:nvPr/>
        </p:nvSpPr>
        <p:spPr>
          <a:xfrm>
            <a:off x="1666875" y="5445918"/>
            <a:ext cx="9953625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Inter"/>
                <a:ea typeface="Inter"/>
                <a:cs typeface="Inter"/>
                <a:sym typeface="Inter"/>
              </a:rPr>
              <a:t>www.clicdata.com</a:t>
            </a:r>
            <a:endParaRPr/>
          </a:p>
        </p:txBody>
      </p:sp>
      <p:sp>
        <p:nvSpPr>
          <p:cNvPr id="278" name="Google Shape;278;p25"/>
          <p:cNvSpPr txBox="1"/>
          <p:nvPr/>
        </p:nvSpPr>
        <p:spPr>
          <a:xfrm>
            <a:off x="571500" y="476250"/>
            <a:ext cx="11601450" cy="542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700" u="none" cap="none" strike="noStrike">
                <a:solidFill>
                  <a:srgbClr val="1E1B4B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Image Sources</a:t>
            </a:r>
            <a:endParaRPr/>
          </a:p>
        </p:txBody>
      </p:sp>
      <p:sp>
        <p:nvSpPr>
          <p:cNvPr id="279" name="Google Shape;279;p25"/>
          <p:cNvSpPr/>
          <p:nvPr/>
        </p:nvSpPr>
        <p:spPr>
          <a:xfrm>
            <a:off x="571500" y="1114425"/>
            <a:ext cx="1104900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