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oppins Medium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italic.fntdata"/><Relationship Id="rId10" Type="http://schemas.openxmlformats.org/officeDocument/2006/relationships/slide" Target="slides/slide5.xml"/><Relationship Id="rId32" Type="http://schemas.openxmlformats.org/officeDocument/2006/relationships/font" Target="fonts/PoppinsMedium-bold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Poppi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oppinsSemiBold-boldItalic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5.png"/><Relationship Id="rId11" Type="http://schemas.openxmlformats.org/officeDocument/2006/relationships/image" Target="../media/image8.png"/><Relationship Id="rId10" Type="http://schemas.openxmlformats.org/officeDocument/2006/relationships/image" Target="../media/image12.png"/><Relationship Id="rId12" Type="http://schemas.openxmlformats.org/officeDocument/2006/relationships/image" Target="../media/image20.png"/><Relationship Id="rId9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2161282"/>
            <a:ext cx="3028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628007"/>
            <a:ext cx="1160145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E-Commerce Churn &amp; Personalization Engine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05000" y="3953767"/>
            <a:ext cx="838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5-week hands-on Big Data project built progressively in R across the core analytics lifecycle stages.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533650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55620" y="2762250"/>
            <a:ext cx="60807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Course Project Strategy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905000" y="3771900"/>
            <a:ext cx="838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Transforming modular lectures into one continuous enterprise data project developed week by week.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0350"/>
            <a:ext cx="53340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00350"/>
            <a:ext cx="533400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47725" y="3076575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Pedagogical Vision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47725" y="3467100"/>
            <a:ext cx="47815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Instead of isolated homework assignments, students build a single real-world system from raw logs to production. Each week adds a new layer to their R codebase.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562725" y="3076575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Enterprise Scenario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562725" y="3467100"/>
            <a:ext cx="47815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Students act as Big Data Consultants for an e-commerce platform facing high customer drop-off. They ingest clickstreams, test hypotheses, build models, and deploy solutions.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Incremental Blueprint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335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838200" y="203358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Ingest raw multi-source clickstream logs, order receipts, and user profiles.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38200" y="268128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Clean missing demographics and normalize purchase dollar amounts in R.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38200" y="332898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Deduplicate transaction records and isolate outlier buying behavior.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38200" y="3976687"/>
            <a:ext cx="5067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Engineer Recency, Frequency, and Monetary (RFM) customer feature tables.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335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1: Data Preparation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526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03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4803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95737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8937"/>
            <a:ext cx="53340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28937"/>
            <a:ext cx="5334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47725" y="3205162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Hypothesis Formulation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47725" y="3595687"/>
            <a:ext cx="4781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Formulate Null (H₀) and Alternative (H₁) hypotheses to test marketing claims (e.g., "Discount-only buyers churn 40% faster").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562725" y="3205162"/>
            <a:ext cx="50206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Statistical Rigor in R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562725" y="3595687"/>
            <a:ext cx="47815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Execute t-tests, ANOVA, and Chi-Square tests to verify whether churn drivers are statistically significant vs. random sample variance.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2: Model Planning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71500" y="476250"/>
            <a:ext cx="56007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3: Model Building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71500" y="1057275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71500" y="130492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Predictive Analytics in R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16954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Train Logistic Regression (`glm`) and Random Forest models in R to calculate individual customer churn probability scores.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232410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Perform diagnostic validation using confusion matrices, residual plots, ROC curves, and AUC evaluation metrics.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1787"/>
            <a:ext cx="53340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871662" y="3205162"/>
            <a:ext cx="27336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$120k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2476500" y="4252912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12E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Monthly Savings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286500" y="2871787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Communicating to Stakeholders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286500" y="326231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Build an interactive R Shiny dashboard and ggplot2 graphics to present actionable insights directly to non-technical executives.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286500" y="3890962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Demonstrate how flagging the top 5% at-risk customer segment prevents severe churn and recovers significant enterprise revenue.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4: Results &amp; Impact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6025"/>
            <a:ext cx="35242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86025"/>
            <a:ext cx="35242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486025"/>
            <a:ext cx="35242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74320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28675" y="3409950"/>
            <a:ext cx="22402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Distributed Engines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28675" y="3800475"/>
            <a:ext cx="30099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Connect R scripts to Hadoop/HDFS, Hive, and Apache Spark for handling high-volume distributed logs.</a:t>
            </a:r>
            <a:endParaRPr/>
          </a:p>
        </p:txBody>
      </p:sp>
      <p:pic>
        <p:nvPicPr>
          <p:cNvPr descr="image.png" id="174" name="Google Shape;17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1050" y="274320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591050" y="3409950"/>
            <a:ext cx="21802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Stream Processing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591050" y="3800475"/>
            <a:ext cx="30099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Integrate models with Kafka and Spark Streaming to score live clickstreams in near real-time.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3425" y="274320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353425" y="3409950"/>
            <a:ext cx="149018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12E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PII &amp; Security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353425" y="3800475"/>
            <a:ext cx="3009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 static data masking and anonymization rules to protect sensitive user PII during production deployment.</a:t>
            </a:r>
            <a:endParaRPr/>
          </a:p>
        </p:txBody>
      </p:sp>
      <p:pic>
        <p:nvPicPr>
          <p:cNvPr descr="image.png" id="180" name="Google Shape;18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550" y="28860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8212" y="288607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67725" y="288607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5: Operationalizing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04925"/>
            <a:ext cx="11049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571500" y="4500562"/>
            <a:ext cx="11049000" cy="742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762000" y="4614862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Students benchmark query execution speeds across modern R big data tools, observing how optimized packages process millions of records effortlessly.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4500562"/>
            <a:ext cx="38100" cy="7429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Speed Benchmarks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00512"/>
            <a:ext cx="1988790" cy="908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6515" y="2772965"/>
            <a:ext cx="1988790" cy="908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1530" y="4100512"/>
            <a:ext cx="1988790" cy="908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6545" y="2772965"/>
            <a:ext cx="1988790" cy="908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1560" y="4100512"/>
            <a:ext cx="1988790" cy="90844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571500" y="38719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671798" y="4243387"/>
            <a:ext cx="17881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1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14375" y="4519612"/>
            <a:ext cx="170304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Raw Data Prep &amp; RFM Table Creation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2936814" y="2915840"/>
            <a:ext cx="17881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2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2979390" y="3192065"/>
            <a:ext cx="170304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Hypothesis Testing &amp; EDA in R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201829" y="4243387"/>
            <a:ext cx="17881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3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244405" y="4519612"/>
            <a:ext cx="170304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Building &amp; ROC Diagnostics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7466844" y="2915840"/>
            <a:ext cx="17881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4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7509420" y="3192065"/>
            <a:ext cx="170304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Interactive R Shiny Dashboard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731859" y="4243387"/>
            <a:ext cx="178819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5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774435" y="4519612"/>
            <a:ext cx="1703040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Spark Deployment &amp; PII Security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1480170" y="38052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745185" y="38052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010200" y="38052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8275215" y="38052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0540231" y="380523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5-Week Project Roadmap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1781175" y="2764333"/>
            <a:ext cx="8629650" cy="1748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By connecting every lecture to one continuously evolving project, students graduate with an end-to-end Big Data codebase and a portfolio-ready enterprise system.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3819525" y="4703266"/>
            <a:ext cx="4552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366F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Fundamentals of Big Data Curriculum Philosophy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304925" y="2954833"/>
            <a:ext cx="238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C7D2F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0648950" y="4512761"/>
            <a:ext cx="2381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C7D2F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Pedagogical Advantage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6550" y="2190750"/>
            <a:ext cx="64389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295275" y="476250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14763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Ready to implement the Incremental Big Data Project Curriculum.</a:t>
            </a:r>
            <a:endParaRPr/>
          </a:p>
        </p:txBody>
      </p:sp>
      <p:pic>
        <p:nvPicPr>
          <p:cNvPr descr="image.png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3250" y="2324100"/>
            <a:ext cx="2286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571500" y="30765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3838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838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19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66875" y="32265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https://www.sloane-staffing.com/images/79ded7cd-1709234404591.jpg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666875" y="34599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www.sloane-staffing.com</a:t>
            </a:r>
            <a:endParaRPr/>
          </a:p>
        </p:txBody>
      </p:sp>
      <p:pic>
        <p:nvPicPr>
          <p:cNvPr descr="image.png" id="255" name="Google Shape;25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90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666875" y="39981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https://miro.medium.com/1*uq_GVCVhGRqzlj0kkO0X0g.png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666875" y="42314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1B4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