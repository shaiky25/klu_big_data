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is about one idea: validation isn't optional at big-data scale, and it doesn't have to live in one tool. We diagnose in R because that's where the statistical depth lives, then push the scoring step into SQL because that's where the row counts live. By the end of this deck you'll have a repeatable pattern for regression, classification, and clustering diagnostics that works whether you're validating on a laptop or a live warehouse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for the whole deck: R and SQL aren't competing tools, they're two stages of the same pipeline. You diagnose where the statistical libraries live, then you deploy the scoring logic to where the data already sits, so you never pull a billion-row table into memory just to compute an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R² tells you the headline story, but it can't tell you whether the model is systematically wrong somewhere specific — only the residual plot can. Here the scatter is flat and random around zero across the whole range, which is exactly what a well-specified model looks like. A curved or funnel-shaped residual plot would be the red flag, even with a great R².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same R² and RMSE definition from the last slide, just expressed as one aggregate query. The window function computes the grand mean in the same pass as everything else, so the whole evaluate step is a single scan of the table — no row-by-row loop, no pulling data out to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and AUC both look healthy on their own, and that's exactly the trap a headline metric sets. The matrix breaks the same result into four numbers, and here the false-negative cell is the one that matters most — it tells you which real cases the model is quietly missing, something no single summary number can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bows well above the diagonal, which is the visual version of an AUC comfortably above 0.5 — a random classifier would trace that dashed diagonal line exactly. This is the same holdout set from the confusion matrix slide; AUC and the matrix are two independent checks on the same model, and both need to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elbow chart and the silhouette score are answering two different questions. The elbow says three clusters is where adding more stops paying off in tightness. Silhouette says even at three, points aren't cleanly closer to their own cluster than the next one — 0.42 against a 0.50 bar. Both checks matter before you build a plan on top of the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Centroids are tiny — three or four rows — so the cross join stays cheap even at scale; it's the row count on the restaurants side that would kill this in R's memory. ROW_NUMBER over the ranked distances picks each row's nearest centroid, and summing that distance column grouped by cluster reproduces WCSS as a single aggregate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guardrails are what keep the hybrid pattern from drifting apart in production: agree on thresholds up front, re-check them on a schedule rather than once at launch, keep the heavy compute where the data already lives, and version the model artifact the same way you'd version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to leave the room with: R and SQL aren't a choice you make once — they're two stages every model passes through, diagnose then deploy. Bring a model of your own next session and we'll run this exact protocol on it live. Happy to take questions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24"/>
        </a:solidFill>
      </p:bgPr>
    </p:bg>
    <p:spTree>
      <p:nvGrpSpPr>
        <p:cNvPr id="1" name=""/>
        <p:cNvGrpSpPr/>
        <p:nvPr/>
      </p:nvGrpSpPr>
      <p:grpSpPr>
        <a:xfrm>
          <a:off x="0" y="0"/>
          <a:ext cx="0" cy="0"/>
          <a:chOff x="0" y="0"/>
          <a:chExt cx="0" cy="0"/>
        </a:xfrm>
      </p:grpSpPr>
      <p:sp>
        <p:nvSpPr>
          <p:cNvPr id="2" name="Text 0"/>
          <p:cNvSpPr/>
          <p:nvPr/>
        </p:nvSpPr>
        <p:spPr>
          <a:xfrm>
            <a:off x="822960" y="822960"/>
            <a:ext cx="7315200" cy="320040"/>
          </a:xfrm>
          <a:prstGeom prst="rect">
            <a:avLst/>
          </a:prstGeom>
          <a:noFill/>
          <a:ln/>
        </p:spPr>
        <p:txBody>
          <a:bodyPr wrap="square"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BIG DATA ANALYTICS — PROGRAM OF PRACTICE</a:t>
            </a:r>
            <a:endParaRPr lang="en-US" sz="1200" dirty="0"/>
          </a:p>
        </p:txBody>
      </p:sp>
      <p:sp>
        <p:nvSpPr>
          <p:cNvPr id="3" name="Text 1"/>
          <p:cNvSpPr/>
          <p:nvPr/>
        </p:nvSpPr>
        <p:spPr>
          <a:xfrm>
            <a:off x="822960" y="2377440"/>
            <a:ext cx="10515600" cy="13716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Validating Big Data Models at Scale</a:t>
            </a:r>
            <a:endParaRPr lang="en-US" sz="4400" dirty="0"/>
          </a:p>
        </p:txBody>
      </p:sp>
      <p:sp>
        <p:nvSpPr>
          <p:cNvPr id="4" name="Text 2"/>
          <p:cNvSpPr/>
          <p:nvPr/>
        </p:nvSpPr>
        <p:spPr>
          <a:xfrm>
            <a:off x="822960" y="3611880"/>
            <a:ext cx="9601200" cy="54864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 hybrid diagnostic framework — R for statistical rigor, SQL for in-database scale</a:t>
            </a:r>
            <a:endParaRPr lang="en-US" sz="1800" dirty="0"/>
          </a:p>
        </p:txBody>
      </p:sp>
      <p:sp>
        <p:nvSpPr>
          <p:cNvPr id="5" name="Shape 3"/>
          <p:cNvSpPr/>
          <p:nvPr/>
        </p:nvSpPr>
        <p:spPr>
          <a:xfrm>
            <a:off x="9486900" y="754380"/>
            <a:ext cx="960120" cy="960120"/>
          </a:xfrm>
          <a:prstGeom prst="ellipse">
            <a:avLst/>
          </a:prstGeom>
          <a:solidFill>
            <a:srgbClr val="2C7FB0"/>
          </a:solidFill>
          <a:ln/>
          <a:effectLst>
            <a:outerShdw sx="100000" sy="100000" kx="0" ky="0" algn="bl" rotWithShape="0" blurRad="88900" dist="25400" dir="5400000">
              <a:srgbClr val="0B0E24">
                <a:alpha val="22000"/>
              </a:srgbClr>
            </a:outerShdw>
          </a:effectLst>
        </p:spPr>
      </p:sp>
      <p:pic>
        <p:nvPicPr>
          <p:cNvPr id="6" name="Image 0" descr="preencoded.png">    </p:cNvPr>
          <p:cNvPicPr>
            <a:picLocks noChangeAspect="1"/>
          </p:cNvPicPr>
          <p:nvPr/>
        </p:nvPicPr>
        <p:blipFill>
          <a:blip r:embed="rId1"/>
          <a:stretch>
            <a:fillRect/>
          </a:stretch>
        </p:blipFill>
        <p:spPr>
          <a:xfrm>
            <a:off x="9717329" y="984809"/>
            <a:ext cx="499262" cy="499262"/>
          </a:xfrm>
          <a:prstGeom prst="rect">
            <a:avLst/>
          </a:prstGeom>
        </p:spPr>
      </p:pic>
      <p:sp>
        <p:nvSpPr>
          <p:cNvPr id="7" name="Shape 4"/>
          <p:cNvSpPr/>
          <p:nvPr/>
        </p:nvSpPr>
        <p:spPr>
          <a:xfrm>
            <a:off x="10264140" y="1257300"/>
            <a:ext cx="960120" cy="960120"/>
          </a:xfrm>
          <a:prstGeom prst="ellipse">
            <a:avLst/>
          </a:prstGeom>
          <a:solidFill>
            <a:srgbClr val="E8912D"/>
          </a:solidFill>
          <a:ln/>
          <a:effectLst>
            <a:outerShdw sx="100000" sy="100000" kx="0" ky="0" algn="bl" rotWithShape="0" blurRad="88900" dist="25400" dir="5400000">
              <a:srgbClr val="0B0E24">
                <a:alpha val="22000"/>
              </a:srgbClr>
            </a:outerShdw>
          </a:effectLst>
        </p:spPr>
      </p:sp>
      <p:pic>
        <p:nvPicPr>
          <p:cNvPr id="8" name="Image 1" descr="preencoded.png">    </p:cNvPr>
          <p:cNvPicPr>
            <a:picLocks noChangeAspect="1"/>
          </p:cNvPicPr>
          <p:nvPr/>
        </p:nvPicPr>
        <p:blipFill>
          <a:blip r:embed="rId2"/>
          <a:stretch>
            <a:fillRect/>
          </a:stretch>
        </p:blipFill>
        <p:spPr>
          <a:xfrm>
            <a:off x="10494569" y="1487729"/>
            <a:ext cx="499262" cy="499262"/>
          </a:xfrm>
          <a:prstGeom prst="rect">
            <a:avLst/>
          </a:prstGeom>
        </p:spPr>
      </p:pic>
      <p:sp>
        <p:nvSpPr>
          <p:cNvPr id="9" name="Shape 5"/>
          <p:cNvSpPr/>
          <p:nvPr/>
        </p:nvSpPr>
        <p:spPr>
          <a:xfrm>
            <a:off x="10332720" y="1417320"/>
            <a:ext cx="502920" cy="502920"/>
          </a:xfrm>
          <a:prstGeom prst="line">
            <a:avLst/>
          </a:prstGeom>
          <a:noFill/>
          <a:ln w="19050">
            <a:solidFill>
              <a:srgbClr val="CADCFC"/>
            </a:solidFill>
            <a:prstDash val="sysDot"/>
          </a:ln>
        </p:spPr>
      </p:sp>
      <p:sp>
        <p:nvSpPr>
          <p:cNvPr id="10" name="Text 6"/>
          <p:cNvSpPr/>
          <p:nvPr/>
        </p:nvSpPr>
        <p:spPr>
          <a:xfrm>
            <a:off x="822960" y="6035040"/>
            <a:ext cx="7315200" cy="320040"/>
          </a:xfrm>
          <a:prstGeom prst="rect">
            <a:avLst/>
          </a:prstGeom>
          <a:noFill/>
          <a:ln/>
        </p:spPr>
        <p:txBody>
          <a:bodyPr wrap="square" rtlCol="0" anchor="ctr"/>
          <a:lstStyle/>
          <a:p>
            <a:pPr indent="0" marL="0">
              <a:buNone/>
            </a:pPr>
            <a:r>
              <a:rPr lang="en-US" sz="1300" i="1" dirty="0">
                <a:solidFill>
                  <a:srgbClr val="8B95C4"/>
                </a:solidFill>
                <a:latin typeface="Calibri" pitchFamily="34" charset="0"/>
                <a:ea typeface="Calibri" pitchFamily="34" charset="-122"/>
                <a:cs typeface="Calibri" pitchFamily="34" charset="-120"/>
              </a:rPr>
              <a:t>Regression  ·  Classification  ·  Clustering</a:t>
            </a:r>
            <a:endParaRPr lang="en-US" sz="1300" dirty="0"/>
          </a:p>
        </p:txBody>
      </p:sp>
      <p:sp>
        <p:nvSpPr>
          <p:cNvPr id="11" name="Text 7"/>
          <p:cNvSpPr/>
          <p:nvPr/>
        </p:nvSpPr>
        <p:spPr>
          <a:xfrm>
            <a:off x="548640" y="6528816"/>
            <a:ext cx="7315200" cy="256032"/>
          </a:xfrm>
          <a:prstGeom prst="rect">
            <a:avLst/>
          </a:prstGeom>
          <a:noFill/>
          <a:ln/>
        </p:spPr>
        <p:txBody>
          <a:bodyPr wrap="square" rtlCol="0" anchor="ctr"/>
          <a:lstStyle/>
          <a:p>
            <a:pPr indent="0" marL="0">
              <a:buNone/>
            </a:pPr>
            <a:r>
              <a:rPr lang="en-US" sz="900" dirty="0">
                <a:solidFill>
                  <a:srgbClr val="6B75A0"/>
                </a:solidFill>
                <a:latin typeface="Calibri" pitchFamily="34" charset="0"/>
                <a:ea typeface="Calibri" pitchFamily="34" charset="-122"/>
                <a:cs typeface="Calibri" pitchFamily="34" charset="-120"/>
              </a:rPr>
              <a:t>BDA POP — Hybrid Model Validation (R + SQL)</a:t>
            </a:r>
            <a:endParaRPr lang="en-US" sz="900" dirty="0"/>
          </a:p>
        </p:txBody>
      </p:sp>
      <p:sp>
        <p:nvSpPr>
          <p:cNvPr id="12" name="Text 8"/>
          <p:cNvSpPr/>
          <p:nvPr/>
        </p:nvSpPr>
        <p:spPr>
          <a:xfrm>
            <a:off x="10972800" y="6528816"/>
            <a:ext cx="667512" cy="256032"/>
          </a:xfrm>
          <a:prstGeom prst="rect">
            <a:avLst/>
          </a:prstGeom>
          <a:noFill/>
          <a:ln/>
        </p:spPr>
        <p:txBody>
          <a:bodyPr wrap="square" rtlCol="0" anchor="ctr"/>
          <a:lstStyle/>
          <a:p>
            <a:pPr algn="r" indent="0" marL="0">
              <a:buNone/>
            </a:pPr>
            <a:r>
              <a:rPr lang="en-US" sz="900" dirty="0">
                <a:solidFill>
                  <a:srgbClr val="6B75A0"/>
                </a:solidFill>
                <a:latin typeface="Calibri" pitchFamily="34" charset="0"/>
                <a:ea typeface="Calibri" pitchFamily="34" charset="-122"/>
                <a:cs typeface="Calibri"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indent="0" marL="0">
              <a:buNone/>
            </a:pPr>
            <a:r>
              <a:rPr lang="en-US" sz="1200" b="1" spc="200" kern="0" dirty="0">
                <a:solidFill>
                  <a:srgbClr val="E8912D"/>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Hybrid Architecture: R + SQL</a:t>
            </a:r>
            <a:endParaRPr lang="en-US" sz="3200" dirty="0"/>
          </a:p>
        </p:txBody>
      </p:sp>
      <p:sp>
        <p:nvSpPr>
          <p:cNvPr id="4" name="Shape 2"/>
          <p:cNvSpPr/>
          <p:nvPr/>
        </p:nvSpPr>
        <p:spPr>
          <a:xfrm>
            <a:off x="548640" y="1691640"/>
            <a:ext cx="621792" cy="621792"/>
          </a:xfrm>
          <a:prstGeom prst="ellipse">
            <a:avLst/>
          </a:prstGeom>
          <a:solidFill>
            <a:srgbClr val="2C7FB0"/>
          </a:solidFill>
          <a:ln/>
          <a:effectLst>
            <a:outerShdw sx="100000" sy="100000" kx="0" ky="0" algn="bl" rotWithShape="0" blurRad="88900" dist="25400" dir="5400000">
              <a:srgbClr val="0B0E24">
                <a:alpha val="22000"/>
              </a:srgbClr>
            </a:outerShdw>
          </a:effectLst>
        </p:spPr>
      </p:sp>
      <p:pic>
        <p:nvPicPr>
          <p:cNvPr id="5" name="Image 0" descr="preencoded.png">    </p:cNvPr>
          <p:cNvPicPr>
            <a:picLocks noChangeAspect="1"/>
          </p:cNvPicPr>
          <p:nvPr/>
        </p:nvPicPr>
        <p:blipFill>
          <a:blip r:embed="rId1"/>
          <a:stretch>
            <a:fillRect/>
          </a:stretch>
        </p:blipFill>
        <p:spPr>
          <a:xfrm>
            <a:off x="697870" y="1840870"/>
            <a:ext cx="323332" cy="323332"/>
          </a:xfrm>
          <a:prstGeom prst="rect">
            <a:avLst/>
          </a:prstGeom>
        </p:spPr>
      </p:pic>
      <p:sp>
        <p:nvSpPr>
          <p:cNvPr id="6" name="Text 3"/>
          <p:cNvSpPr/>
          <p:nvPr/>
        </p:nvSpPr>
        <p:spPr>
          <a:xfrm>
            <a:off x="1298448" y="167335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 diagnoses</a:t>
            </a:r>
            <a:endParaRPr lang="en-US" sz="1450" dirty="0"/>
          </a:p>
        </p:txBody>
      </p:sp>
      <p:sp>
        <p:nvSpPr>
          <p:cNvPr id="7" name="Text 4"/>
          <p:cNvSpPr/>
          <p:nvPr/>
        </p:nvSpPr>
        <p:spPr>
          <a:xfrm>
            <a:off x="1298448" y="195681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Residuals, ROC curves, silhouette — the statistical depth SQL can't express.</a:t>
            </a:r>
            <a:endParaRPr lang="en-US" sz="1200" dirty="0"/>
          </a:p>
        </p:txBody>
      </p:sp>
      <p:sp>
        <p:nvSpPr>
          <p:cNvPr id="8" name="Shape 5"/>
          <p:cNvSpPr/>
          <p:nvPr/>
        </p:nvSpPr>
        <p:spPr>
          <a:xfrm>
            <a:off x="548640" y="2697480"/>
            <a:ext cx="621792" cy="621792"/>
          </a:xfrm>
          <a:prstGeom prst="ellipse">
            <a:avLst/>
          </a:prstGeom>
          <a:solidFill>
            <a:srgbClr val="E8912D"/>
          </a:solidFill>
          <a:ln/>
          <a:effectLst>
            <a:outerShdw sx="100000" sy="100000" kx="0" ky="0" algn="bl" rotWithShape="0" blurRad="88900" dist="25400" dir="5400000">
              <a:srgbClr val="0B0E24">
                <a:alpha val="22000"/>
              </a:srgbClr>
            </a:outerShdw>
          </a:effectLst>
        </p:spPr>
      </p:sp>
      <p:pic>
        <p:nvPicPr>
          <p:cNvPr id="9" name="Image 1" descr="preencoded.png">    </p:cNvPr>
          <p:cNvPicPr>
            <a:picLocks noChangeAspect="1"/>
          </p:cNvPicPr>
          <p:nvPr/>
        </p:nvPicPr>
        <p:blipFill>
          <a:blip r:embed="rId2"/>
          <a:stretch>
            <a:fillRect/>
          </a:stretch>
        </p:blipFill>
        <p:spPr>
          <a:xfrm>
            <a:off x="697870" y="2846710"/>
            <a:ext cx="323332" cy="323332"/>
          </a:xfrm>
          <a:prstGeom prst="rect">
            <a:avLst/>
          </a:prstGeom>
        </p:spPr>
      </p:pic>
      <p:sp>
        <p:nvSpPr>
          <p:cNvPr id="10" name="Text 6"/>
          <p:cNvSpPr/>
          <p:nvPr/>
        </p:nvSpPr>
        <p:spPr>
          <a:xfrm>
            <a:off x="1298448" y="267919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SQL scales</a:t>
            </a:r>
            <a:endParaRPr lang="en-US" sz="1450" dirty="0"/>
          </a:p>
        </p:txBody>
      </p:sp>
      <p:sp>
        <p:nvSpPr>
          <p:cNvPr id="11" name="Text 7"/>
          <p:cNvSpPr/>
          <p:nvPr/>
        </p:nvSpPr>
        <p:spPr>
          <a:xfrm>
            <a:off x="1298448" y="296265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Window functions and aggregates score millions of rows in place.</a:t>
            </a:r>
            <a:endParaRPr lang="en-US" sz="1200" dirty="0"/>
          </a:p>
        </p:txBody>
      </p:sp>
      <p:sp>
        <p:nvSpPr>
          <p:cNvPr id="12" name="Shape 8"/>
          <p:cNvSpPr/>
          <p:nvPr/>
        </p:nvSpPr>
        <p:spPr>
          <a:xfrm>
            <a:off x="548640" y="3703320"/>
            <a:ext cx="621792" cy="621792"/>
          </a:xfrm>
          <a:prstGeom prst="ellipse">
            <a:avLst/>
          </a:prstGeom>
          <a:solidFill>
            <a:srgbClr val="1E2761"/>
          </a:solidFill>
          <a:ln/>
          <a:effectLst>
            <a:outerShdw sx="100000" sy="100000" kx="0" ky="0" algn="bl" rotWithShape="0" blurRad="88900" dist="25400" dir="5400000">
              <a:srgbClr val="0B0E24">
                <a:alpha val="22000"/>
              </a:srgbClr>
            </a:outerShdw>
          </a:effectLst>
        </p:spPr>
      </p:sp>
      <p:pic>
        <p:nvPicPr>
          <p:cNvPr id="13" name="Image 2" descr="preencoded.png">    </p:cNvPr>
          <p:cNvPicPr>
            <a:picLocks noChangeAspect="1"/>
          </p:cNvPicPr>
          <p:nvPr/>
        </p:nvPicPr>
        <p:blipFill>
          <a:blip r:embed="rId3"/>
          <a:stretch>
            <a:fillRect/>
          </a:stretch>
        </p:blipFill>
        <p:spPr>
          <a:xfrm>
            <a:off x="697870" y="3852550"/>
            <a:ext cx="323332" cy="323332"/>
          </a:xfrm>
          <a:prstGeom prst="rect">
            <a:avLst/>
          </a:prstGeom>
        </p:spPr>
      </p:pic>
      <p:sp>
        <p:nvSpPr>
          <p:cNvPr id="14" name="Text 9"/>
          <p:cNvSpPr/>
          <p:nvPr/>
        </p:nvSpPr>
        <p:spPr>
          <a:xfrm>
            <a:off x="1298448" y="368503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One protocol</a:t>
            </a:r>
            <a:endParaRPr lang="en-US" sz="1450" dirty="0"/>
          </a:p>
        </p:txBody>
      </p:sp>
      <p:sp>
        <p:nvSpPr>
          <p:cNvPr id="15" name="Text 10"/>
          <p:cNvSpPr/>
          <p:nvPr/>
        </p:nvSpPr>
        <p:spPr>
          <a:xfrm>
            <a:off x="1298448" y="396849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Fit, score, evaluate against a threshold — every model, either engine.</a:t>
            </a:r>
            <a:endParaRPr lang="en-US" sz="1200" dirty="0"/>
          </a:p>
        </p:txBody>
      </p:sp>
      <p:sp>
        <p:nvSpPr>
          <p:cNvPr id="16" name="Shape 11"/>
          <p:cNvSpPr/>
          <p:nvPr/>
        </p:nvSpPr>
        <p:spPr>
          <a:xfrm>
            <a:off x="6172200" y="1691640"/>
            <a:ext cx="5440680" cy="4297680"/>
          </a:xfrm>
          <a:prstGeom prst="roundRect">
            <a:avLst>
              <a:gd name="adj" fmla="val 1915"/>
            </a:avLst>
          </a:prstGeom>
          <a:solidFill>
            <a:srgbClr val="EEF3FC"/>
          </a:solidFill>
          <a:ln/>
          <a:effectLst>
            <a:outerShdw sx="100000" sy="100000" kx="0" ky="0" algn="bl" rotWithShape="0" blurRad="88900" dist="25400" dir="5400000">
              <a:srgbClr val="0B0E24">
                <a:alpha val="22000"/>
              </a:srgbClr>
            </a:outerShdw>
          </a:effectLst>
        </p:spPr>
      </p:sp>
      <p:sp>
        <p:nvSpPr>
          <p:cNvPr id="17" name="Text 12"/>
          <p:cNvSpPr/>
          <p:nvPr/>
        </p:nvSpPr>
        <p:spPr>
          <a:xfrm>
            <a:off x="6355080" y="1828800"/>
            <a:ext cx="5074920" cy="274320"/>
          </a:xfrm>
          <a:prstGeom prst="rect">
            <a:avLst/>
          </a:prstGeom>
          <a:noFill/>
          <a:ln/>
        </p:spPr>
        <p:txBody>
          <a:bodyPr wrap="square" rtlCol="0" anchor="ctr"/>
          <a:lstStyle/>
          <a:p>
            <a:pPr indent="0" marL="0">
              <a:buNone/>
            </a:pPr>
            <a:r>
              <a:rPr lang="en-US" sz="1050" b="1" spc="150" kern="0" dirty="0">
                <a:solidFill>
                  <a:srgbClr val="5B6480"/>
                </a:solidFill>
                <a:latin typeface="Calibri" pitchFamily="34" charset="0"/>
                <a:ea typeface="Calibri" pitchFamily="34" charset="-122"/>
                <a:cs typeface="Calibri" pitchFamily="34" charset="-120"/>
              </a:rPr>
              <a:t>MODEL VALIDATION PIPELINE</a:t>
            </a:r>
            <a:endParaRPr lang="en-US" sz="1050" dirty="0"/>
          </a:p>
        </p:txBody>
      </p:sp>
      <p:sp>
        <p:nvSpPr>
          <p:cNvPr id="18" name="Shape 13"/>
          <p:cNvSpPr/>
          <p:nvPr/>
        </p:nvSpPr>
        <p:spPr>
          <a:xfrm>
            <a:off x="6400800" y="2286000"/>
            <a:ext cx="2103120" cy="1371600"/>
          </a:xfrm>
          <a:prstGeom prst="roundRect">
            <a:avLst>
              <a:gd name="adj" fmla="val 6667"/>
            </a:avLst>
          </a:prstGeom>
          <a:solidFill>
            <a:srgbClr val="1E2761"/>
          </a:solidFill>
          <a:ln/>
          <a:effectLst>
            <a:outerShdw sx="100000" sy="100000" kx="0" ky="0" algn="bl" rotWithShape="0" blurRad="88900" dist="25400" dir="5400000">
              <a:srgbClr val="0B0E24">
                <a:alpha val="22000"/>
              </a:srgbClr>
            </a:outerShdw>
          </a:effectLst>
        </p:spPr>
      </p:sp>
      <p:sp>
        <p:nvSpPr>
          <p:cNvPr id="19" name="Shape 14"/>
          <p:cNvSpPr/>
          <p:nvPr/>
        </p:nvSpPr>
        <p:spPr>
          <a:xfrm>
            <a:off x="7178040" y="2331720"/>
            <a:ext cx="548640" cy="548640"/>
          </a:xfrm>
          <a:prstGeom prst="ellipse">
            <a:avLst/>
          </a:prstGeom>
          <a:solidFill>
            <a:srgbClr val="2C7FB0"/>
          </a:solidFill>
          <a:ln/>
          <a:effectLst>
            <a:outerShdw sx="100000" sy="100000" kx="0" ky="0" algn="bl" rotWithShape="0" blurRad="88900" dist="25400" dir="5400000">
              <a:srgbClr val="0B0E24">
                <a:alpha val="22000"/>
              </a:srgbClr>
            </a:outerShdw>
          </a:effectLst>
        </p:spPr>
      </p:sp>
      <p:pic>
        <p:nvPicPr>
          <p:cNvPr id="20" name="Image 3" descr="preencoded.png">    </p:cNvPr>
          <p:cNvPicPr>
            <a:picLocks noChangeAspect="1"/>
          </p:cNvPicPr>
          <p:nvPr/>
        </p:nvPicPr>
        <p:blipFill>
          <a:blip r:embed="rId4"/>
          <a:stretch>
            <a:fillRect/>
          </a:stretch>
        </p:blipFill>
        <p:spPr>
          <a:xfrm>
            <a:off x="7309714" y="2463394"/>
            <a:ext cx="285293" cy="285293"/>
          </a:xfrm>
          <a:prstGeom prst="rect">
            <a:avLst/>
          </a:prstGeom>
        </p:spPr>
      </p:pic>
      <p:sp>
        <p:nvSpPr>
          <p:cNvPr id="21" name="Text 15"/>
          <p:cNvSpPr/>
          <p:nvPr/>
        </p:nvSpPr>
        <p:spPr>
          <a:xfrm>
            <a:off x="6400800" y="2971800"/>
            <a:ext cx="2103120" cy="2743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 — Diagnose</a:t>
            </a:r>
            <a:endParaRPr lang="en-US" sz="1250" dirty="0"/>
          </a:p>
        </p:txBody>
      </p:sp>
      <p:sp>
        <p:nvSpPr>
          <p:cNvPr id="22" name="Text 16"/>
          <p:cNvSpPr/>
          <p:nvPr/>
        </p:nvSpPr>
        <p:spPr>
          <a:xfrm>
            <a:off x="6400800" y="3246120"/>
            <a:ext cx="2103120" cy="320040"/>
          </a:xfrm>
          <a:prstGeom prst="rect">
            <a:avLst/>
          </a:prstGeom>
          <a:noFill/>
          <a:ln/>
        </p:spPr>
        <p:txBody>
          <a:bodyPr wrap="square"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Fit · Residuals · ROC</a:t>
            </a:r>
            <a:endParaRPr lang="en-US" sz="950" dirty="0"/>
          </a:p>
        </p:txBody>
      </p:sp>
      <p:sp>
        <p:nvSpPr>
          <p:cNvPr id="23" name="Shape 17"/>
          <p:cNvSpPr/>
          <p:nvPr/>
        </p:nvSpPr>
        <p:spPr>
          <a:xfrm>
            <a:off x="9281160" y="2286000"/>
            <a:ext cx="2103120" cy="1371600"/>
          </a:xfrm>
          <a:prstGeom prst="roundRect">
            <a:avLst>
              <a:gd name="adj" fmla="val 6667"/>
            </a:avLst>
          </a:prstGeom>
          <a:solidFill>
            <a:srgbClr val="1E2761"/>
          </a:solidFill>
          <a:ln/>
          <a:effectLst>
            <a:outerShdw sx="100000" sy="100000" kx="0" ky="0" algn="bl" rotWithShape="0" blurRad="88900" dist="25400" dir="5400000">
              <a:srgbClr val="0B0E24">
                <a:alpha val="22000"/>
              </a:srgbClr>
            </a:outerShdw>
          </a:effectLst>
        </p:spPr>
      </p:sp>
      <p:sp>
        <p:nvSpPr>
          <p:cNvPr id="24" name="Shape 18"/>
          <p:cNvSpPr/>
          <p:nvPr/>
        </p:nvSpPr>
        <p:spPr>
          <a:xfrm>
            <a:off x="10058400" y="2331720"/>
            <a:ext cx="548640" cy="548640"/>
          </a:xfrm>
          <a:prstGeom prst="ellipse">
            <a:avLst/>
          </a:prstGeom>
          <a:solidFill>
            <a:srgbClr val="E8912D"/>
          </a:solidFill>
          <a:ln/>
          <a:effectLst>
            <a:outerShdw sx="100000" sy="100000" kx="0" ky="0" algn="bl" rotWithShape="0" blurRad="88900" dist="25400" dir="5400000">
              <a:srgbClr val="0B0E24">
                <a:alpha val="22000"/>
              </a:srgbClr>
            </a:outerShdw>
          </a:effectLst>
        </p:spPr>
      </p:sp>
      <p:pic>
        <p:nvPicPr>
          <p:cNvPr id="25" name="Image 4" descr="preencoded.png">    </p:cNvPr>
          <p:cNvPicPr>
            <a:picLocks noChangeAspect="1"/>
          </p:cNvPicPr>
          <p:nvPr/>
        </p:nvPicPr>
        <p:blipFill>
          <a:blip r:embed="rId5"/>
          <a:stretch>
            <a:fillRect/>
          </a:stretch>
        </p:blipFill>
        <p:spPr>
          <a:xfrm>
            <a:off x="10190074" y="2463394"/>
            <a:ext cx="285293" cy="285293"/>
          </a:xfrm>
          <a:prstGeom prst="rect">
            <a:avLst/>
          </a:prstGeom>
        </p:spPr>
      </p:pic>
      <p:sp>
        <p:nvSpPr>
          <p:cNvPr id="26" name="Text 19"/>
          <p:cNvSpPr/>
          <p:nvPr/>
        </p:nvSpPr>
        <p:spPr>
          <a:xfrm>
            <a:off x="9281160" y="2971800"/>
            <a:ext cx="2103120" cy="2743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SQL — Score</a:t>
            </a:r>
            <a:endParaRPr lang="en-US" sz="1250" dirty="0"/>
          </a:p>
        </p:txBody>
      </p:sp>
      <p:sp>
        <p:nvSpPr>
          <p:cNvPr id="27" name="Text 20"/>
          <p:cNvSpPr/>
          <p:nvPr/>
        </p:nvSpPr>
        <p:spPr>
          <a:xfrm>
            <a:off x="9281160" y="3246120"/>
            <a:ext cx="2103120" cy="320040"/>
          </a:xfrm>
          <a:prstGeom prst="rect">
            <a:avLst/>
          </a:prstGeom>
          <a:noFill/>
          <a:ln/>
        </p:spPr>
        <p:txBody>
          <a:bodyPr wrap="square"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Window fns · Aggregates</a:t>
            </a:r>
            <a:endParaRPr lang="en-US" sz="950" dirty="0"/>
          </a:p>
        </p:txBody>
      </p:sp>
      <p:sp>
        <p:nvSpPr>
          <p:cNvPr id="28" name="Shape 21"/>
          <p:cNvSpPr/>
          <p:nvPr/>
        </p:nvSpPr>
        <p:spPr>
          <a:xfrm>
            <a:off x="8503920" y="2971800"/>
            <a:ext cx="777240" cy="0"/>
          </a:xfrm>
          <a:prstGeom prst="line">
            <a:avLst/>
          </a:prstGeom>
          <a:noFill/>
          <a:ln w="25400">
            <a:solidFill>
              <a:srgbClr val="1E2761"/>
            </a:solidFill>
            <a:prstDash val="solid"/>
            <a:headEnd type="triangle"/>
            <a:tailEnd type="triangle"/>
          </a:ln>
        </p:spPr>
      </p:sp>
      <p:sp>
        <p:nvSpPr>
          <p:cNvPr id="29" name="Text 22"/>
          <p:cNvSpPr/>
          <p:nvPr/>
        </p:nvSpPr>
        <p:spPr>
          <a:xfrm>
            <a:off x="6400800" y="3886200"/>
            <a:ext cx="5029200" cy="274320"/>
          </a:xfrm>
          <a:prstGeom prst="rect">
            <a:avLst/>
          </a:prstGeom>
          <a:noFill/>
          <a:ln/>
        </p:spPr>
        <p:txBody>
          <a:bodyPr wrap="square" rtlCol="0" anchor="ctr"/>
          <a:lstStyle/>
          <a:p>
            <a:pPr algn="ctr" indent="0" marL="0">
              <a:buNone/>
            </a:pPr>
            <a:r>
              <a:rPr lang="en-US" sz="1050" i="1" dirty="0">
                <a:solidFill>
                  <a:srgbClr val="5B6480"/>
                </a:solidFill>
                <a:latin typeface="Calibri" pitchFamily="34" charset="0"/>
                <a:ea typeface="Calibri" pitchFamily="34" charset="-122"/>
                <a:cs typeface="Calibri" pitchFamily="34" charset="-120"/>
              </a:rPr>
              <a:t>coefficients / centroids move — not the data</a:t>
            </a:r>
            <a:endParaRPr lang="en-US" sz="1050" dirty="0"/>
          </a:p>
        </p:txBody>
      </p:sp>
      <p:sp>
        <p:nvSpPr>
          <p:cNvPr id="30" name="Shape 23"/>
          <p:cNvSpPr/>
          <p:nvPr/>
        </p:nvSpPr>
        <p:spPr>
          <a:xfrm>
            <a:off x="6400800" y="4434840"/>
            <a:ext cx="4983480" cy="1371600"/>
          </a:xfrm>
          <a:prstGeom prst="roundRect">
            <a:avLst>
              <a:gd name="adj" fmla="val 6667"/>
            </a:avLst>
          </a:prstGeom>
          <a:solidFill>
            <a:srgbClr val="FFFFFF"/>
          </a:solidFill>
          <a:ln w="12700">
            <a:solidFill>
              <a:srgbClr val="CADCFC"/>
            </a:solidFill>
            <a:prstDash val="solid"/>
          </a:ln>
        </p:spPr>
      </p:sp>
      <p:sp>
        <p:nvSpPr>
          <p:cNvPr id="31" name="Text 24"/>
          <p:cNvSpPr/>
          <p:nvPr/>
        </p:nvSpPr>
        <p:spPr>
          <a:xfrm>
            <a:off x="6583680" y="4572000"/>
            <a:ext cx="4617720" cy="1097280"/>
          </a:xfrm>
          <a:prstGeom prst="rect">
            <a:avLst/>
          </a:prstGeom>
          <a:noFill/>
          <a:ln/>
        </p:spPr>
        <p:txBody>
          <a:bodyPr wrap="square" rtlCol="0" anchor="t"/>
          <a:lstStyle/>
          <a:p>
            <a:pPr indent="0" marL="0">
              <a:lnSpc>
                <a:spcPct val="115000"/>
              </a:lnSpc>
              <a:buNone/>
            </a:pPr>
            <a:r>
              <a:rPr lang="en-US" sz="1150" b="1" dirty="0">
                <a:solidFill>
                  <a:srgbClr val="1E2761"/>
                </a:solidFill>
                <a:latin typeface="Calibri" pitchFamily="34" charset="0"/>
                <a:ea typeface="Calibri" pitchFamily="34" charset="-122"/>
                <a:cs typeface="Calibri" pitchFamily="34" charset="-120"/>
              </a:rPr>
              <a:t>Rule of thumb:  </a:t>
            </a:r>
            <a:pPr indent="0" marL="0">
              <a:lnSpc>
                <a:spcPct val="115000"/>
              </a:lnSpc>
              <a:buNone/>
            </a:pPr>
            <a:r>
              <a:rPr lang="en-US" sz="1150" dirty="0">
                <a:solidFill>
                  <a:srgbClr val="232946"/>
                </a:solidFill>
                <a:latin typeface="Calibri" pitchFamily="34" charset="0"/>
                <a:ea typeface="Calibri" pitchFamily="34" charset="-122"/>
                <a:cs typeface="Calibri" pitchFamily="34" charset="-120"/>
              </a:rPr>
              <a:t>prototype and diagnose on a sample in R; once the metric and threshold are set, run the evaluate step as a query against the full table.</a:t>
            </a:r>
            <a:endParaRPr lang="en-US" sz="1150" dirty="0"/>
          </a:p>
        </p:txBody>
      </p:sp>
      <p:sp>
        <p:nvSpPr>
          <p:cNvPr id="32" name="Text 25"/>
          <p:cNvSpPr/>
          <p:nvPr/>
        </p:nvSpPr>
        <p:spPr>
          <a:xfrm>
            <a:off x="548640" y="6528816"/>
            <a:ext cx="7315200" cy="256032"/>
          </a:xfrm>
          <a:prstGeom prst="rect">
            <a:avLst/>
          </a:prstGeom>
          <a:noFill/>
          <a:ln/>
        </p:spPr>
        <p:txBody>
          <a:bodyPr wrap="square" rtlCol="0" anchor="ctr"/>
          <a:lstStyle/>
          <a:p>
            <a:pPr indent="0" marL="0">
              <a:buNone/>
            </a:pPr>
            <a:r>
              <a:rPr lang="en-US" sz="900" dirty="0">
                <a:solidFill>
                  <a:srgbClr val="9AA3BF"/>
                </a:solidFill>
                <a:latin typeface="Calibri" pitchFamily="34" charset="0"/>
                <a:ea typeface="Calibri" pitchFamily="34" charset="-122"/>
                <a:cs typeface="Calibri" pitchFamily="34" charset="-120"/>
              </a:rPr>
              <a:t>BDA POP — Hybrid Model Validation (R + SQL)</a:t>
            </a:r>
            <a:endParaRPr lang="en-US" sz="900" dirty="0"/>
          </a:p>
        </p:txBody>
      </p:sp>
      <p:sp>
        <p:nvSpPr>
          <p:cNvPr id="33" name="Text 26"/>
          <p:cNvSpPr/>
          <p:nvPr/>
        </p:nvSpPr>
        <p:spPr>
          <a:xfrm>
            <a:off x="10972800" y="6528816"/>
            <a:ext cx="667512" cy="256032"/>
          </a:xfrm>
          <a:prstGeom prst="rect">
            <a:avLst/>
          </a:prstGeom>
          <a:noFill/>
          <a:ln/>
        </p:spPr>
        <p:txBody>
          <a:bodyPr wrap="square" rtlCol="0" anchor="ctr"/>
          <a:lstStyle/>
          <a:p>
            <a:pPr algn="r" indent="0" marL="0">
              <a:buNone/>
            </a:pPr>
            <a:r>
              <a:rPr lang="en-US" sz="900" dirty="0">
                <a:solidFill>
                  <a:srgbClr val="9AA3BF"/>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indent="0" marL="0">
              <a:buNone/>
            </a:pPr>
            <a:r>
              <a:rPr lang="en-US" sz="1200" b="1" spc="200" kern="0" dirty="0">
                <a:solidFill>
                  <a:srgbClr val="E8912D"/>
                </a:solidFill>
                <a:latin typeface="Calibri" pitchFamily="34" charset="0"/>
                <a:ea typeface="Calibri" pitchFamily="34" charset="-122"/>
                <a:cs typeface="Calibri" pitchFamily="34" charset="-120"/>
              </a:rPr>
              <a:t>LINEAR REGRESSION</a:t>
            </a:r>
            <a:endParaRPr lang="en-US" sz="12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Diagnostic Framework &amp; Key Metrics</a:t>
            </a:r>
            <a:endParaRPr lang="en-US" sz="3200" dirty="0"/>
          </a:p>
        </p:txBody>
      </p:sp>
      <p:sp>
        <p:nvSpPr>
          <p:cNvPr id="4" name="Shape 2"/>
          <p:cNvSpPr/>
          <p:nvPr/>
        </p:nvSpPr>
        <p:spPr>
          <a:xfrm>
            <a:off x="548640" y="1691640"/>
            <a:ext cx="621792" cy="621792"/>
          </a:xfrm>
          <a:prstGeom prst="ellipse">
            <a:avLst/>
          </a:prstGeom>
          <a:solidFill>
            <a:srgbClr val="1E2761"/>
          </a:solidFill>
          <a:ln/>
          <a:effectLst>
            <a:outerShdw sx="100000" sy="100000" kx="0" ky="0" algn="bl" rotWithShape="0" blurRad="88900" dist="25400" dir="5400000">
              <a:srgbClr val="0B0E24">
                <a:alpha val="22000"/>
              </a:srgbClr>
            </a:outerShdw>
          </a:effectLst>
        </p:spPr>
      </p:sp>
      <p:pic>
        <p:nvPicPr>
          <p:cNvPr id="5" name="Image 0" descr="preencoded.png">    </p:cNvPr>
          <p:cNvPicPr>
            <a:picLocks noChangeAspect="1"/>
          </p:cNvPicPr>
          <p:nvPr/>
        </p:nvPicPr>
        <p:blipFill>
          <a:blip r:embed="rId1"/>
          <a:stretch>
            <a:fillRect/>
          </a:stretch>
        </p:blipFill>
        <p:spPr>
          <a:xfrm>
            <a:off x="697870" y="1840870"/>
            <a:ext cx="323332" cy="323332"/>
          </a:xfrm>
          <a:prstGeom prst="rect">
            <a:avLst/>
          </a:prstGeom>
        </p:spPr>
      </p:pic>
      <p:sp>
        <p:nvSpPr>
          <p:cNvPr id="6" name="Text 3"/>
          <p:cNvSpPr/>
          <p:nvPr/>
        </p:nvSpPr>
        <p:spPr>
          <a:xfrm>
            <a:off x="1298448" y="167335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R² and Adjusted R²</a:t>
            </a:r>
            <a:endParaRPr lang="en-US" sz="1450" dirty="0"/>
          </a:p>
        </p:txBody>
      </p:sp>
      <p:sp>
        <p:nvSpPr>
          <p:cNvPr id="7" name="Text 4"/>
          <p:cNvSpPr/>
          <p:nvPr/>
        </p:nvSpPr>
        <p:spPr>
          <a:xfrm>
            <a:off x="1298448" y="195681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Share of variance the model actually explains.</a:t>
            </a:r>
            <a:endParaRPr lang="en-US" sz="1200" dirty="0"/>
          </a:p>
        </p:txBody>
      </p:sp>
      <p:sp>
        <p:nvSpPr>
          <p:cNvPr id="8" name="Shape 5"/>
          <p:cNvSpPr/>
          <p:nvPr/>
        </p:nvSpPr>
        <p:spPr>
          <a:xfrm>
            <a:off x="548640" y="2697480"/>
            <a:ext cx="621792" cy="621792"/>
          </a:xfrm>
          <a:prstGeom prst="ellipse">
            <a:avLst/>
          </a:prstGeom>
          <a:solidFill>
            <a:srgbClr val="1E2761"/>
          </a:solidFill>
          <a:ln/>
          <a:effectLst>
            <a:outerShdw sx="100000" sy="100000" kx="0" ky="0" algn="bl" rotWithShape="0" blurRad="88900" dist="25400" dir="5400000">
              <a:srgbClr val="0B0E24">
                <a:alpha val="22000"/>
              </a:srgbClr>
            </a:outerShdw>
          </a:effectLst>
        </p:spPr>
      </p:sp>
      <p:pic>
        <p:nvPicPr>
          <p:cNvPr id="9" name="Image 1" descr="preencoded.png">    </p:cNvPr>
          <p:cNvPicPr>
            <a:picLocks noChangeAspect="1"/>
          </p:cNvPicPr>
          <p:nvPr/>
        </p:nvPicPr>
        <p:blipFill>
          <a:blip r:embed="rId2"/>
          <a:stretch>
            <a:fillRect/>
          </a:stretch>
        </p:blipFill>
        <p:spPr>
          <a:xfrm>
            <a:off x="697870" y="2846710"/>
            <a:ext cx="323332" cy="323332"/>
          </a:xfrm>
          <a:prstGeom prst="rect">
            <a:avLst/>
          </a:prstGeom>
        </p:spPr>
      </p:pic>
      <p:sp>
        <p:nvSpPr>
          <p:cNvPr id="10" name="Text 6"/>
          <p:cNvSpPr/>
          <p:nvPr/>
        </p:nvSpPr>
        <p:spPr>
          <a:xfrm>
            <a:off x="1298448" y="267919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RMSE</a:t>
            </a:r>
            <a:endParaRPr lang="en-US" sz="1450" dirty="0"/>
          </a:p>
        </p:txBody>
      </p:sp>
      <p:sp>
        <p:nvSpPr>
          <p:cNvPr id="11" name="Text 7"/>
          <p:cNvSpPr/>
          <p:nvPr/>
        </p:nvSpPr>
        <p:spPr>
          <a:xfrm>
            <a:off x="1298448" y="296265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Typical error, in the same units as the target.</a:t>
            </a:r>
            <a:endParaRPr lang="en-US" sz="1200" dirty="0"/>
          </a:p>
        </p:txBody>
      </p:sp>
      <p:sp>
        <p:nvSpPr>
          <p:cNvPr id="12" name="Shape 8"/>
          <p:cNvSpPr/>
          <p:nvPr/>
        </p:nvSpPr>
        <p:spPr>
          <a:xfrm>
            <a:off x="548640" y="3703320"/>
            <a:ext cx="621792" cy="621792"/>
          </a:xfrm>
          <a:prstGeom prst="ellipse">
            <a:avLst/>
          </a:prstGeom>
          <a:solidFill>
            <a:srgbClr val="1E2761"/>
          </a:solidFill>
          <a:ln/>
          <a:effectLst>
            <a:outerShdw sx="100000" sy="100000" kx="0" ky="0" algn="bl" rotWithShape="0" blurRad="88900" dist="25400" dir="5400000">
              <a:srgbClr val="0B0E24">
                <a:alpha val="22000"/>
              </a:srgbClr>
            </a:outerShdw>
          </a:effectLst>
        </p:spPr>
      </p:sp>
      <p:pic>
        <p:nvPicPr>
          <p:cNvPr id="13" name="Image 2" descr="preencoded.png">    </p:cNvPr>
          <p:cNvPicPr>
            <a:picLocks noChangeAspect="1"/>
          </p:cNvPicPr>
          <p:nvPr/>
        </p:nvPicPr>
        <p:blipFill>
          <a:blip r:embed="rId3"/>
          <a:stretch>
            <a:fillRect/>
          </a:stretch>
        </p:blipFill>
        <p:spPr>
          <a:xfrm>
            <a:off x="697870" y="3852550"/>
            <a:ext cx="323332" cy="323332"/>
          </a:xfrm>
          <a:prstGeom prst="rect">
            <a:avLst/>
          </a:prstGeom>
        </p:spPr>
      </p:pic>
      <p:sp>
        <p:nvSpPr>
          <p:cNvPr id="14" name="Text 9"/>
          <p:cNvSpPr/>
          <p:nvPr/>
        </p:nvSpPr>
        <p:spPr>
          <a:xfrm>
            <a:off x="1298448" y="368503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Residual plot</a:t>
            </a:r>
            <a:endParaRPr lang="en-US" sz="1450" dirty="0"/>
          </a:p>
        </p:txBody>
      </p:sp>
      <p:sp>
        <p:nvSpPr>
          <p:cNvPr id="15" name="Text 10"/>
          <p:cNvSpPr/>
          <p:nvPr/>
        </p:nvSpPr>
        <p:spPr>
          <a:xfrm>
            <a:off x="1298448" y="396849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No funnel, no curve — errors scatter randomly around zero.</a:t>
            </a:r>
            <a:endParaRPr lang="en-US" sz="1200" dirty="0"/>
          </a:p>
        </p:txBody>
      </p:sp>
      <p:sp>
        <p:nvSpPr>
          <p:cNvPr id="16" name="Shape 11"/>
          <p:cNvSpPr/>
          <p:nvPr/>
        </p:nvSpPr>
        <p:spPr>
          <a:xfrm>
            <a:off x="548640" y="4892040"/>
            <a:ext cx="2514600" cy="822960"/>
          </a:xfrm>
          <a:prstGeom prst="roundRect">
            <a:avLst>
              <a:gd name="adj" fmla="val 8889"/>
            </a:avLst>
          </a:prstGeom>
          <a:solidFill>
            <a:srgbClr val="EEF3FC"/>
          </a:solidFill>
          <a:ln/>
          <a:effectLst>
            <a:outerShdw sx="100000" sy="100000" kx="0" ky="0" algn="bl" rotWithShape="0" blurRad="88900" dist="25400" dir="5400000">
              <a:srgbClr val="0B0E24">
                <a:alpha val="22000"/>
              </a:srgbClr>
            </a:outerShdw>
          </a:effectLst>
        </p:spPr>
      </p:sp>
      <p:sp>
        <p:nvSpPr>
          <p:cNvPr id="17" name="Text 12"/>
          <p:cNvSpPr/>
          <p:nvPr/>
        </p:nvSpPr>
        <p:spPr>
          <a:xfrm>
            <a:off x="731520" y="4965192"/>
            <a:ext cx="2148840" cy="256032"/>
          </a:xfrm>
          <a:prstGeom prst="rect">
            <a:avLst/>
          </a:prstGeom>
          <a:noFill/>
          <a:ln/>
        </p:spPr>
        <p:txBody>
          <a:bodyPr wrap="square" rtlCol="0" anchor="ctr"/>
          <a:lstStyle/>
          <a:p>
            <a:pPr indent="0" marL="0">
              <a:buNone/>
            </a:pPr>
            <a:r>
              <a:rPr lang="en-US" sz="1150" b="1" dirty="0">
                <a:solidFill>
                  <a:srgbClr val="5B6480"/>
                </a:solidFill>
                <a:latin typeface="Calibri" pitchFamily="34" charset="0"/>
                <a:ea typeface="Calibri" pitchFamily="34" charset="-122"/>
                <a:cs typeface="Calibri" pitchFamily="34" charset="-120"/>
              </a:rPr>
              <a:t>HOLDOUT R²</a:t>
            </a:r>
            <a:endParaRPr lang="en-US" sz="1150" dirty="0"/>
          </a:p>
        </p:txBody>
      </p:sp>
      <p:sp>
        <p:nvSpPr>
          <p:cNvPr id="18" name="Text 13"/>
          <p:cNvSpPr/>
          <p:nvPr/>
        </p:nvSpPr>
        <p:spPr>
          <a:xfrm>
            <a:off x="731520" y="5184648"/>
            <a:ext cx="1383030" cy="45720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0.84</a:t>
            </a:r>
            <a:endParaRPr lang="en-US" sz="2400" dirty="0"/>
          </a:p>
        </p:txBody>
      </p:sp>
      <p:sp>
        <p:nvSpPr>
          <p:cNvPr id="19" name="Text 14"/>
          <p:cNvSpPr/>
          <p:nvPr/>
        </p:nvSpPr>
        <p:spPr>
          <a:xfrm>
            <a:off x="1931670" y="5276088"/>
            <a:ext cx="1081278" cy="365760"/>
          </a:xfrm>
          <a:prstGeom prst="rect">
            <a:avLst/>
          </a:prstGeom>
          <a:noFill/>
          <a:ln/>
        </p:spPr>
        <p:txBody>
          <a:bodyPr wrap="square" rtlCol="0" anchor="b"/>
          <a:lstStyle/>
          <a:p>
            <a:pPr algn="r" indent="0" marL="0">
              <a:buNone/>
            </a:pPr>
            <a:r>
              <a:rPr lang="en-US" sz="1050" b="1" dirty="0">
                <a:solidFill>
                  <a:srgbClr val="1E8F6B"/>
                </a:solidFill>
                <a:latin typeface="Calibri" pitchFamily="34" charset="0"/>
                <a:ea typeface="Calibri" pitchFamily="34" charset="-122"/>
                <a:cs typeface="Calibri" pitchFamily="34" charset="-120"/>
              </a:rPr>
              <a:t>≥ 0.60</a:t>
            </a:r>
            <a:endParaRPr lang="en-US" sz="1050" dirty="0"/>
          </a:p>
        </p:txBody>
      </p:sp>
      <p:sp>
        <p:nvSpPr>
          <p:cNvPr id="20" name="Shape 15"/>
          <p:cNvSpPr/>
          <p:nvPr/>
        </p:nvSpPr>
        <p:spPr>
          <a:xfrm>
            <a:off x="3246120" y="4892040"/>
            <a:ext cx="2514600" cy="822960"/>
          </a:xfrm>
          <a:prstGeom prst="roundRect">
            <a:avLst>
              <a:gd name="adj" fmla="val 8889"/>
            </a:avLst>
          </a:prstGeom>
          <a:solidFill>
            <a:srgbClr val="EEF3FC"/>
          </a:solidFill>
          <a:ln/>
          <a:effectLst>
            <a:outerShdw sx="100000" sy="100000" kx="0" ky="0" algn="bl" rotWithShape="0" blurRad="88900" dist="25400" dir="5400000">
              <a:srgbClr val="0B0E24">
                <a:alpha val="22000"/>
              </a:srgbClr>
            </a:outerShdw>
          </a:effectLst>
        </p:spPr>
      </p:sp>
      <p:sp>
        <p:nvSpPr>
          <p:cNvPr id="21" name="Text 16"/>
          <p:cNvSpPr/>
          <p:nvPr/>
        </p:nvSpPr>
        <p:spPr>
          <a:xfrm>
            <a:off x="3429000" y="4965192"/>
            <a:ext cx="2148840" cy="256032"/>
          </a:xfrm>
          <a:prstGeom prst="rect">
            <a:avLst/>
          </a:prstGeom>
          <a:noFill/>
          <a:ln/>
        </p:spPr>
        <p:txBody>
          <a:bodyPr wrap="square" rtlCol="0" anchor="ctr"/>
          <a:lstStyle/>
          <a:p>
            <a:pPr indent="0" marL="0">
              <a:buNone/>
            </a:pPr>
            <a:r>
              <a:rPr lang="en-US" sz="1150" b="1" dirty="0">
                <a:solidFill>
                  <a:srgbClr val="5B6480"/>
                </a:solidFill>
                <a:latin typeface="Calibri" pitchFamily="34" charset="0"/>
                <a:ea typeface="Calibri" pitchFamily="34" charset="-122"/>
                <a:cs typeface="Calibri" pitchFamily="34" charset="-120"/>
              </a:rPr>
              <a:t>HOLDOUT RMSE</a:t>
            </a:r>
            <a:endParaRPr lang="en-US" sz="1150" dirty="0"/>
          </a:p>
        </p:txBody>
      </p:sp>
      <p:sp>
        <p:nvSpPr>
          <p:cNvPr id="22" name="Text 17"/>
          <p:cNvSpPr/>
          <p:nvPr/>
        </p:nvSpPr>
        <p:spPr>
          <a:xfrm>
            <a:off x="3429000" y="5184648"/>
            <a:ext cx="1383030" cy="45720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17%</a:t>
            </a:r>
            <a:endParaRPr lang="en-US" sz="2400" dirty="0"/>
          </a:p>
        </p:txBody>
      </p:sp>
      <p:sp>
        <p:nvSpPr>
          <p:cNvPr id="23" name="Text 18"/>
          <p:cNvSpPr/>
          <p:nvPr/>
        </p:nvSpPr>
        <p:spPr>
          <a:xfrm>
            <a:off x="4629150" y="5276088"/>
            <a:ext cx="1081278" cy="365760"/>
          </a:xfrm>
          <a:prstGeom prst="rect">
            <a:avLst/>
          </a:prstGeom>
          <a:noFill/>
          <a:ln/>
        </p:spPr>
        <p:txBody>
          <a:bodyPr wrap="square" rtlCol="0" anchor="b"/>
          <a:lstStyle/>
          <a:p>
            <a:pPr algn="r" indent="0" marL="0">
              <a:buNone/>
            </a:pPr>
            <a:r>
              <a:rPr lang="en-US" sz="1050" b="1" dirty="0">
                <a:solidFill>
                  <a:srgbClr val="1E8F6B"/>
                </a:solidFill>
                <a:latin typeface="Calibri" pitchFamily="34" charset="0"/>
                <a:ea typeface="Calibri" pitchFamily="34" charset="-122"/>
                <a:cs typeface="Calibri" pitchFamily="34" charset="-120"/>
              </a:rPr>
              <a:t>≤ 20% mean</a:t>
            </a:r>
            <a:endParaRPr lang="en-US" sz="1050" dirty="0"/>
          </a:p>
        </p:txBody>
      </p:sp>
      <p:sp>
        <p:nvSpPr>
          <p:cNvPr id="24" name="Shape 19"/>
          <p:cNvSpPr/>
          <p:nvPr/>
        </p:nvSpPr>
        <p:spPr>
          <a:xfrm>
            <a:off x="6172200" y="1691640"/>
            <a:ext cx="5440680" cy="4800600"/>
          </a:xfrm>
          <a:prstGeom prst="roundRect">
            <a:avLst>
              <a:gd name="adj" fmla="val 1714"/>
            </a:avLst>
          </a:prstGeom>
          <a:solidFill>
            <a:srgbClr val="EEF3FC"/>
          </a:solidFill>
          <a:ln/>
          <a:effectLst>
            <a:outerShdw sx="100000" sy="100000" kx="0" ky="0" algn="bl" rotWithShape="0" blurRad="88900" dist="25400" dir="5400000">
              <a:srgbClr val="0B0E24">
                <a:alpha val="22000"/>
              </a:srgbClr>
            </a:outerShdw>
          </a:effectLst>
        </p:spPr>
      </p:sp>
      <p:sp>
        <p:nvSpPr>
          <p:cNvPr id="25" name="Text 20"/>
          <p:cNvSpPr/>
          <p:nvPr/>
        </p:nvSpPr>
        <p:spPr>
          <a:xfrm>
            <a:off x="6355080" y="1828800"/>
            <a:ext cx="5074920" cy="274320"/>
          </a:xfrm>
          <a:prstGeom prst="rect">
            <a:avLst/>
          </a:prstGeom>
          <a:noFill/>
          <a:ln/>
        </p:spPr>
        <p:txBody>
          <a:bodyPr wrap="square" rtlCol="0" anchor="ctr"/>
          <a:lstStyle/>
          <a:p>
            <a:pPr indent="0" marL="0">
              <a:buNone/>
            </a:pPr>
            <a:r>
              <a:rPr lang="en-US" sz="1050" b="1" spc="150" kern="0" dirty="0">
                <a:solidFill>
                  <a:srgbClr val="5B6480"/>
                </a:solidFill>
                <a:latin typeface="Calibri" pitchFamily="34" charset="0"/>
                <a:ea typeface="Calibri" pitchFamily="34" charset="-122"/>
                <a:cs typeface="Calibri" pitchFamily="34" charset="-120"/>
              </a:rPr>
              <a:t>RESIDUALS vs. FITTED VALUES</a:t>
            </a:r>
            <a:endParaRPr lang="en-US" sz="1050" dirty="0"/>
          </a:p>
        </p:txBody>
      </p:sp>
      <p:pic>
        <p:nvPicPr>
          <p:cNvPr id="26" name="Image 3" descr="preencoded.png">    </p:cNvPr>
          <p:cNvPicPr>
            <a:picLocks noChangeAspect="1"/>
          </p:cNvPicPr>
          <p:nvPr/>
        </p:nvPicPr>
        <p:blipFill>
          <a:blip r:embed="rId4"/>
          <a:stretch>
            <a:fillRect/>
          </a:stretch>
        </p:blipFill>
        <p:spPr>
          <a:xfrm>
            <a:off x="6309360" y="2148840"/>
            <a:ext cx="5120640" cy="3200400"/>
          </a:xfrm>
          <a:prstGeom prst="rect">
            <a:avLst/>
          </a:prstGeom>
        </p:spPr>
      </p:pic>
      <p:sp>
        <p:nvSpPr>
          <p:cNvPr id="27" name="Text 21"/>
          <p:cNvSpPr/>
          <p:nvPr/>
        </p:nvSpPr>
        <p:spPr>
          <a:xfrm>
            <a:off x="6355080" y="5532120"/>
            <a:ext cx="5074920" cy="365760"/>
          </a:xfrm>
          <a:prstGeom prst="rect">
            <a:avLst/>
          </a:prstGeom>
          <a:noFill/>
          <a:ln/>
        </p:spPr>
        <p:txBody>
          <a:bodyPr wrap="square" rtlCol="0" anchor="ctr"/>
          <a:lstStyle/>
          <a:p>
            <a:pPr indent="0" marL="0">
              <a:buNone/>
            </a:pPr>
            <a:r>
              <a:rPr lang="en-US" sz="1050" i="1" dirty="0">
                <a:solidFill>
                  <a:srgbClr val="5B6480"/>
                </a:solidFill>
                <a:latin typeface="Calibri" pitchFamily="34" charset="0"/>
                <a:ea typeface="Calibri" pitchFamily="34" charset="-122"/>
                <a:cs typeface="Calibri" pitchFamily="34" charset="-120"/>
              </a:rPr>
              <a:t>No pattern in the scatter = model isn't missing a trend</a:t>
            </a:r>
            <a:endParaRPr lang="en-US" sz="1050" dirty="0"/>
          </a:p>
        </p:txBody>
      </p:sp>
      <p:sp>
        <p:nvSpPr>
          <p:cNvPr id="28" name="Text 22"/>
          <p:cNvSpPr/>
          <p:nvPr/>
        </p:nvSpPr>
        <p:spPr>
          <a:xfrm>
            <a:off x="548640" y="6528816"/>
            <a:ext cx="7315200" cy="256032"/>
          </a:xfrm>
          <a:prstGeom prst="rect">
            <a:avLst/>
          </a:prstGeom>
          <a:noFill/>
          <a:ln/>
        </p:spPr>
        <p:txBody>
          <a:bodyPr wrap="square" rtlCol="0" anchor="ctr"/>
          <a:lstStyle/>
          <a:p>
            <a:pPr indent="0" marL="0">
              <a:buNone/>
            </a:pPr>
            <a:r>
              <a:rPr lang="en-US" sz="900" dirty="0">
                <a:solidFill>
                  <a:srgbClr val="9AA3BF"/>
                </a:solidFill>
                <a:latin typeface="Calibri" pitchFamily="34" charset="0"/>
                <a:ea typeface="Calibri" pitchFamily="34" charset="-122"/>
                <a:cs typeface="Calibri" pitchFamily="34" charset="-120"/>
              </a:rPr>
              <a:t>BDA POP — Hybrid Model Validation (R + SQL)</a:t>
            </a:r>
            <a:endParaRPr lang="en-US" sz="900" dirty="0"/>
          </a:p>
        </p:txBody>
      </p:sp>
      <p:sp>
        <p:nvSpPr>
          <p:cNvPr id="29" name="Text 23"/>
          <p:cNvSpPr/>
          <p:nvPr/>
        </p:nvSpPr>
        <p:spPr>
          <a:xfrm>
            <a:off x="10972800" y="6528816"/>
            <a:ext cx="667512" cy="256032"/>
          </a:xfrm>
          <a:prstGeom prst="rect">
            <a:avLst/>
          </a:prstGeom>
          <a:noFill/>
          <a:ln/>
        </p:spPr>
        <p:txBody>
          <a:bodyPr wrap="square" rtlCol="0" anchor="ctr"/>
          <a:lstStyle/>
          <a:p>
            <a:pPr algn="r" indent="0" marL="0">
              <a:buNone/>
            </a:pPr>
            <a:r>
              <a:rPr lang="en-US" sz="900" dirty="0">
                <a:solidFill>
                  <a:srgbClr val="9AA3BF"/>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indent="0" marL="0">
              <a:buNone/>
            </a:pPr>
            <a:r>
              <a:rPr lang="en-US" sz="1200" b="1" spc="200" kern="0" dirty="0">
                <a:solidFill>
                  <a:srgbClr val="E8912D"/>
                </a:solidFill>
                <a:latin typeface="Calibri" pitchFamily="34" charset="0"/>
                <a:ea typeface="Calibri" pitchFamily="34" charset="-122"/>
                <a:cs typeface="Calibri" pitchFamily="34" charset="-120"/>
              </a:rPr>
              <a:t>LINEAR REGRESSION</a:t>
            </a:r>
            <a:endParaRPr lang="en-US" sz="12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In-Database SQL Scaling</a:t>
            </a:r>
            <a:endParaRPr lang="en-US" sz="3200" dirty="0"/>
          </a:p>
        </p:txBody>
      </p:sp>
      <p:sp>
        <p:nvSpPr>
          <p:cNvPr id="4" name="Shape 2"/>
          <p:cNvSpPr/>
          <p:nvPr/>
        </p:nvSpPr>
        <p:spPr>
          <a:xfrm>
            <a:off x="548640" y="1783080"/>
            <a:ext cx="621792" cy="621792"/>
          </a:xfrm>
          <a:prstGeom prst="ellipse">
            <a:avLst/>
          </a:prstGeom>
          <a:solidFill>
            <a:srgbClr val="E8912D"/>
          </a:solidFill>
          <a:ln/>
          <a:effectLst>
            <a:outerShdw sx="100000" sy="100000" kx="0" ky="0" algn="bl" rotWithShape="0" blurRad="88900" dist="25400" dir="5400000">
              <a:srgbClr val="0B0E24">
                <a:alpha val="22000"/>
              </a:srgbClr>
            </a:outerShdw>
          </a:effectLst>
        </p:spPr>
      </p:sp>
      <p:pic>
        <p:nvPicPr>
          <p:cNvPr id="5" name="Image 0" descr="preencoded.png">    </p:cNvPr>
          <p:cNvPicPr>
            <a:picLocks noChangeAspect="1"/>
          </p:cNvPicPr>
          <p:nvPr/>
        </p:nvPicPr>
        <p:blipFill>
          <a:blip r:embed="rId1"/>
          <a:stretch>
            <a:fillRect/>
          </a:stretch>
        </p:blipFill>
        <p:spPr>
          <a:xfrm>
            <a:off x="697870" y="1932310"/>
            <a:ext cx="323332" cy="323332"/>
          </a:xfrm>
          <a:prstGeom prst="rect">
            <a:avLst/>
          </a:prstGeom>
        </p:spPr>
      </p:pic>
      <p:sp>
        <p:nvSpPr>
          <p:cNvPr id="6" name="Text 3"/>
          <p:cNvSpPr/>
          <p:nvPr/>
        </p:nvSpPr>
        <p:spPr>
          <a:xfrm>
            <a:off x="1298448" y="176479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Score in place</a:t>
            </a:r>
            <a:endParaRPr lang="en-US" sz="1450" dirty="0"/>
          </a:p>
        </p:txBody>
      </p:sp>
      <p:sp>
        <p:nvSpPr>
          <p:cNvPr id="7" name="Text 4"/>
          <p:cNvSpPr/>
          <p:nvPr/>
        </p:nvSpPr>
        <p:spPr>
          <a:xfrm>
            <a:off x="1298448" y="204825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Predictions land in the warehouse, not in R's memory.</a:t>
            </a:r>
            <a:endParaRPr lang="en-US" sz="1200" dirty="0"/>
          </a:p>
        </p:txBody>
      </p:sp>
      <p:sp>
        <p:nvSpPr>
          <p:cNvPr id="8" name="Shape 5"/>
          <p:cNvSpPr/>
          <p:nvPr/>
        </p:nvSpPr>
        <p:spPr>
          <a:xfrm>
            <a:off x="548640" y="2788920"/>
            <a:ext cx="621792" cy="621792"/>
          </a:xfrm>
          <a:prstGeom prst="ellipse">
            <a:avLst/>
          </a:prstGeom>
          <a:solidFill>
            <a:srgbClr val="E8912D"/>
          </a:solidFill>
          <a:ln/>
          <a:effectLst>
            <a:outerShdw sx="100000" sy="100000" kx="0" ky="0" algn="bl" rotWithShape="0" blurRad="88900" dist="25400" dir="5400000">
              <a:srgbClr val="0B0E24">
                <a:alpha val="22000"/>
              </a:srgbClr>
            </a:outerShdw>
          </a:effectLst>
        </p:spPr>
      </p:sp>
      <p:pic>
        <p:nvPicPr>
          <p:cNvPr id="9" name="Image 1" descr="preencoded.png">    </p:cNvPr>
          <p:cNvPicPr>
            <a:picLocks noChangeAspect="1"/>
          </p:cNvPicPr>
          <p:nvPr/>
        </p:nvPicPr>
        <p:blipFill>
          <a:blip r:embed="rId2"/>
          <a:stretch>
            <a:fillRect/>
          </a:stretch>
        </p:blipFill>
        <p:spPr>
          <a:xfrm>
            <a:off x="697870" y="2938150"/>
            <a:ext cx="323332" cy="323332"/>
          </a:xfrm>
          <a:prstGeom prst="rect">
            <a:avLst/>
          </a:prstGeom>
        </p:spPr>
      </p:pic>
      <p:sp>
        <p:nvSpPr>
          <p:cNvPr id="10" name="Text 6"/>
          <p:cNvSpPr/>
          <p:nvPr/>
        </p:nvSpPr>
        <p:spPr>
          <a:xfrm>
            <a:off x="1298448" y="277063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Window functions</a:t>
            </a:r>
            <a:endParaRPr lang="en-US" sz="1450" dirty="0"/>
          </a:p>
        </p:txBody>
      </p:sp>
      <p:sp>
        <p:nvSpPr>
          <p:cNvPr id="11" name="Text 7"/>
          <p:cNvSpPr/>
          <p:nvPr/>
        </p:nvSpPr>
        <p:spPr>
          <a:xfrm>
            <a:off x="1298448" y="305409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AVG() OVER() computes the mean without a second pass.</a:t>
            </a:r>
            <a:endParaRPr lang="en-US" sz="1200" dirty="0"/>
          </a:p>
        </p:txBody>
      </p:sp>
      <p:sp>
        <p:nvSpPr>
          <p:cNvPr id="12" name="Shape 8"/>
          <p:cNvSpPr/>
          <p:nvPr/>
        </p:nvSpPr>
        <p:spPr>
          <a:xfrm>
            <a:off x="548640" y="3794760"/>
            <a:ext cx="621792" cy="621792"/>
          </a:xfrm>
          <a:prstGeom prst="ellipse">
            <a:avLst/>
          </a:prstGeom>
          <a:solidFill>
            <a:srgbClr val="E8912D"/>
          </a:solidFill>
          <a:ln/>
          <a:effectLst>
            <a:outerShdw sx="100000" sy="100000" kx="0" ky="0" algn="bl" rotWithShape="0" blurRad="88900" dist="25400" dir="5400000">
              <a:srgbClr val="0B0E24">
                <a:alpha val="22000"/>
              </a:srgbClr>
            </a:outerShdw>
          </a:effectLst>
        </p:spPr>
      </p:sp>
      <p:pic>
        <p:nvPicPr>
          <p:cNvPr id="13" name="Image 2" descr="preencoded.png">    </p:cNvPr>
          <p:cNvPicPr>
            <a:picLocks noChangeAspect="1"/>
          </p:cNvPicPr>
          <p:nvPr/>
        </p:nvPicPr>
        <p:blipFill>
          <a:blip r:embed="rId3"/>
          <a:stretch>
            <a:fillRect/>
          </a:stretch>
        </p:blipFill>
        <p:spPr>
          <a:xfrm>
            <a:off x="697870" y="3943990"/>
            <a:ext cx="323332" cy="323332"/>
          </a:xfrm>
          <a:prstGeom prst="rect">
            <a:avLst/>
          </a:prstGeom>
        </p:spPr>
      </p:pic>
      <p:sp>
        <p:nvSpPr>
          <p:cNvPr id="14" name="Text 9"/>
          <p:cNvSpPr/>
          <p:nvPr/>
        </p:nvSpPr>
        <p:spPr>
          <a:xfrm>
            <a:off x="1298448" y="377647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One query, full table</a:t>
            </a:r>
            <a:endParaRPr lang="en-US" sz="1450" dirty="0"/>
          </a:p>
        </p:txBody>
      </p:sp>
      <p:sp>
        <p:nvSpPr>
          <p:cNvPr id="15" name="Text 10"/>
          <p:cNvSpPr/>
          <p:nvPr/>
        </p:nvSpPr>
        <p:spPr>
          <a:xfrm>
            <a:off x="1298448" y="405993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R² and RMSE recomputed on every row, on a schedule.</a:t>
            </a:r>
            <a:endParaRPr lang="en-US" sz="1200" dirty="0"/>
          </a:p>
        </p:txBody>
      </p:sp>
      <p:sp>
        <p:nvSpPr>
          <p:cNvPr id="16" name="Shape 11"/>
          <p:cNvSpPr/>
          <p:nvPr/>
        </p:nvSpPr>
        <p:spPr>
          <a:xfrm>
            <a:off x="548640" y="4892040"/>
            <a:ext cx="5440680" cy="1234440"/>
          </a:xfrm>
          <a:prstGeom prst="roundRect">
            <a:avLst>
              <a:gd name="adj" fmla="val 6667"/>
            </a:avLst>
          </a:prstGeom>
          <a:solidFill>
            <a:srgbClr val="EEF3FC"/>
          </a:solidFill>
          <a:ln/>
          <a:effectLst>
            <a:outerShdw sx="100000" sy="100000" kx="0" ky="0" algn="bl" rotWithShape="0" blurRad="88900" dist="25400" dir="5400000">
              <a:srgbClr val="0B0E24">
                <a:alpha val="22000"/>
              </a:srgbClr>
            </a:outerShdw>
          </a:effectLst>
        </p:spPr>
      </p:sp>
      <p:sp>
        <p:nvSpPr>
          <p:cNvPr id="17" name="Text 12"/>
          <p:cNvSpPr/>
          <p:nvPr/>
        </p:nvSpPr>
        <p:spPr>
          <a:xfrm>
            <a:off x="777240" y="5029200"/>
            <a:ext cx="5029200" cy="960120"/>
          </a:xfrm>
          <a:prstGeom prst="rect">
            <a:avLst/>
          </a:prstGeom>
          <a:noFill/>
          <a:ln/>
        </p:spPr>
        <p:txBody>
          <a:bodyPr wrap="square" rtlCol="0" anchor="t"/>
          <a:lstStyle/>
          <a:p>
            <a:pPr indent="0" marL="0">
              <a:lnSpc>
                <a:spcPct val="120000"/>
              </a:lnSpc>
              <a:buNone/>
            </a:pPr>
            <a:r>
              <a:rPr lang="en-US" sz="1200" b="1" dirty="0">
                <a:solidFill>
                  <a:srgbClr val="1E2761"/>
                </a:solidFill>
                <a:latin typeface="Calibri" pitchFamily="34" charset="0"/>
                <a:ea typeface="Calibri" pitchFamily="34" charset="-122"/>
                <a:cs typeface="Calibri" pitchFamily="34" charset="-120"/>
              </a:rPr>
              <a:t>Why this matters:  </a:t>
            </a:r>
            <a:pPr indent="0" marL="0">
              <a:lnSpc>
                <a:spcPct val="120000"/>
              </a:lnSpc>
              <a:buNone/>
            </a:pPr>
            <a:r>
              <a:rPr lang="en-US" sz="1200" dirty="0">
                <a:solidFill>
                  <a:srgbClr val="232946"/>
                </a:solidFill>
                <a:latin typeface="Calibri" pitchFamily="34" charset="0"/>
                <a:ea typeface="Calibri" pitchFamily="34" charset="-122"/>
                <a:cs typeface="Calibri" pitchFamily="34" charset="-120"/>
              </a:rPr>
              <a:t>the R model only supplies coefficients — scoring millions of restaurants never has to leave the database.</a:t>
            </a:r>
            <a:endParaRPr lang="en-US" sz="1200" dirty="0"/>
          </a:p>
        </p:txBody>
      </p:sp>
      <p:sp>
        <p:nvSpPr>
          <p:cNvPr id="18" name="Shape 13"/>
          <p:cNvSpPr/>
          <p:nvPr/>
        </p:nvSpPr>
        <p:spPr>
          <a:xfrm>
            <a:off x="6263640" y="1828800"/>
            <a:ext cx="5349240" cy="4663440"/>
          </a:xfrm>
          <a:prstGeom prst="roundRect">
            <a:avLst>
              <a:gd name="adj" fmla="val 1765"/>
            </a:avLst>
          </a:prstGeom>
          <a:solidFill>
            <a:srgbClr val="11162E"/>
          </a:solidFill>
          <a:ln/>
          <a:effectLst>
            <a:outerShdw sx="100000" sy="100000" kx="0" ky="0" algn="bl" rotWithShape="0" blurRad="88900" dist="25400" dir="5400000">
              <a:srgbClr val="0B0E24">
                <a:alpha val="22000"/>
              </a:srgbClr>
            </a:outerShdw>
          </a:effectLst>
        </p:spPr>
      </p:sp>
      <p:sp>
        <p:nvSpPr>
          <p:cNvPr id="19" name="Shape 14"/>
          <p:cNvSpPr/>
          <p:nvPr/>
        </p:nvSpPr>
        <p:spPr>
          <a:xfrm>
            <a:off x="6537960" y="1655064"/>
            <a:ext cx="868680" cy="347472"/>
          </a:xfrm>
          <a:prstGeom prst="roundRect">
            <a:avLst>
              <a:gd name="adj" fmla="val 50000"/>
            </a:avLst>
          </a:prstGeom>
          <a:solidFill>
            <a:srgbClr val="E8912D"/>
          </a:solidFill>
          <a:ln/>
        </p:spPr>
      </p:sp>
      <p:sp>
        <p:nvSpPr>
          <p:cNvPr id="20" name="Text 15"/>
          <p:cNvSpPr/>
          <p:nvPr/>
        </p:nvSpPr>
        <p:spPr>
          <a:xfrm>
            <a:off x="6537960" y="1655064"/>
            <a:ext cx="868680" cy="34747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SQL</a:t>
            </a:r>
            <a:endParaRPr lang="en-US" sz="1250" dirty="0"/>
          </a:p>
        </p:txBody>
      </p:sp>
      <p:sp>
        <p:nvSpPr>
          <p:cNvPr id="21" name="Text 16"/>
          <p:cNvSpPr/>
          <p:nvPr/>
        </p:nvSpPr>
        <p:spPr>
          <a:xfrm>
            <a:off x="6583680" y="2148840"/>
            <a:ext cx="4709160" cy="4160520"/>
          </a:xfrm>
          <a:prstGeom prst="rect">
            <a:avLst/>
          </a:prstGeom>
          <a:noFill/>
          <a:ln/>
        </p:spPr>
        <p:txBody>
          <a:bodyPr wrap="square" rtlCol="0" anchor="t"/>
          <a:lstStyle/>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WITH scored AS (</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SELECT</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actual_revenue,</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predicted_revenue,</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actual_revenue - predicted_revenue</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AS residual,</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AVG(actual_revenue) OVER ()</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AS mean_actual</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FROM model_scores</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SELECT</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1 - SUM(POWER(residual, 2))</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 SUM(POWER(actual_revenue</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 mean_actual, 2))   AS r_squared,</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SQRT(AVG(POWER(residual, 2)))</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AS rmse</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FROM scored;</a:t>
            </a:r>
            <a:endParaRPr lang="en-US" sz="1200" dirty="0"/>
          </a:p>
        </p:txBody>
      </p:sp>
      <p:sp>
        <p:nvSpPr>
          <p:cNvPr id="22" name="Text 17"/>
          <p:cNvSpPr/>
          <p:nvPr/>
        </p:nvSpPr>
        <p:spPr>
          <a:xfrm>
            <a:off x="548640" y="6528816"/>
            <a:ext cx="7315200" cy="256032"/>
          </a:xfrm>
          <a:prstGeom prst="rect">
            <a:avLst/>
          </a:prstGeom>
          <a:noFill/>
          <a:ln/>
        </p:spPr>
        <p:txBody>
          <a:bodyPr wrap="square" rtlCol="0" anchor="ctr"/>
          <a:lstStyle/>
          <a:p>
            <a:pPr indent="0" marL="0">
              <a:buNone/>
            </a:pPr>
            <a:r>
              <a:rPr lang="en-US" sz="900" dirty="0">
                <a:solidFill>
                  <a:srgbClr val="9AA3BF"/>
                </a:solidFill>
                <a:latin typeface="Calibri" pitchFamily="34" charset="0"/>
                <a:ea typeface="Calibri" pitchFamily="34" charset="-122"/>
                <a:cs typeface="Calibri" pitchFamily="34" charset="-120"/>
              </a:rPr>
              <a:t>BDA POP — Hybrid Model Validation (R + SQL)</a:t>
            </a:r>
            <a:endParaRPr lang="en-US" sz="900" dirty="0"/>
          </a:p>
        </p:txBody>
      </p:sp>
      <p:sp>
        <p:nvSpPr>
          <p:cNvPr id="23" name="Text 18"/>
          <p:cNvSpPr/>
          <p:nvPr/>
        </p:nvSpPr>
        <p:spPr>
          <a:xfrm>
            <a:off x="10972800" y="6528816"/>
            <a:ext cx="667512" cy="256032"/>
          </a:xfrm>
          <a:prstGeom prst="rect">
            <a:avLst/>
          </a:prstGeom>
          <a:noFill/>
          <a:ln/>
        </p:spPr>
        <p:txBody>
          <a:bodyPr wrap="square" rtlCol="0" anchor="ctr"/>
          <a:lstStyle/>
          <a:p>
            <a:pPr algn="r" indent="0" marL="0">
              <a:buNone/>
            </a:pPr>
            <a:r>
              <a:rPr lang="en-US" sz="900" dirty="0">
                <a:solidFill>
                  <a:srgbClr val="9AA3BF"/>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indent="0" marL="0">
              <a:buNone/>
            </a:pPr>
            <a:r>
              <a:rPr lang="en-US" sz="1200" b="1" spc="200" kern="0" dirty="0">
                <a:solidFill>
                  <a:srgbClr val="E8912D"/>
                </a:solidFill>
                <a:latin typeface="Calibri" pitchFamily="34" charset="0"/>
                <a:ea typeface="Calibri" pitchFamily="34" charset="-122"/>
                <a:cs typeface="Calibri" pitchFamily="34" charset="-120"/>
              </a:rPr>
              <a:t>CLASSIFICATION</a:t>
            </a:r>
            <a:endParaRPr lang="en-US" sz="12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Diagnostic Framework &amp; Confusion Matrices</a:t>
            </a:r>
            <a:endParaRPr lang="en-US" sz="3200" dirty="0"/>
          </a:p>
        </p:txBody>
      </p:sp>
      <p:sp>
        <p:nvSpPr>
          <p:cNvPr id="4" name="Shape 2"/>
          <p:cNvSpPr/>
          <p:nvPr/>
        </p:nvSpPr>
        <p:spPr>
          <a:xfrm>
            <a:off x="548640" y="1691640"/>
            <a:ext cx="621792" cy="621792"/>
          </a:xfrm>
          <a:prstGeom prst="ellipse">
            <a:avLst/>
          </a:prstGeom>
          <a:solidFill>
            <a:srgbClr val="1E2761"/>
          </a:solidFill>
          <a:ln/>
          <a:effectLst>
            <a:outerShdw sx="100000" sy="100000" kx="0" ky="0" algn="bl" rotWithShape="0" blurRad="88900" dist="25400" dir="5400000">
              <a:srgbClr val="0B0E24">
                <a:alpha val="22000"/>
              </a:srgbClr>
            </a:outerShdw>
          </a:effectLst>
        </p:spPr>
      </p:sp>
      <p:pic>
        <p:nvPicPr>
          <p:cNvPr id="5" name="Image 0" descr="preencoded.png">    </p:cNvPr>
          <p:cNvPicPr>
            <a:picLocks noChangeAspect="1"/>
          </p:cNvPicPr>
          <p:nvPr/>
        </p:nvPicPr>
        <p:blipFill>
          <a:blip r:embed="rId1"/>
          <a:stretch>
            <a:fillRect/>
          </a:stretch>
        </p:blipFill>
        <p:spPr>
          <a:xfrm>
            <a:off x="697870" y="1840870"/>
            <a:ext cx="323332" cy="323332"/>
          </a:xfrm>
          <a:prstGeom prst="rect">
            <a:avLst/>
          </a:prstGeom>
        </p:spPr>
      </p:pic>
      <p:sp>
        <p:nvSpPr>
          <p:cNvPr id="6" name="Text 3"/>
          <p:cNvSpPr/>
          <p:nvPr/>
        </p:nvSpPr>
        <p:spPr>
          <a:xfrm>
            <a:off x="1298448" y="167335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Precision</a:t>
            </a:r>
            <a:endParaRPr lang="en-US" sz="1450" dirty="0"/>
          </a:p>
        </p:txBody>
      </p:sp>
      <p:sp>
        <p:nvSpPr>
          <p:cNvPr id="7" name="Text 4"/>
          <p:cNvSpPr/>
          <p:nvPr/>
        </p:nvSpPr>
        <p:spPr>
          <a:xfrm>
            <a:off x="1298448" y="195681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Of the positive calls, how many were right.</a:t>
            </a:r>
            <a:endParaRPr lang="en-US" sz="1200" dirty="0"/>
          </a:p>
        </p:txBody>
      </p:sp>
      <p:sp>
        <p:nvSpPr>
          <p:cNvPr id="8" name="Shape 5"/>
          <p:cNvSpPr/>
          <p:nvPr/>
        </p:nvSpPr>
        <p:spPr>
          <a:xfrm>
            <a:off x="548640" y="2697480"/>
            <a:ext cx="621792" cy="621792"/>
          </a:xfrm>
          <a:prstGeom prst="ellipse">
            <a:avLst/>
          </a:prstGeom>
          <a:solidFill>
            <a:srgbClr val="1E2761"/>
          </a:solidFill>
          <a:ln/>
          <a:effectLst>
            <a:outerShdw sx="100000" sy="100000" kx="0" ky="0" algn="bl" rotWithShape="0" blurRad="88900" dist="25400" dir="5400000">
              <a:srgbClr val="0B0E24">
                <a:alpha val="22000"/>
              </a:srgbClr>
            </a:outerShdw>
          </a:effectLst>
        </p:spPr>
      </p:sp>
      <p:pic>
        <p:nvPicPr>
          <p:cNvPr id="9" name="Image 1" descr="preencoded.png">    </p:cNvPr>
          <p:cNvPicPr>
            <a:picLocks noChangeAspect="1"/>
          </p:cNvPicPr>
          <p:nvPr/>
        </p:nvPicPr>
        <p:blipFill>
          <a:blip r:embed="rId2"/>
          <a:stretch>
            <a:fillRect/>
          </a:stretch>
        </p:blipFill>
        <p:spPr>
          <a:xfrm>
            <a:off x="697870" y="2846710"/>
            <a:ext cx="323332" cy="323332"/>
          </a:xfrm>
          <a:prstGeom prst="rect">
            <a:avLst/>
          </a:prstGeom>
        </p:spPr>
      </p:pic>
      <p:sp>
        <p:nvSpPr>
          <p:cNvPr id="10" name="Text 6"/>
          <p:cNvSpPr/>
          <p:nvPr/>
        </p:nvSpPr>
        <p:spPr>
          <a:xfrm>
            <a:off x="1298448" y="267919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Recall</a:t>
            </a:r>
            <a:endParaRPr lang="en-US" sz="1450" dirty="0"/>
          </a:p>
        </p:txBody>
      </p:sp>
      <p:sp>
        <p:nvSpPr>
          <p:cNvPr id="11" name="Text 7"/>
          <p:cNvSpPr/>
          <p:nvPr/>
        </p:nvSpPr>
        <p:spPr>
          <a:xfrm>
            <a:off x="1298448" y="296265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Of the true positives, how many got caught.</a:t>
            </a:r>
            <a:endParaRPr lang="en-US" sz="1200" dirty="0"/>
          </a:p>
        </p:txBody>
      </p:sp>
      <p:sp>
        <p:nvSpPr>
          <p:cNvPr id="12" name="Shape 8"/>
          <p:cNvSpPr/>
          <p:nvPr/>
        </p:nvSpPr>
        <p:spPr>
          <a:xfrm>
            <a:off x="548640" y="3703320"/>
            <a:ext cx="621792" cy="621792"/>
          </a:xfrm>
          <a:prstGeom prst="ellipse">
            <a:avLst/>
          </a:prstGeom>
          <a:solidFill>
            <a:srgbClr val="1E2761"/>
          </a:solidFill>
          <a:ln/>
          <a:effectLst>
            <a:outerShdw sx="100000" sy="100000" kx="0" ky="0" algn="bl" rotWithShape="0" blurRad="88900" dist="25400" dir="5400000">
              <a:srgbClr val="0B0E24">
                <a:alpha val="22000"/>
              </a:srgbClr>
            </a:outerShdw>
          </a:effectLst>
        </p:spPr>
      </p:sp>
      <p:pic>
        <p:nvPicPr>
          <p:cNvPr id="13" name="Image 2" descr="preencoded.png">    </p:cNvPr>
          <p:cNvPicPr>
            <a:picLocks noChangeAspect="1"/>
          </p:cNvPicPr>
          <p:nvPr/>
        </p:nvPicPr>
        <p:blipFill>
          <a:blip r:embed="rId3"/>
          <a:stretch>
            <a:fillRect/>
          </a:stretch>
        </p:blipFill>
        <p:spPr>
          <a:xfrm>
            <a:off x="697870" y="3852550"/>
            <a:ext cx="323332" cy="323332"/>
          </a:xfrm>
          <a:prstGeom prst="rect">
            <a:avLst/>
          </a:prstGeom>
        </p:spPr>
      </p:pic>
      <p:sp>
        <p:nvSpPr>
          <p:cNvPr id="14" name="Text 9"/>
          <p:cNvSpPr/>
          <p:nvPr/>
        </p:nvSpPr>
        <p:spPr>
          <a:xfrm>
            <a:off x="1298448" y="368503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F1 score</a:t>
            </a:r>
            <a:endParaRPr lang="en-US" sz="1450" dirty="0"/>
          </a:p>
        </p:txBody>
      </p:sp>
      <p:sp>
        <p:nvSpPr>
          <p:cNvPr id="15" name="Text 10"/>
          <p:cNvSpPr/>
          <p:nvPr/>
        </p:nvSpPr>
        <p:spPr>
          <a:xfrm>
            <a:off x="1298448" y="396849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Harmonic mean — punishes a weak side, either side.</a:t>
            </a:r>
            <a:endParaRPr lang="en-US" sz="1200" dirty="0"/>
          </a:p>
        </p:txBody>
      </p:sp>
      <p:sp>
        <p:nvSpPr>
          <p:cNvPr id="16" name="Shape 11"/>
          <p:cNvSpPr/>
          <p:nvPr/>
        </p:nvSpPr>
        <p:spPr>
          <a:xfrm>
            <a:off x="548640" y="4709160"/>
            <a:ext cx="5440680" cy="1417320"/>
          </a:xfrm>
          <a:prstGeom prst="roundRect">
            <a:avLst>
              <a:gd name="adj" fmla="val 5806"/>
            </a:avLst>
          </a:prstGeom>
          <a:solidFill>
            <a:srgbClr val="EEF3FC"/>
          </a:solidFill>
          <a:ln/>
          <a:effectLst>
            <a:outerShdw sx="100000" sy="100000" kx="0" ky="0" algn="bl" rotWithShape="0" blurRad="88900" dist="25400" dir="5400000">
              <a:srgbClr val="0B0E24">
                <a:alpha val="22000"/>
              </a:srgbClr>
            </a:outerShdw>
          </a:effectLst>
        </p:spPr>
      </p:sp>
      <p:sp>
        <p:nvSpPr>
          <p:cNvPr id="17" name="Text 12"/>
          <p:cNvSpPr/>
          <p:nvPr/>
        </p:nvSpPr>
        <p:spPr>
          <a:xfrm>
            <a:off x="777240" y="4892040"/>
            <a:ext cx="50292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Precision  86.6%   </a:t>
            </a:r>
            <a:pPr indent="0" marL="0">
              <a:buNone/>
            </a:pPr>
            <a:r>
              <a:rPr lang="en-US" sz="1500" dirty="0">
                <a:solidFill>
                  <a:srgbClr val="5B6480"/>
                </a:solidFill>
                <a:latin typeface="Calibri" pitchFamily="34" charset="0"/>
                <a:ea typeface="Calibri" pitchFamily="34" charset="-122"/>
                <a:cs typeface="Calibri" pitchFamily="34" charset="-120"/>
              </a:rPr>
              <a:t>·  </a:t>
            </a:r>
            <a:pPr indent="0" marL="0">
              <a:buNone/>
            </a:pPr>
            <a:r>
              <a:rPr lang="en-US" sz="1500" b="1" dirty="0">
                <a:solidFill>
                  <a:srgbClr val="1E2761"/>
                </a:solidFill>
                <a:latin typeface="Calibri" pitchFamily="34" charset="0"/>
                <a:ea typeface="Calibri" pitchFamily="34" charset="-122"/>
                <a:cs typeface="Calibri" pitchFamily="34" charset="-120"/>
              </a:rPr>
              <a:t>Recall  76.5%   </a:t>
            </a:r>
            <a:pPr indent="0" marL="0">
              <a:buNone/>
            </a:pPr>
            <a:r>
              <a:rPr lang="en-US" sz="1500" dirty="0">
                <a:solidFill>
                  <a:srgbClr val="5B6480"/>
                </a:solidFill>
                <a:latin typeface="Calibri" pitchFamily="34" charset="0"/>
                <a:ea typeface="Calibri" pitchFamily="34" charset="-122"/>
                <a:cs typeface="Calibri" pitchFamily="34" charset="-120"/>
              </a:rPr>
              <a:t>·  </a:t>
            </a:r>
            <a:pPr indent="0" marL="0">
              <a:buNone/>
            </a:pPr>
            <a:r>
              <a:rPr lang="en-US" sz="1500" b="1" dirty="0">
                <a:solidFill>
                  <a:srgbClr val="1E2761"/>
                </a:solidFill>
                <a:latin typeface="Calibri" pitchFamily="34" charset="0"/>
                <a:ea typeface="Calibri" pitchFamily="34" charset="-122"/>
                <a:cs typeface="Calibri" pitchFamily="34" charset="-120"/>
              </a:rPr>
              <a:t>F1  81.2%</a:t>
            </a:r>
            <a:endParaRPr lang="en-US" sz="1500" dirty="0"/>
          </a:p>
        </p:txBody>
      </p:sp>
      <p:sp>
        <p:nvSpPr>
          <p:cNvPr id="18" name="Text 13"/>
          <p:cNvSpPr/>
          <p:nvPr/>
        </p:nvSpPr>
        <p:spPr>
          <a:xfrm>
            <a:off x="777240" y="5257800"/>
            <a:ext cx="5029200" cy="685800"/>
          </a:xfrm>
          <a:prstGeom prst="rect">
            <a:avLst/>
          </a:prstGeom>
          <a:noFill/>
          <a:ln/>
        </p:spPr>
        <p:txBody>
          <a:bodyPr wrap="square" rtlCol="0" anchor="t"/>
          <a:lstStyle/>
          <a:p>
            <a:pPr indent="0" marL="0">
              <a:buNone/>
            </a:pPr>
            <a:r>
              <a:rPr lang="en-US" sz="1150" i="1" dirty="0">
                <a:solidFill>
                  <a:srgbClr val="5B6480"/>
                </a:solidFill>
                <a:latin typeface="Calibri" pitchFamily="34" charset="0"/>
                <a:ea typeface="Calibri" pitchFamily="34" charset="-122"/>
                <a:cs typeface="Calibri" pitchFamily="34" charset="-120"/>
              </a:rPr>
              <a:t>Accuracy alone (86%) looked fine — the matrix is what caught the recall gap.</a:t>
            </a:r>
            <a:endParaRPr lang="en-US" sz="1150" dirty="0"/>
          </a:p>
        </p:txBody>
      </p:sp>
      <p:sp>
        <p:nvSpPr>
          <p:cNvPr id="19" name="Shape 14"/>
          <p:cNvSpPr/>
          <p:nvPr/>
        </p:nvSpPr>
        <p:spPr>
          <a:xfrm>
            <a:off x="6172200" y="1691640"/>
            <a:ext cx="5440680" cy="4480560"/>
          </a:xfrm>
          <a:prstGeom prst="roundRect">
            <a:avLst>
              <a:gd name="adj" fmla="val 1837"/>
            </a:avLst>
          </a:prstGeom>
          <a:solidFill>
            <a:srgbClr val="EEF3FC"/>
          </a:solidFill>
          <a:ln/>
          <a:effectLst>
            <a:outerShdw sx="100000" sy="100000" kx="0" ky="0" algn="bl" rotWithShape="0" blurRad="88900" dist="25400" dir="5400000">
              <a:srgbClr val="0B0E24">
                <a:alpha val="22000"/>
              </a:srgbClr>
            </a:outerShdw>
          </a:effectLst>
        </p:spPr>
      </p:sp>
      <p:sp>
        <p:nvSpPr>
          <p:cNvPr id="20" name="Text 15"/>
          <p:cNvSpPr/>
          <p:nvPr/>
        </p:nvSpPr>
        <p:spPr>
          <a:xfrm>
            <a:off x="6355080" y="1828800"/>
            <a:ext cx="5074920" cy="274320"/>
          </a:xfrm>
          <a:prstGeom prst="rect">
            <a:avLst/>
          </a:prstGeom>
          <a:noFill/>
          <a:ln/>
        </p:spPr>
        <p:txBody>
          <a:bodyPr wrap="square" rtlCol="0" anchor="ctr"/>
          <a:lstStyle/>
          <a:p>
            <a:pPr indent="0" marL="0">
              <a:buNone/>
            </a:pPr>
            <a:r>
              <a:rPr lang="en-US" sz="1050" b="1" spc="150" kern="0" dirty="0">
                <a:solidFill>
                  <a:srgbClr val="5B6480"/>
                </a:solidFill>
                <a:latin typeface="Calibri" pitchFamily="34" charset="0"/>
                <a:ea typeface="Calibri" pitchFamily="34" charset="-122"/>
                <a:cs typeface="Calibri" pitchFamily="34" charset="-120"/>
              </a:rPr>
              <a:t>HOLDOUT CONFUSION MATRIX  (n = 2,000)</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55080" y="2240280"/>
          <a:ext cx="5074920" cy="3749040"/>
        </p:xfrm>
        <a:graphic>
          <a:graphicData uri="http://schemas.openxmlformats.org/drawingml/2006/table">
            <a:tbl>
              <a:tblPr/>
              <a:tblGrid>
                <a:gridCol w="1234440"/>
                <a:gridCol w="1920240"/>
                <a:gridCol w="1920240"/>
              </a:tblGrid>
              <a:tr h="548640">
                <a:tc>
                  <a:txBody>
                    <a:bodyPr/>
                    <a:lstStyle/>
                    <a:p>
                      <a:pPr indent="0" marL="0">
                        <a:buNone/>
                      </a:pPr>
                      <a:endParaRPr lang="en-US" sz="1200" dirty="0">
                        <a:latin typeface="Calibri" charset="0"/>
                        <a:ea typeface="Calibri" charset="0"/>
                        <a:cs typeface="Calibri" charset="0"/>
                      </a:endParaRPr>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Predicted:</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Positive</a:t>
                      </a:r>
                      <a:endParaRPr lang="en-US" sz="1100" dirty="0">
                        <a:latin typeface="Calibri" charset="0"/>
                        <a:ea typeface="Calibri" charset="0"/>
                        <a:cs typeface="Calibri" charset="0"/>
                      </a:endParaRPr>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Predicted:</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Negative</a:t>
                      </a:r>
                      <a:endParaRPr lang="en-US" sz="1100" dirty="0">
                        <a:latin typeface="Calibri" charset="0"/>
                        <a:ea typeface="Calibri" charset="0"/>
                        <a:cs typeface="Calibri" charset="0"/>
                      </a:endParaRPr>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2761"/>
                    </a:solidFill>
                  </a:tcPr>
                </a:tc>
              </a:tr>
              <a:tr h="1600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Actual:</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Positive</a:t>
                      </a:r>
                      <a:endParaRPr lang="en-US" sz="1100" dirty="0">
                        <a:latin typeface="Calibri" charset="0"/>
                        <a:ea typeface="Calibri" charset="0"/>
                        <a:cs typeface="Calibri" charset="0"/>
                      </a:endParaRPr>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2200" b="1" dirty="0">
                          <a:solidFill>
                            <a:srgbClr val="1E2761"/>
                          </a:solidFill>
                          <a:latin typeface="Calibri" pitchFamily="34" charset="0"/>
                          <a:ea typeface="Calibri" pitchFamily="34" charset="-122"/>
                          <a:cs typeface="Calibri" pitchFamily="34" charset="-120"/>
                        </a:rPr>
                        <a:t>612
</a:t>
                      </a:r>
                      <a:endParaRPr lang="en-US" sz="1200" dirty="0">
                        <a:latin typeface="Calibri" charset="0"/>
                        <a:ea typeface="Calibri" charset="0"/>
                        <a:cs typeface="Calibri" charset="0"/>
                      </a:endParaRPr>
                    </a:p>
                    <a:p>
                      <a:pPr algn="ctr" indent="0" marL="0">
                        <a:buNone/>
                      </a:pPr>
                      <a:r>
                        <a:rPr lang="en-US" sz="1050" dirty="0">
                          <a:solidFill>
                            <a:srgbClr val="5B6480"/>
                          </a:solidFill>
                          <a:latin typeface="Calibri" pitchFamily="34" charset="0"/>
                          <a:ea typeface="Calibri" pitchFamily="34" charset="-122"/>
                          <a:cs typeface="Calibri" pitchFamily="34" charset="-120"/>
                        </a:rPr>
                        <a:t>True Positive</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5F3EE"/>
                    </a:solidFill>
                  </a:tcPr>
                </a:tc>
                <a:tc>
                  <a:txBody>
                    <a:bodyPr/>
                    <a:lstStyle/>
                    <a:p>
                      <a:pPr algn="ctr" indent="0" marL="0">
                        <a:buNone/>
                      </a:pPr>
                      <a:r>
                        <a:rPr lang="en-US" sz="2200" b="1" dirty="0">
                          <a:solidFill>
                            <a:srgbClr val="1E2761"/>
                          </a:solidFill>
                          <a:latin typeface="Calibri" pitchFamily="34" charset="0"/>
                          <a:ea typeface="Calibri" pitchFamily="34" charset="-122"/>
                          <a:cs typeface="Calibri" pitchFamily="34" charset="-120"/>
                        </a:rPr>
                        <a:t>188
</a:t>
                      </a:r>
                      <a:endParaRPr lang="en-US" sz="1200" dirty="0">
                        <a:latin typeface="Calibri" charset="0"/>
                        <a:ea typeface="Calibri" charset="0"/>
                        <a:cs typeface="Calibri" charset="0"/>
                      </a:endParaRPr>
                    </a:p>
                    <a:p>
                      <a:pPr algn="ctr" indent="0" marL="0">
                        <a:buNone/>
                      </a:pPr>
                      <a:r>
                        <a:rPr lang="en-US" sz="1050" dirty="0">
                          <a:solidFill>
                            <a:srgbClr val="5B6480"/>
                          </a:solidFill>
                          <a:latin typeface="Calibri" pitchFamily="34" charset="0"/>
                          <a:ea typeface="Calibri" pitchFamily="34" charset="-122"/>
                          <a:cs typeface="Calibri" pitchFamily="34" charset="-120"/>
                        </a:rPr>
                        <a:t>False Negative</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E6"/>
                    </a:solidFill>
                  </a:tcPr>
                </a:tc>
              </a:tr>
              <a:tr h="1600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Actual:</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Negative</a:t>
                      </a:r>
                      <a:endParaRPr lang="en-US" sz="1100" dirty="0">
                        <a:latin typeface="Calibri" charset="0"/>
                        <a:ea typeface="Calibri" charset="0"/>
                        <a:cs typeface="Calibri" charset="0"/>
                      </a:endParaRPr>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2200" b="1" dirty="0">
                          <a:solidFill>
                            <a:srgbClr val="1E2761"/>
                          </a:solidFill>
                          <a:latin typeface="Calibri" pitchFamily="34" charset="0"/>
                          <a:ea typeface="Calibri" pitchFamily="34" charset="-122"/>
                          <a:cs typeface="Calibri" pitchFamily="34" charset="-120"/>
                        </a:rPr>
                        <a:t>95
</a:t>
                      </a:r>
                      <a:endParaRPr lang="en-US" sz="1200" dirty="0">
                        <a:latin typeface="Calibri" charset="0"/>
                        <a:ea typeface="Calibri" charset="0"/>
                        <a:cs typeface="Calibri" charset="0"/>
                      </a:endParaRPr>
                    </a:p>
                    <a:p>
                      <a:pPr algn="ctr" indent="0" marL="0">
                        <a:buNone/>
                      </a:pPr>
                      <a:r>
                        <a:rPr lang="en-US" sz="1050" dirty="0">
                          <a:solidFill>
                            <a:srgbClr val="5B6480"/>
                          </a:solidFill>
                          <a:latin typeface="Calibri" pitchFamily="34" charset="0"/>
                          <a:ea typeface="Calibri" pitchFamily="34" charset="-122"/>
                          <a:cs typeface="Calibri" pitchFamily="34" charset="-120"/>
                        </a:rPr>
                        <a:t>False Positive</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E6"/>
                    </a:solidFill>
                  </a:tcPr>
                </a:tc>
                <a:tc>
                  <a:txBody>
                    <a:bodyPr/>
                    <a:lstStyle/>
                    <a:p>
                      <a:pPr algn="ctr" indent="0" marL="0">
                        <a:buNone/>
                      </a:pPr>
                      <a:r>
                        <a:rPr lang="en-US" sz="2200" b="1" dirty="0">
                          <a:solidFill>
                            <a:srgbClr val="1E2761"/>
                          </a:solidFill>
                          <a:latin typeface="Calibri" pitchFamily="34" charset="0"/>
                          <a:ea typeface="Calibri" pitchFamily="34" charset="-122"/>
                          <a:cs typeface="Calibri" pitchFamily="34" charset="-120"/>
                        </a:rPr>
                        <a:t>1,105
</a:t>
                      </a:r>
                      <a:endParaRPr lang="en-US" sz="1200" dirty="0">
                        <a:latin typeface="Calibri" charset="0"/>
                        <a:ea typeface="Calibri" charset="0"/>
                        <a:cs typeface="Calibri" charset="0"/>
                      </a:endParaRPr>
                    </a:p>
                    <a:p>
                      <a:pPr algn="ctr" indent="0" marL="0">
                        <a:buNone/>
                      </a:pPr>
                      <a:r>
                        <a:rPr lang="en-US" sz="1050" dirty="0">
                          <a:solidFill>
                            <a:srgbClr val="5B6480"/>
                          </a:solidFill>
                          <a:latin typeface="Calibri" pitchFamily="34" charset="0"/>
                          <a:ea typeface="Calibri" pitchFamily="34" charset="-122"/>
                          <a:cs typeface="Calibri" pitchFamily="34" charset="-120"/>
                        </a:rPr>
                        <a:t>True Negative</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5F3EE"/>
                    </a:solidFill>
                  </a:tcPr>
                </a:tc>
              </a:tr>
            </a:tbl>
          </a:graphicData>
        </a:graphic>
      </p:graphicFrame>
      <p:sp>
        <p:nvSpPr>
          <p:cNvPr id="22" name="Text 16"/>
          <p:cNvSpPr/>
          <p:nvPr/>
        </p:nvSpPr>
        <p:spPr>
          <a:xfrm>
            <a:off x="548640" y="6528816"/>
            <a:ext cx="7315200" cy="256032"/>
          </a:xfrm>
          <a:prstGeom prst="rect">
            <a:avLst/>
          </a:prstGeom>
          <a:noFill/>
          <a:ln/>
        </p:spPr>
        <p:txBody>
          <a:bodyPr wrap="square" rtlCol="0" anchor="ctr"/>
          <a:lstStyle/>
          <a:p>
            <a:pPr indent="0" marL="0">
              <a:buNone/>
            </a:pPr>
            <a:r>
              <a:rPr lang="en-US" sz="900" dirty="0">
                <a:solidFill>
                  <a:srgbClr val="9AA3BF"/>
                </a:solidFill>
                <a:latin typeface="Calibri" pitchFamily="34" charset="0"/>
                <a:ea typeface="Calibri" pitchFamily="34" charset="-122"/>
                <a:cs typeface="Calibri" pitchFamily="34" charset="-120"/>
              </a:rPr>
              <a:t>BDA POP — Hybrid Model Validation (R + SQL)</a:t>
            </a:r>
            <a:endParaRPr lang="en-US" sz="900" dirty="0"/>
          </a:p>
        </p:txBody>
      </p:sp>
      <p:sp>
        <p:nvSpPr>
          <p:cNvPr id="23" name="Text 17"/>
          <p:cNvSpPr/>
          <p:nvPr/>
        </p:nvSpPr>
        <p:spPr>
          <a:xfrm>
            <a:off x="10972800" y="6528816"/>
            <a:ext cx="667512" cy="256032"/>
          </a:xfrm>
          <a:prstGeom prst="rect">
            <a:avLst/>
          </a:prstGeom>
          <a:noFill/>
          <a:ln/>
        </p:spPr>
        <p:txBody>
          <a:bodyPr wrap="square" rtlCol="0" anchor="ctr"/>
          <a:lstStyle/>
          <a:p>
            <a:pPr algn="r" indent="0" marL="0">
              <a:buNone/>
            </a:pPr>
            <a:r>
              <a:rPr lang="en-US" sz="900" dirty="0">
                <a:solidFill>
                  <a:srgbClr val="9AA3BF"/>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indent="0" marL="0">
              <a:buNone/>
            </a:pPr>
            <a:r>
              <a:rPr lang="en-US" sz="1200" b="1" spc="200" kern="0" dirty="0">
                <a:solidFill>
                  <a:srgbClr val="E8912D"/>
                </a:solidFill>
                <a:latin typeface="Calibri" pitchFamily="34" charset="0"/>
                <a:ea typeface="Calibri" pitchFamily="34" charset="-122"/>
                <a:cs typeface="Calibri" pitchFamily="34" charset="-120"/>
              </a:rPr>
              <a:t>CLASSIFICATION</a:t>
            </a:r>
            <a:endParaRPr lang="en-US" sz="12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Advanced Evaluation &amp; R ROC Curves</a:t>
            </a:r>
            <a:endParaRPr lang="en-US" sz="3200" dirty="0"/>
          </a:p>
        </p:txBody>
      </p:sp>
      <p:sp>
        <p:nvSpPr>
          <p:cNvPr id="4" name="Shape 2"/>
          <p:cNvSpPr/>
          <p:nvPr/>
        </p:nvSpPr>
        <p:spPr>
          <a:xfrm>
            <a:off x="548640" y="1783080"/>
            <a:ext cx="621792" cy="621792"/>
          </a:xfrm>
          <a:prstGeom prst="ellipse">
            <a:avLst/>
          </a:prstGeom>
          <a:solidFill>
            <a:srgbClr val="2C7FB0"/>
          </a:solidFill>
          <a:ln/>
          <a:effectLst>
            <a:outerShdw sx="100000" sy="100000" kx="0" ky="0" algn="bl" rotWithShape="0" blurRad="88900" dist="25400" dir="5400000">
              <a:srgbClr val="0B0E24">
                <a:alpha val="22000"/>
              </a:srgbClr>
            </a:outerShdw>
          </a:effectLst>
        </p:spPr>
      </p:sp>
      <p:pic>
        <p:nvPicPr>
          <p:cNvPr id="5" name="Image 0" descr="preencoded.png">    </p:cNvPr>
          <p:cNvPicPr>
            <a:picLocks noChangeAspect="1"/>
          </p:cNvPicPr>
          <p:nvPr/>
        </p:nvPicPr>
        <p:blipFill>
          <a:blip r:embed="rId1"/>
          <a:stretch>
            <a:fillRect/>
          </a:stretch>
        </p:blipFill>
        <p:spPr>
          <a:xfrm>
            <a:off x="697870" y="1932310"/>
            <a:ext cx="323332" cy="323332"/>
          </a:xfrm>
          <a:prstGeom prst="rect">
            <a:avLst/>
          </a:prstGeom>
        </p:spPr>
      </p:pic>
      <p:sp>
        <p:nvSpPr>
          <p:cNvPr id="6" name="Text 3"/>
          <p:cNvSpPr/>
          <p:nvPr/>
        </p:nvSpPr>
        <p:spPr>
          <a:xfrm>
            <a:off x="1298448" y="176479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AUC</a:t>
            </a:r>
            <a:endParaRPr lang="en-US" sz="1450" dirty="0"/>
          </a:p>
        </p:txBody>
      </p:sp>
      <p:sp>
        <p:nvSpPr>
          <p:cNvPr id="7" name="Text 4"/>
          <p:cNvSpPr/>
          <p:nvPr/>
        </p:nvSpPr>
        <p:spPr>
          <a:xfrm>
            <a:off x="1298448" y="204825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Separability across every possible cutoff, not just one.</a:t>
            </a:r>
            <a:endParaRPr lang="en-US" sz="1200" dirty="0"/>
          </a:p>
        </p:txBody>
      </p:sp>
      <p:sp>
        <p:nvSpPr>
          <p:cNvPr id="8" name="Shape 5"/>
          <p:cNvSpPr/>
          <p:nvPr/>
        </p:nvSpPr>
        <p:spPr>
          <a:xfrm>
            <a:off x="548640" y="2788920"/>
            <a:ext cx="621792" cy="621792"/>
          </a:xfrm>
          <a:prstGeom prst="ellipse">
            <a:avLst/>
          </a:prstGeom>
          <a:solidFill>
            <a:srgbClr val="2C7FB0"/>
          </a:solidFill>
          <a:ln/>
          <a:effectLst>
            <a:outerShdw sx="100000" sy="100000" kx="0" ky="0" algn="bl" rotWithShape="0" blurRad="88900" dist="25400" dir="5400000">
              <a:srgbClr val="0B0E24">
                <a:alpha val="22000"/>
              </a:srgbClr>
            </a:outerShdw>
          </a:effectLst>
        </p:spPr>
      </p:sp>
      <p:pic>
        <p:nvPicPr>
          <p:cNvPr id="9" name="Image 1" descr="preencoded.png">    </p:cNvPr>
          <p:cNvPicPr>
            <a:picLocks noChangeAspect="1"/>
          </p:cNvPicPr>
          <p:nvPr/>
        </p:nvPicPr>
        <p:blipFill>
          <a:blip r:embed="rId2"/>
          <a:stretch>
            <a:fillRect/>
          </a:stretch>
        </p:blipFill>
        <p:spPr>
          <a:xfrm>
            <a:off x="697870" y="2938150"/>
            <a:ext cx="323332" cy="323332"/>
          </a:xfrm>
          <a:prstGeom prst="rect">
            <a:avLst/>
          </a:prstGeom>
        </p:spPr>
      </p:pic>
      <p:sp>
        <p:nvSpPr>
          <p:cNvPr id="10" name="Text 6"/>
          <p:cNvSpPr/>
          <p:nvPr/>
        </p:nvSpPr>
        <p:spPr>
          <a:xfrm>
            <a:off x="1298448" y="277063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TPR vs. FPR</a:t>
            </a:r>
            <a:endParaRPr lang="en-US" sz="1450" dirty="0"/>
          </a:p>
        </p:txBody>
      </p:sp>
      <p:sp>
        <p:nvSpPr>
          <p:cNvPr id="11" name="Text 7"/>
          <p:cNvSpPr/>
          <p:nvPr/>
        </p:nvSpPr>
        <p:spPr>
          <a:xfrm>
            <a:off x="1298448" y="305409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Plotted at each threshold to trace the ROC curve.</a:t>
            </a:r>
            <a:endParaRPr lang="en-US" sz="1200" dirty="0"/>
          </a:p>
        </p:txBody>
      </p:sp>
      <p:sp>
        <p:nvSpPr>
          <p:cNvPr id="12" name="Shape 8"/>
          <p:cNvSpPr/>
          <p:nvPr/>
        </p:nvSpPr>
        <p:spPr>
          <a:xfrm>
            <a:off x="548640" y="3794760"/>
            <a:ext cx="621792" cy="621792"/>
          </a:xfrm>
          <a:prstGeom prst="ellipse">
            <a:avLst/>
          </a:prstGeom>
          <a:solidFill>
            <a:srgbClr val="2C7FB0"/>
          </a:solidFill>
          <a:ln/>
          <a:effectLst>
            <a:outerShdw sx="100000" sy="100000" kx="0" ky="0" algn="bl" rotWithShape="0" blurRad="88900" dist="25400" dir="5400000">
              <a:srgbClr val="0B0E24">
                <a:alpha val="22000"/>
              </a:srgbClr>
            </a:outerShdw>
          </a:effectLst>
        </p:spPr>
      </p:sp>
      <p:pic>
        <p:nvPicPr>
          <p:cNvPr id="13" name="Image 2" descr="preencoded.png">    </p:cNvPr>
          <p:cNvPicPr>
            <a:picLocks noChangeAspect="1"/>
          </p:cNvPicPr>
          <p:nvPr/>
        </p:nvPicPr>
        <p:blipFill>
          <a:blip r:embed="rId3"/>
          <a:stretch>
            <a:fillRect/>
          </a:stretch>
        </p:blipFill>
        <p:spPr>
          <a:xfrm>
            <a:off x="697870" y="3943990"/>
            <a:ext cx="323332" cy="323332"/>
          </a:xfrm>
          <a:prstGeom prst="rect">
            <a:avLst/>
          </a:prstGeom>
        </p:spPr>
      </p:pic>
      <p:sp>
        <p:nvSpPr>
          <p:cNvPr id="14" name="Text 9"/>
          <p:cNvSpPr/>
          <p:nvPr/>
        </p:nvSpPr>
        <p:spPr>
          <a:xfrm>
            <a:off x="1298448" y="377647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Above the diagonal</a:t>
            </a:r>
            <a:endParaRPr lang="en-US" sz="1450" dirty="0"/>
          </a:p>
        </p:txBody>
      </p:sp>
      <p:sp>
        <p:nvSpPr>
          <p:cNvPr id="15" name="Text 10"/>
          <p:cNvSpPr/>
          <p:nvPr/>
        </p:nvSpPr>
        <p:spPr>
          <a:xfrm>
            <a:off x="1298448" y="405993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Distance from the diagonal is real signal.</a:t>
            </a:r>
            <a:endParaRPr lang="en-US" sz="1200" dirty="0"/>
          </a:p>
        </p:txBody>
      </p:sp>
      <p:sp>
        <p:nvSpPr>
          <p:cNvPr id="16" name="Shape 11"/>
          <p:cNvSpPr/>
          <p:nvPr/>
        </p:nvSpPr>
        <p:spPr>
          <a:xfrm>
            <a:off x="548640" y="4892040"/>
            <a:ext cx="5440680" cy="1600200"/>
          </a:xfrm>
          <a:prstGeom prst="roundRect">
            <a:avLst>
              <a:gd name="adj" fmla="val 5143"/>
            </a:avLst>
          </a:prstGeom>
          <a:solidFill>
            <a:srgbClr val="11162E"/>
          </a:solidFill>
          <a:ln/>
          <a:effectLst>
            <a:outerShdw sx="100000" sy="100000" kx="0" ky="0" algn="bl" rotWithShape="0" blurRad="88900" dist="25400" dir="5400000">
              <a:srgbClr val="0B0E24">
                <a:alpha val="22000"/>
              </a:srgbClr>
            </a:outerShdw>
          </a:effectLst>
        </p:spPr>
      </p:sp>
      <p:sp>
        <p:nvSpPr>
          <p:cNvPr id="17" name="Shape 12"/>
          <p:cNvSpPr/>
          <p:nvPr/>
        </p:nvSpPr>
        <p:spPr>
          <a:xfrm>
            <a:off x="822960" y="4718304"/>
            <a:ext cx="868680" cy="347472"/>
          </a:xfrm>
          <a:prstGeom prst="roundRect">
            <a:avLst>
              <a:gd name="adj" fmla="val 50000"/>
            </a:avLst>
          </a:prstGeom>
          <a:solidFill>
            <a:srgbClr val="2C7FB0"/>
          </a:solidFill>
          <a:ln/>
        </p:spPr>
      </p:sp>
      <p:sp>
        <p:nvSpPr>
          <p:cNvPr id="18" name="Text 13"/>
          <p:cNvSpPr/>
          <p:nvPr/>
        </p:nvSpPr>
        <p:spPr>
          <a:xfrm>
            <a:off x="822960" y="4718304"/>
            <a:ext cx="868680" cy="34747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p>
        </p:txBody>
      </p:sp>
      <p:sp>
        <p:nvSpPr>
          <p:cNvPr id="19" name="Text 14"/>
          <p:cNvSpPr/>
          <p:nvPr/>
        </p:nvSpPr>
        <p:spPr>
          <a:xfrm>
            <a:off x="868680" y="5212080"/>
            <a:ext cx="4800600" cy="1097280"/>
          </a:xfrm>
          <a:prstGeom prst="rect">
            <a:avLst/>
          </a:prstGeom>
          <a:noFill/>
          <a:ln/>
        </p:spPr>
        <p:txBody>
          <a:bodyPr wrap="square" rtlCol="0" anchor="t"/>
          <a:lstStyle/>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roc_obj &lt;- roc(holdout$actual,</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holdout$pred_prob)</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plot(roc_obj, print.auc = TRUE,</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col = "#2C7FB0", lwd = 2)</a:t>
            </a:r>
            <a:endParaRPr lang="en-US" sz="1200" dirty="0"/>
          </a:p>
        </p:txBody>
      </p:sp>
      <p:sp>
        <p:nvSpPr>
          <p:cNvPr id="20" name="Shape 15"/>
          <p:cNvSpPr/>
          <p:nvPr/>
        </p:nvSpPr>
        <p:spPr>
          <a:xfrm>
            <a:off x="6172200" y="1691640"/>
            <a:ext cx="5440680" cy="4800600"/>
          </a:xfrm>
          <a:prstGeom prst="roundRect">
            <a:avLst>
              <a:gd name="adj" fmla="val 1714"/>
            </a:avLst>
          </a:prstGeom>
          <a:solidFill>
            <a:srgbClr val="EEF3FC"/>
          </a:solidFill>
          <a:ln/>
          <a:effectLst>
            <a:outerShdw sx="100000" sy="100000" kx="0" ky="0" algn="bl" rotWithShape="0" blurRad="88900" dist="25400" dir="5400000">
              <a:srgbClr val="0B0E24">
                <a:alpha val="22000"/>
              </a:srgbClr>
            </a:outerShdw>
          </a:effectLst>
        </p:spPr>
      </p:sp>
      <p:sp>
        <p:nvSpPr>
          <p:cNvPr id="21" name="Text 16"/>
          <p:cNvSpPr/>
          <p:nvPr/>
        </p:nvSpPr>
        <p:spPr>
          <a:xfrm>
            <a:off x="6355080" y="1828800"/>
            <a:ext cx="5074920" cy="274320"/>
          </a:xfrm>
          <a:prstGeom prst="rect">
            <a:avLst/>
          </a:prstGeom>
          <a:noFill/>
          <a:ln/>
        </p:spPr>
        <p:txBody>
          <a:bodyPr wrap="square" rtlCol="0" anchor="ctr"/>
          <a:lstStyle/>
          <a:p>
            <a:pPr indent="0" marL="0">
              <a:buNone/>
            </a:pPr>
            <a:r>
              <a:rPr lang="en-US" sz="1050" b="1" spc="150" kern="0" dirty="0">
                <a:solidFill>
                  <a:srgbClr val="5B6480"/>
                </a:solidFill>
                <a:latin typeface="Calibri" pitchFamily="34" charset="0"/>
                <a:ea typeface="Calibri" pitchFamily="34" charset="-122"/>
                <a:cs typeface="Calibri" pitchFamily="34" charset="-120"/>
              </a:rPr>
              <a:t>ROC CURVE — HOLDOUT SET</a:t>
            </a:r>
            <a:endParaRPr lang="en-US" sz="1050" dirty="0"/>
          </a:p>
        </p:txBody>
      </p:sp>
      <p:pic>
        <p:nvPicPr>
          <p:cNvPr id="22" name="Image 3" descr="preencoded.png">    </p:cNvPr>
          <p:cNvPicPr>
            <a:picLocks noChangeAspect="1"/>
          </p:cNvPicPr>
          <p:nvPr/>
        </p:nvPicPr>
        <p:blipFill>
          <a:blip r:embed="rId4"/>
          <a:stretch>
            <a:fillRect/>
          </a:stretch>
        </p:blipFill>
        <p:spPr>
          <a:xfrm>
            <a:off x="6309360" y="2148840"/>
            <a:ext cx="5120640" cy="3977640"/>
          </a:xfrm>
          <a:prstGeom prst="rect">
            <a:avLst/>
          </a:prstGeom>
        </p:spPr>
      </p:pic>
      <p:sp>
        <p:nvSpPr>
          <p:cNvPr id="23" name="Text 17"/>
          <p:cNvSpPr/>
          <p:nvPr/>
        </p:nvSpPr>
        <p:spPr>
          <a:xfrm>
            <a:off x="548640" y="6528816"/>
            <a:ext cx="7315200" cy="256032"/>
          </a:xfrm>
          <a:prstGeom prst="rect">
            <a:avLst/>
          </a:prstGeom>
          <a:noFill/>
          <a:ln/>
        </p:spPr>
        <p:txBody>
          <a:bodyPr wrap="square" rtlCol="0" anchor="ctr"/>
          <a:lstStyle/>
          <a:p>
            <a:pPr indent="0" marL="0">
              <a:buNone/>
            </a:pPr>
            <a:r>
              <a:rPr lang="en-US" sz="900" dirty="0">
                <a:solidFill>
                  <a:srgbClr val="9AA3BF"/>
                </a:solidFill>
                <a:latin typeface="Calibri" pitchFamily="34" charset="0"/>
                <a:ea typeface="Calibri" pitchFamily="34" charset="-122"/>
                <a:cs typeface="Calibri" pitchFamily="34" charset="-120"/>
              </a:rPr>
              <a:t>BDA POP — Hybrid Model Validation (R + SQL)</a:t>
            </a:r>
            <a:endParaRPr lang="en-US" sz="900" dirty="0"/>
          </a:p>
        </p:txBody>
      </p:sp>
      <p:sp>
        <p:nvSpPr>
          <p:cNvPr id="24" name="Text 18"/>
          <p:cNvSpPr/>
          <p:nvPr/>
        </p:nvSpPr>
        <p:spPr>
          <a:xfrm>
            <a:off x="10972800" y="6528816"/>
            <a:ext cx="667512" cy="256032"/>
          </a:xfrm>
          <a:prstGeom prst="rect">
            <a:avLst/>
          </a:prstGeom>
          <a:noFill/>
          <a:ln/>
        </p:spPr>
        <p:txBody>
          <a:bodyPr wrap="square" rtlCol="0" anchor="ctr"/>
          <a:lstStyle/>
          <a:p>
            <a:pPr algn="r" indent="0" marL="0">
              <a:buNone/>
            </a:pPr>
            <a:r>
              <a:rPr lang="en-US" sz="900" dirty="0">
                <a:solidFill>
                  <a:srgbClr val="9AA3BF"/>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indent="0" marL="0">
              <a:buNone/>
            </a:pPr>
            <a:r>
              <a:rPr lang="en-US" sz="1200" b="1" spc="200" kern="0" dirty="0">
                <a:solidFill>
                  <a:srgbClr val="E8912D"/>
                </a:solidFill>
                <a:latin typeface="Calibri" pitchFamily="34" charset="0"/>
                <a:ea typeface="Calibri" pitchFamily="34" charset="-122"/>
                <a:cs typeface="Calibri" pitchFamily="34" charset="-120"/>
              </a:rPr>
              <a:t>UNSUPERVISED CLUSTERING</a:t>
            </a:r>
            <a:endParaRPr lang="en-US" sz="12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Validation Framework: WCSS vs. BCSS</a:t>
            </a:r>
            <a:endParaRPr lang="en-US" sz="3200" dirty="0"/>
          </a:p>
        </p:txBody>
      </p:sp>
      <p:sp>
        <p:nvSpPr>
          <p:cNvPr id="4" name="Shape 2"/>
          <p:cNvSpPr/>
          <p:nvPr/>
        </p:nvSpPr>
        <p:spPr>
          <a:xfrm>
            <a:off x="548640" y="1691640"/>
            <a:ext cx="621792" cy="621792"/>
          </a:xfrm>
          <a:prstGeom prst="ellipse">
            <a:avLst/>
          </a:prstGeom>
          <a:solidFill>
            <a:srgbClr val="1E2761"/>
          </a:solidFill>
          <a:ln/>
          <a:effectLst>
            <a:outerShdw sx="100000" sy="100000" kx="0" ky="0" algn="bl" rotWithShape="0" blurRad="88900" dist="25400" dir="5400000">
              <a:srgbClr val="0B0E24">
                <a:alpha val="22000"/>
              </a:srgbClr>
            </a:outerShdw>
          </a:effectLst>
        </p:spPr>
      </p:sp>
      <p:pic>
        <p:nvPicPr>
          <p:cNvPr id="5" name="Image 0" descr="preencoded.png">    </p:cNvPr>
          <p:cNvPicPr>
            <a:picLocks noChangeAspect="1"/>
          </p:cNvPicPr>
          <p:nvPr/>
        </p:nvPicPr>
        <p:blipFill>
          <a:blip r:embed="rId1"/>
          <a:stretch>
            <a:fillRect/>
          </a:stretch>
        </p:blipFill>
        <p:spPr>
          <a:xfrm>
            <a:off x="697870" y="1840870"/>
            <a:ext cx="323332" cy="323332"/>
          </a:xfrm>
          <a:prstGeom prst="rect">
            <a:avLst/>
          </a:prstGeom>
        </p:spPr>
      </p:pic>
      <p:sp>
        <p:nvSpPr>
          <p:cNvPr id="6" name="Text 3"/>
          <p:cNvSpPr/>
          <p:nvPr/>
        </p:nvSpPr>
        <p:spPr>
          <a:xfrm>
            <a:off x="1298448" y="167335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WCSS</a:t>
            </a:r>
            <a:endParaRPr lang="en-US" sz="1450" dirty="0"/>
          </a:p>
        </p:txBody>
      </p:sp>
      <p:sp>
        <p:nvSpPr>
          <p:cNvPr id="7" name="Text 4"/>
          <p:cNvSpPr/>
          <p:nvPr/>
        </p:nvSpPr>
        <p:spPr>
          <a:xfrm>
            <a:off x="1298448" y="195681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Within-cluster spread — smaller means tighter clusters.</a:t>
            </a:r>
            <a:endParaRPr lang="en-US" sz="1200" dirty="0"/>
          </a:p>
        </p:txBody>
      </p:sp>
      <p:sp>
        <p:nvSpPr>
          <p:cNvPr id="8" name="Shape 5"/>
          <p:cNvSpPr/>
          <p:nvPr/>
        </p:nvSpPr>
        <p:spPr>
          <a:xfrm>
            <a:off x="548640" y="2697480"/>
            <a:ext cx="621792" cy="621792"/>
          </a:xfrm>
          <a:prstGeom prst="ellipse">
            <a:avLst/>
          </a:prstGeom>
          <a:solidFill>
            <a:srgbClr val="1E2761"/>
          </a:solidFill>
          <a:ln/>
          <a:effectLst>
            <a:outerShdw sx="100000" sy="100000" kx="0" ky="0" algn="bl" rotWithShape="0" blurRad="88900" dist="25400" dir="5400000">
              <a:srgbClr val="0B0E24">
                <a:alpha val="22000"/>
              </a:srgbClr>
            </a:outerShdw>
          </a:effectLst>
        </p:spPr>
      </p:sp>
      <p:pic>
        <p:nvPicPr>
          <p:cNvPr id="9" name="Image 1" descr="preencoded.png">    </p:cNvPr>
          <p:cNvPicPr>
            <a:picLocks noChangeAspect="1"/>
          </p:cNvPicPr>
          <p:nvPr/>
        </p:nvPicPr>
        <p:blipFill>
          <a:blip r:embed="rId2"/>
          <a:stretch>
            <a:fillRect/>
          </a:stretch>
        </p:blipFill>
        <p:spPr>
          <a:xfrm>
            <a:off x="697870" y="2846710"/>
            <a:ext cx="323332" cy="323332"/>
          </a:xfrm>
          <a:prstGeom prst="rect">
            <a:avLst/>
          </a:prstGeom>
        </p:spPr>
      </p:pic>
      <p:sp>
        <p:nvSpPr>
          <p:cNvPr id="10" name="Text 6"/>
          <p:cNvSpPr/>
          <p:nvPr/>
        </p:nvSpPr>
        <p:spPr>
          <a:xfrm>
            <a:off x="1298448" y="267919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BCSS</a:t>
            </a:r>
            <a:endParaRPr lang="en-US" sz="1450" dirty="0"/>
          </a:p>
        </p:txBody>
      </p:sp>
      <p:sp>
        <p:nvSpPr>
          <p:cNvPr id="11" name="Text 7"/>
          <p:cNvSpPr/>
          <p:nvPr/>
        </p:nvSpPr>
        <p:spPr>
          <a:xfrm>
            <a:off x="1298448" y="296265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Between-cluster spread — bigger means cleaner separation.</a:t>
            </a:r>
            <a:endParaRPr lang="en-US" sz="1200" dirty="0"/>
          </a:p>
        </p:txBody>
      </p:sp>
      <p:sp>
        <p:nvSpPr>
          <p:cNvPr id="12" name="Shape 8"/>
          <p:cNvSpPr/>
          <p:nvPr/>
        </p:nvSpPr>
        <p:spPr>
          <a:xfrm>
            <a:off x="548640" y="3703320"/>
            <a:ext cx="621792" cy="621792"/>
          </a:xfrm>
          <a:prstGeom prst="ellipse">
            <a:avLst/>
          </a:prstGeom>
          <a:solidFill>
            <a:srgbClr val="1E2761"/>
          </a:solidFill>
          <a:ln/>
          <a:effectLst>
            <a:outerShdw sx="100000" sy="100000" kx="0" ky="0" algn="bl" rotWithShape="0" blurRad="88900" dist="25400" dir="5400000">
              <a:srgbClr val="0B0E24">
                <a:alpha val="22000"/>
              </a:srgbClr>
            </a:outerShdw>
          </a:effectLst>
        </p:spPr>
      </p:sp>
      <p:pic>
        <p:nvPicPr>
          <p:cNvPr id="13" name="Image 2" descr="preencoded.png">    </p:cNvPr>
          <p:cNvPicPr>
            <a:picLocks noChangeAspect="1"/>
          </p:cNvPicPr>
          <p:nvPr/>
        </p:nvPicPr>
        <p:blipFill>
          <a:blip r:embed="rId3"/>
          <a:stretch>
            <a:fillRect/>
          </a:stretch>
        </p:blipFill>
        <p:spPr>
          <a:xfrm>
            <a:off x="697870" y="3852550"/>
            <a:ext cx="323332" cy="323332"/>
          </a:xfrm>
          <a:prstGeom prst="rect">
            <a:avLst/>
          </a:prstGeom>
        </p:spPr>
      </p:pic>
      <p:sp>
        <p:nvSpPr>
          <p:cNvPr id="14" name="Text 9"/>
          <p:cNvSpPr/>
          <p:nvPr/>
        </p:nvSpPr>
        <p:spPr>
          <a:xfrm>
            <a:off x="1298448" y="368503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Silhouette score</a:t>
            </a:r>
            <a:endParaRPr lang="en-US" sz="1450" dirty="0"/>
          </a:p>
        </p:txBody>
      </p:sp>
      <p:sp>
        <p:nvSpPr>
          <p:cNvPr id="15" name="Text 10"/>
          <p:cNvSpPr/>
          <p:nvPr/>
        </p:nvSpPr>
        <p:spPr>
          <a:xfrm>
            <a:off x="1298448" y="396849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Combines both into one −1 to 1 verdict per point.</a:t>
            </a:r>
            <a:endParaRPr lang="en-US" sz="1200" dirty="0"/>
          </a:p>
        </p:txBody>
      </p:sp>
      <p:sp>
        <p:nvSpPr>
          <p:cNvPr id="16" name="Shape 11"/>
          <p:cNvSpPr/>
          <p:nvPr/>
        </p:nvSpPr>
        <p:spPr>
          <a:xfrm>
            <a:off x="548640" y="4892040"/>
            <a:ext cx="5212080" cy="822960"/>
          </a:xfrm>
          <a:prstGeom prst="roundRect">
            <a:avLst>
              <a:gd name="adj" fmla="val 8889"/>
            </a:avLst>
          </a:prstGeom>
          <a:solidFill>
            <a:srgbClr val="EEF3FC"/>
          </a:solidFill>
          <a:ln/>
          <a:effectLst>
            <a:outerShdw sx="100000" sy="100000" kx="0" ky="0" algn="bl" rotWithShape="0" blurRad="88900" dist="25400" dir="5400000">
              <a:srgbClr val="0B0E24">
                <a:alpha val="22000"/>
              </a:srgbClr>
            </a:outerShdw>
          </a:effectLst>
        </p:spPr>
      </p:sp>
      <p:sp>
        <p:nvSpPr>
          <p:cNvPr id="17" name="Text 12"/>
          <p:cNvSpPr/>
          <p:nvPr/>
        </p:nvSpPr>
        <p:spPr>
          <a:xfrm>
            <a:off x="731520" y="4965192"/>
            <a:ext cx="4846320" cy="256032"/>
          </a:xfrm>
          <a:prstGeom prst="rect">
            <a:avLst/>
          </a:prstGeom>
          <a:noFill/>
          <a:ln/>
        </p:spPr>
        <p:txBody>
          <a:bodyPr wrap="square" rtlCol="0" anchor="ctr"/>
          <a:lstStyle/>
          <a:p>
            <a:pPr indent="0" marL="0">
              <a:buNone/>
            </a:pPr>
            <a:r>
              <a:rPr lang="en-US" sz="1150" b="1" dirty="0">
                <a:solidFill>
                  <a:srgbClr val="5B6480"/>
                </a:solidFill>
                <a:latin typeface="Calibri" pitchFamily="34" charset="0"/>
                <a:ea typeface="Calibri" pitchFamily="34" charset="-122"/>
                <a:cs typeface="Calibri" pitchFamily="34" charset="-120"/>
              </a:rPr>
              <a:t>SILHOUETTE, BEST k (k = 3)</a:t>
            </a:r>
            <a:endParaRPr lang="en-US" sz="1150" dirty="0"/>
          </a:p>
        </p:txBody>
      </p:sp>
      <p:sp>
        <p:nvSpPr>
          <p:cNvPr id="18" name="Text 13"/>
          <p:cNvSpPr/>
          <p:nvPr/>
        </p:nvSpPr>
        <p:spPr>
          <a:xfrm>
            <a:off x="731520" y="5184648"/>
            <a:ext cx="2866644" cy="45720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0.42</a:t>
            </a:r>
            <a:endParaRPr lang="en-US" sz="2400" dirty="0"/>
          </a:p>
        </p:txBody>
      </p:sp>
      <p:sp>
        <p:nvSpPr>
          <p:cNvPr id="19" name="Text 14"/>
          <p:cNvSpPr/>
          <p:nvPr/>
        </p:nvSpPr>
        <p:spPr>
          <a:xfrm>
            <a:off x="3415284" y="5276088"/>
            <a:ext cx="2241194" cy="365760"/>
          </a:xfrm>
          <a:prstGeom prst="rect">
            <a:avLst/>
          </a:prstGeom>
          <a:noFill/>
          <a:ln/>
        </p:spPr>
        <p:txBody>
          <a:bodyPr wrap="square" rtlCol="0" anchor="b"/>
          <a:lstStyle/>
          <a:p>
            <a:pPr algn="r" indent="0" marL="0">
              <a:buNone/>
            </a:pPr>
            <a:r>
              <a:rPr lang="en-US" sz="1050" b="1" dirty="0">
                <a:solidFill>
                  <a:srgbClr val="C4472B"/>
                </a:solidFill>
                <a:latin typeface="Calibri" pitchFamily="34" charset="0"/>
                <a:ea typeface="Calibri" pitchFamily="34" charset="-122"/>
                <a:cs typeface="Calibri" pitchFamily="34" charset="-120"/>
              </a:rPr>
              <a:t>≥ 0.50 target</a:t>
            </a:r>
            <a:endParaRPr lang="en-US" sz="1050" dirty="0"/>
          </a:p>
        </p:txBody>
      </p:sp>
      <p:sp>
        <p:nvSpPr>
          <p:cNvPr id="20" name="Shape 15"/>
          <p:cNvSpPr/>
          <p:nvPr/>
        </p:nvSpPr>
        <p:spPr>
          <a:xfrm>
            <a:off x="6172200" y="1691640"/>
            <a:ext cx="5440680" cy="4800600"/>
          </a:xfrm>
          <a:prstGeom prst="roundRect">
            <a:avLst>
              <a:gd name="adj" fmla="val 1714"/>
            </a:avLst>
          </a:prstGeom>
          <a:solidFill>
            <a:srgbClr val="EEF3FC"/>
          </a:solidFill>
          <a:ln/>
          <a:effectLst>
            <a:outerShdw sx="100000" sy="100000" kx="0" ky="0" algn="bl" rotWithShape="0" blurRad="88900" dist="25400" dir="5400000">
              <a:srgbClr val="0B0E24">
                <a:alpha val="22000"/>
              </a:srgbClr>
            </a:outerShdw>
          </a:effectLst>
        </p:spPr>
      </p:sp>
      <p:sp>
        <p:nvSpPr>
          <p:cNvPr id="21" name="Text 16"/>
          <p:cNvSpPr/>
          <p:nvPr/>
        </p:nvSpPr>
        <p:spPr>
          <a:xfrm>
            <a:off x="6355080" y="1828800"/>
            <a:ext cx="5074920" cy="274320"/>
          </a:xfrm>
          <a:prstGeom prst="rect">
            <a:avLst/>
          </a:prstGeom>
          <a:noFill/>
          <a:ln/>
        </p:spPr>
        <p:txBody>
          <a:bodyPr wrap="square" rtlCol="0" anchor="ctr"/>
          <a:lstStyle/>
          <a:p>
            <a:pPr indent="0" marL="0">
              <a:buNone/>
            </a:pPr>
            <a:r>
              <a:rPr lang="en-US" sz="1050" b="1" spc="150" kern="0" dirty="0">
                <a:solidFill>
                  <a:srgbClr val="5B6480"/>
                </a:solidFill>
                <a:latin typeface="Calibri" pitchFamily="34" charset="0"/>
                <a:ea typeface="Calibri" pitchFamily="34" charset="-122"/>
                <a:cs typeface="Calibri" pitchFamily="34" charset="-120"/>
              </a:rPr>
              <a:t>WCSS BY CLUSTER COUNT (ELBOW)</a:t>
            </a:r>
            <a:endParaRPr lang="en-US" sz="1050" dirty="0"/>
          </a:p>
        </p:txBody>
      </p:sp>
      <p:pic>
        <p:nvPicPr>
          <p:cNvPr id="22" name="Image 3" descr="preencoded.png">    </p:cNvPr>
          <p:cNvPicPr>
            <a:picLocks noChangeAspect="1"/>
          </p:cNvPicPr>
          <p:nvPr/>
        </p:nvPicPr>
        <p:blipFill>
          <a:blip r:embed="rId4"/>
          <a:stretch>
            <a:fillRect/>
          </a:stretch>
        </p:blipFill>
        <p:spPr>
          <a:xfrm>
            <a:off x="6309360" y="2148840"/>
            <a:ext cx="5120640" cy="3291840"/>
          </a:xfrm>
          <a:prstGeom prst="rect">
            <a:avLst/>
          </a:prstGeom>
        </p:spPr>
      </p:pic>
      <p:sp>
        <p:nvSpPr>
          <p:cNvPr id="23" name="Shape 17"/>
          <p:cNvSpPr/>
          <p:nvPr/>
        </p:nvSpPr>
        <p:spPr>
          <a:xfrm>
            <a:off x="7635240" y="4846320"/>
            <a:ext cx="1417320" cy="365760"/>
          </a:xfrm>
          <a:prstGeom prst="roundRect">
            <a:avLst>
              <a:gd name="adj" fmla="val 15000"/>
            </a:avLst>
          </a:prstGeom>
          <a:solidFill>
            <a:srgbClr val="E8912D"/>
          </a:solidFill>
          <a:ln/>
        </p:spPr>
      </p:sp>
      <p:sp>
        <p:nvSpPr>
          <p:cNvPr id="24" name="Text 18"/>
          <p:cNvSpPr/>
          <p:nvPr/>
        </p:nvSpPr>
        <p:spPr>
          <a:xfrm>
            <a:off x="7635240" y="4846320"/>
            <a:ext cx="141732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elbow ≈ k=3</a:t>
            </a:r>
            <a:endParaRPr lang="en-US" sz="1100" dirty="0"/>
          </a:p>
        </p:txBody>
      </p:sp>
      <p:sp>
        <p:nvSpPr>
          <p:cNvPr id="25" name="Text 19"/>
          <p:cNvSpPr/>
          <p:nvPr/>
        </p:nvSpPr>
        <p:spPr>
          <a:xfrm>
            <a:off x="6355080" y="5623560"/>
            <a:ext cx="5074920" cy="365760"/>
          </a:xfrm>
          <a:prstGeom prst="rect">
            <a:avLst/>
          </a:prstGeom>
          <a:noFill/>
          <a:ln/>
        </p:spPr>
        <p:txBody>
          <a:bodyPr wrap="square" rtlCol="0" anchor="ctr"/>
          <a:lstStyle/>
          <a:p>
            <a:pPr indent="0" marL="0">
              <a:buNone/>
            </a:pPr>
            <a:r>
              <a:rPr lang="en-US" sz="1050" i="1" dirty="0">
                <a:solidFill>
                  <a:srgbClr val="5B6480"/>
                </a:solidFill>
                <a:latin typeface="Calibri" pitchFamily="34" charset="0"/>
                <a:ea typeface="Calibri" pitchFamily="34" charset="-122"/>
                <a:cs typeface="Calibri" pitchFamily="34" charset="-120"/>
              </a:rPr>
              <a:t>Diminishing returns past k=3 — but silhouette says the segments still overlap.</a:t>
            </a:r>
            <a:endParaRPr lang="en-US" sz="1050" dirty="0"/>
          </a:p>
        </p:txBody>
      </p:sp>
      <p:sp>
        <p:nvSpPr>
          <p:cNvPr id="26" name="Text 20"/>
          <p:cNvSpPr/>
          <p:nvPr/>
        </p:nvSpPr>
        <p:spPr>
          <a:xfrm>
            <a:off x="548640" y="6528816"/>
            <a:ext cx="7315200" cy="256032"/>
          </a:xfrm>
          <a:prstGeom prst="rect">
            <a:avLst/>
          </a:prstGeom>
          <a:noFill/>
          <a:ln/>
        </p:spPr>
        <p:txBody>
          <a:bodyPr wrap="square" rtlCol="0" anchor="ctr"/>
          <a:lstStyle/>
          <a:p>
            <a:pPr indent="0" marL="0">
              <a:buNone/>
            </a:pPr>
            <a:r>
              <a:rPr lang="en-US" sz="900" dirty="0">
                <a:solidFill>
                  <a:srgbClr val="9AA3BF"/>
                </a:solidFill>
                <a:latin typeface="Calibri" pitchFamily="34" charset="0"/>
                <a:ea typeface="Calibri" pitchFamily="34" charset="-122"/>
                <a:cs typeface="Calibri" pitchFamily="34" charset="-120"/>
              </a:rPr>
              <a:t>BDA POP — Hybrid Model Validation (R + SQL)</a:t>
            </a:r>
            <a:endParaRPr lang="en-US" sz="900" dirty="0"/>
          </a:p>
        </p:txBody>
      </p:sp>
      <p:sp>
        <p:nvSpPr>
          <p:cNvPr id="27" name="Text 21"/>
          <p:cNvSpPr/>
          <p:nvPr/>
        </p:nvSpPr>
        <p:spPr>
          <a:xfrm>
            <a:off x="10972800" y="6528816"/>
            <a:ext cx="667512" cy="256032"/>
          </a:xfrm>
          <a:prstGeom prst="rect">
            <a:avLst/>
          </a:prstGeom>
          <a:noFill/>
          <a:ln/>
        </p:spPr>
        <p:txBody>
          <a:bodyPr wrap="square" rtlCol="0" anchor="ctr"/>
          <a:lstStyle/>
          <a:p>
            <a:pPr algn="r" indent="0" marL="0">
              <a:buNone/>
            </a:pPr>
            <a:r>
              <a:rPr lang="en-US" sz="900" dirty="0">
                <a:solidFill>
                  <a:srgbClr val="9AA3BF"/>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indent="0" marL="0">
              <a:buNone/>
            </a:pPr>
            <a:r>
              <a:rPr lang="en-US" sz="1200" b="1" spc="200" kern="0" dirty="0">
                <a:solidFill>
                  <a:srgbClr val="E8912D"/>
                </a:solidFill>
                <a:latin typeface="Calibri" pitchFamily="34" charset="0"/>
                <a:ea typeface="Calibri" pitchFamily="34" charset="-122"/>
                <a:cs typeface="Calibri" pitchFamily="34" charset="-120"/>
              </a:rPr>
              <a:t>UNSUPERVISED CLUSTERING</a:t>
            </a:r>
            <a:endParaRPr lang="en-US" sz="12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In-Database Centroid Distance</a:t>
            </a:r>
            <a:endParaRPr lang="en-US" sz="3200" dirty="0"/>
          </a:p>
        </p:txBody>
      </p:sp>
      <p:sp>
        <p:nvSpPr>
          <p:cNvPr id="4" name="Shape 2"/>
          <p:cNvSpPr/>
          <p:nvPr/>
        </p:nvSpPr>
        <p:spPr>
          <a:xfrm>
            <a:off x="548640" y="1783080"/>
            <a:ext cx="621792" cy="621792"/>
          </a:xfrm>
          <a:prstGeom prst="ellipse">
            <a:avLst/>
          </a:prstGeom>
          <a:solidFill>
            <a:srgbClr val="E8912D"/>
          </a:solidFill>
          <a:ln/>
          <a:effectLst>
            <a:outerShdw sx="100000" sy="100000" kx="0" ky="0" algn="bl" rotWithShape="0" blurRad="88900" dist="25400" dir="5400000">
              <a:srgbClr val="0B0E24">
                <a:alpha val="22000"/>
              </a:srgbClr>
            </a:outerShdw>
          </a:effectLst>
        </p:spPr>
      </p:sp>
      <p:pic>
        <p:nvPicPr>
          <p:cNvPr id="5" name="Image 0" descr="preencoded.png">    </p:cNvPr>
          <p:cNvPicPr>
            <a:picLocks noChangeAspect="1"/>
          </p:cNvPicPr>
          <p:nvPr/>
        </p:nvPicPr>
        <p:blipFill>
          <a:blip r:embed="rId1"/>
          <a:stretch>
            <a:fillRect/>
          </a:stretch>
        </p:blipFill>
        <p:spPr>
          <a:xfrm>
            <a:off x="697870" y="1932310"/>
            <a:ext cx="323332" cy="323332"/>
          </a:xfrm>
          <a:prstGeom prst="rect">
            <a:avLst/>
          </a:prstGeom>
        </p:spPr>
      </p:pic>
      <p:sp>
        <p:nvSpPr>
          <p:cNvPr id="6" name="Text 3"/>
          <p:cNvSpPr/>
          <p:nvPr/>
        </p:nvSpPr>
        <p:spPr>
          <a:xfrm>
            <a:off x="1298448" y="176479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Centroids as a lookup</a:t>
            </a:r>
            <a:endParaRPr lang="en-US" sz="1450" dirty="0"/>
          </a:p>
        </p:txBody>
      </p:sp>
      <p:sp>
        <p:nvSpPr>
          <p:cNvPr id="7" name="Text 4"/>
          <p:cNvSpPr/>
          <p:nvPr/>
        </p:nvSpPr>
        <p:spPr>
          <a:xfrm>
            <a:off x="1298448" y="204825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A handful of rows — cheap to join against.</a:t>
            </a:r>
            <a:endParaRPr lang="en-US" sz="1200" dirty="0"/>
          </a:p>
        </p:txBody>
      </p:sp>
      <p:sp>
        <p:nvSpPr>
          <p:cNvPr id="8" name="Shape 5"/>
          <p:cNvSpPr/>
          <p:nvPr/>
        </p:nvSpPr>
        <p:spPr>
          <a:xfrm>
            <a:off x="548640" y="2788920"/>
            <a:ext cx="621792" cy="621792"/>
          </a:xfrm>
          <a:prstGeom prst="ellipse">
            <a:avLst/>
          </a:prstGeom>
          <a:solidFill>
            <a:srgbClr val="E8912D"/>
          </a:solidFill>
          <a:ln/>
          <a:effectLst>
            <a:outerShdw sx="100000" sy="100000" kx="0" ky="0" algn="bl" rotWithShape="0" blurRad="88900" dist="25400" dir="5400000">
              <a:srgbClr val="0B0E24">
                <a:alpha val="22000"/>
              </a:srgbClr>
            </a:outerShdw>
          </a:effectLst>
        </p:spPr>
      </p:sp>
      <p:pic>
        <p:nvPicPr>
          <p:cNvPr id="9" name="Image 1" descr="preencoded.png">    </p:cNvPr>
          <p:cNvPicPr>
            <a:picLocks noChangeAspect="1"/>
          </p:cNvPicPr>
          <p:nvPr/>
        </p:nvPicPr>
        <p:blipFill>
          <a:blip r:embed="rId2"/>
          <a:stretch>
            <a:fillRect/>
          </a:stretch>
        </p:blipFill>
        <p:spPr>
          <a:xfrm>
            <a:off x="697870" y="2938150"/>
            <a:ext cx="323332" cy="323332"/>
          </a:xfrm>
          <a:prstGeom prst="rect">
            <a:avLst/>
          </a:prstGeom>
        </p:spPr>
      </p:pic>
      <p:sp>
        <p:nvSpPr>
          <p:cNvPr id="10" name="Text 6"/>
          <p:cNvSpPr/>
          <p:nvPr/>
        </p:nvSpPr>
        <p:spPr>
          <a:xfrm>
            <a:off x="1298448" y="277063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CROSS JOIN + window</a:t>
            </a:r>
            <a:endParaRPr lang="en-US" sz="1450" dirty="0"/>
          </a:p>
        </p:txBody>
      </p:sp>
      <p:sp>
        <p:nvSpPr>
          <p:cNvPr id="11" name="Text 7"/>
          <p:cNvSpPr/>
          <p:nvPr/>
        </p:nvSpPr>
        <p:spPr>
          <a:xfrm>
            <a:off x="1298448" y="305409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Every row compared to every centroid, ranked.</a:t>
            </a:r>
            <a:endParaRPr lang="en-US" sz="1200" dirty="0"/>
          </a:p>
        </p:txBody>
      </p:sp>
      <p:sp>
        <p:nvSpPr>
          <p:cNvPr id="12" name="Shape 8"/>
          <p:cNvSpPr/>
          <p:nvPr/>
        </p:nvSpPr>
        <p:spPr>
          <a:xfrm>
            <a:off x="548640" y="3794760"/>
            <a:ext cx="621792" cy="621792"/>
          </a:xfrm>
          <a:prstGeom prst="ellipse">
            <a:avLst/>
          </a:prstGeom>
          <a:solidFill>
            <a:srgbClr val="E8912D"/>
          </a:solidFill>
          <a:ln/>
          <a:effectLst>
            <a:outerShdw sx="100000" sy="100000" kx="0" ky="0" algn="bl" rotWithShape="0" blurRad="88900" dist="25400" dir="5400000">
              <a:srgbClr val="0B0E24">
                <a:alpha val="22000"/>
              </a:srgbClr>
            </a:outerShdw>
          </a:effectLst>
        </p:spPr>
      </p:sp>
      <p:pic>
        <p:nvPicPr>
          <p:cNvPr id="13" name="Image 2" descr="preencoded.png">    </p:cNvPr>
          <p:cNvPicPr>
            <a:picLocks noChangeAspect="1"/>
          </p:cNvPicPr>
          <p:nvPr/>
        </p:nvPicPr>
        <p:blipFill>
          <a:blip r:embed="rId3"/>
          <a:stretch>
            <a:fillRect/>
          </a:stretch>
        </p:blipFill>
        <p:spPr>
          <a:xfrm>
            <a:off x="697870" y="3943990"/>
            <a:ext cx="323332" cy="323332"/>
          </a:xfrm>
          <a:prstGeom prst="rect">
            <a:avLst/>
          </a:prstGeom>
        </p:spPr>
      </p:pic>
      <p:sp>
        <p:nvSpPr>
          <p:cNvPr id="14" name="Text 9"/>
          <p:cNvSpPr/>
          <p:nvPr/>
        </p:nvSpPr>
        <p:spPr>
          <a:xfrm>
            <a:off x="1298448" y="3776472"/>
            <a:ext cx="4462272" cy="292608"/>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ROW_NUMBER() = 1</a:t>
            </a:r>
            <a:endParaRPr lang="en-US" sz="1450" dirty="0"/>
          </a:p>
        </p:txBody>
      </p:sp>
      <p:sp>
        <p:nvSpPr>
          <p:cNvPr id="15" name="Text 10"/>
          <p:cNvSpPr/>
          <p:nvPr/>
        </p:nvSpPr>
        <p:spPr>
          <a:xfrm>
            <a:off x="1298448" y="4059936"/>
            <a:ext cx="4462272" cy="384048"/>
          </a:xfrm>
          <a:prstGeom prst="rect">
            <a:avLst/>
          </a:prstGeom>
          <a:noFill/>
          <a:ln/>
        </p:spPr>
        <p:txBody>
          <a:bodyPr wrap="square" rtlCol="0" anchor="t"/>
          <a:lstStyle/>
          <a:p>
            <a:pPr indent="0" marL="0">
              <a:buNone/>
            </a:pPr>
            <a:r>
              <a:rPr lang="en-US" sz="1200" dirty="0">
                <a:solidFill>
                  <a:srgbClr val="5B6480"/>
                </a:solidFill>
                <a:latin typeface="Calibri" pitchFamily="34" charset="0"/>
                <a:ea typeface="Calibri" pitchFamily="34" charset="-122"/>
                <a:cs typeface="Calibri" pitchFamily="34" charset="-120"/>
              </a:rPr>
              <a:t>Nearest centroid, and its distance, in one pass.</a:t>
            </a:r>
            <a:endParaRPr lang="en-US" sz="1200" dirty="0"/>
          </a:p>
        </p:txBody>
      </p:sp>
      <p:sp>
        <p:nvSpPr>
          <p:cNvPr id="16" name="Shape 11"/>
          <p:cNvSpPr/>
          <p:nvPr/>
        </p:nvSpPr>
        <p:spPr>
          <a:xfrm>
            <a:off x="548640" y="4892040"/>
            <a:ext cx="5440680" cy="1234440"/>
          </a:xfrm>
          <a:prstGeom prst="roundRect">
            <a:avLst>
              <a:gd name="adj" fmla="val 6667"/>
            </a:avLst>
          </a:prstGeom>
          <a:solidFill>
            <a:srgbClr val="EEF3FC"/>
          </a:solidFill>
          <a:ln/>
          <a:effectLst>
            <a:outerShdw sx="100000" sy="100000" kx="0" ky="0" algn="bl" rotWithShape="0" blurRad="88900" dist="25400" dir="5400000">
              <a:srgbClr val="0B0E24">
                <a:alpha val="22000"/>
              </a:srgbClr>
            </a:outerShdw>
          </a:effectLst>
        </p:spPr>
      </p:sp>
      <p:sp>
        <p:nvSpPr>
          <p:cNvPr id="17" name="Text 12"/>
          <p:cNvSpPr/>
          <p:nvPr/>
        </p:nvSpPr>
        <p:spPr>
          <a:xfrm>
            <a:off x="777240" y="5029200"/>
            <a:ext cx="5029200" cy="960120"/>
          </a:xfrm>
          <a:prstGeom prst="rect">
            <a:avLst/>
          </a:prstGeom>
          <a:noFill/>
          <a:ln/>
        </p:spPr>
        <p:txBody>
          <a:bodyPr wrap="square" rtlCol="0" anchor="t"/>
          <a:lstStyle/>
          <a:p>
            <a:pPr indent="0" marL="0">
              <a:lnSpc>
                <a:spcPct val="120000"/>
              </a:lnSpc>
              <a:buNone/>
            </a:pPr>
            <a:r>
              <a:rPr lang="en-US" sz="1200" b="1" dirty="0">
                <a:solidFill>
                  <a:srgbClr val="1E2761"/>
                </a:solidFill>
                <a:latin typeface="Calibri" pitchFamily="34" charset="0"/>
                <a:ea typeface="Calibri" pitchFamily="34" charset="-122"/>
                <a:cs typeface="Calibri" pitchFamily="34" charset="-120"/>
              </a:rPr>
              <a:t>Why this matters:  </a:t>
            </a:r>
            <a:pPr indent="0" marL="0">
              <a:lnSpc>
                <a:spcPct val="120000"/>
              </a:lnSpc>
              <a:buNone/>
            </a:pPr>
            <a:r>
              <a:rPr lang="en-US" sz="1200" dirty="0">
                <a:solidFill>
                  <a:srgbClr val="232946"/>
                </a:solidFill>
                <a:latin typeface="Calibri" pitchFamily="34" charset="0"/>
                <a:ea typeface="Calibri" pitchFamily="34" charset="-122"/>
                <a:cs typeface="Calibri" pitchFamily="34" charset="-120"/>
              </a:rPr>
              <a:t>WCSS for millions of rows becomes one grouped SUM() over this same result set.</a:t>
            </a:r>
            <a:endParaRPr lang="en-US" sz="1200" dirty="0"/>
          </a:p>
        </p:txBody>
      </p:sp>
      <p:sp>
        <p:nvSpPr>
          <p:cNvPr id="18" name="Shape 13"/>
          <p:cNvSpPr/>
          <p:nvPr/>
        </p:nvSpPr>
        <p:spPr>
          <a:xfrm>
            <a:off x="6263640" y="1828800"/>
            <a:ext cx="5349240" cy="4663440"/>
          </a:xfrm>
          <a:prstGeom prst="roundRect">
            <a:avLst>
              <a:gd name="adj" fmla="val 1765"/>
            </a:avLst>
          </a:prstGeom>
          <a:solidFill>
            <a:srgbClr val="11162E"/>
          </a:solidFill>
          <a:ln/>
          <a:effectLst>
            <a:outerShdw sx="100000" sy="100000" kx="0" ky="0" algn="bl" rotWithShape="0" blurRad="88900" dist="25400" dir="5400000">
              <a:srgbClr val="0B0E24">
                <a:alpha val="22000"/>
              </a:srgbClr>
            </a:outerShdw>
          </a:effectLst>
        </p:spPr>
      </p:sp>
      <p:sp>
        <p:nvSpPr>
          <p:cNvPr id="19" name="Shape 14"/>
          <p:cNvSpPr/>
          <p:nvPr/>
        </p:nvSpPr>
        <p:spPr>
          <a:xfrm>
            <a:off x="6537960" y="1655064"/>
            <a:ext cx="868680" cy="347472"/>
          </a:xfrm>
          <a:prstGeom prst="roundRect">
            <a:avLst>
              <a:gd name="adj" fmla="val 50000"/>
            </a:avLst>
          </a:prstGeom>
          <a:solidFill>
            <a:srgbClr val="E8912D"/>
          </a:solidFill>
          <a:ln/>
        </p:spPr>
      </p:sp>
      <p:sp>
        <p:nvSpPr>
          <p:cNvPr id="20" name="Text 15"/>
          <p:cNvSpPr/>
          <p:nvPr/>
        </p:nvSpPr>
        <p:spPr>
          <a:xfrm>
            <a:off x="6537960" y="1655064"/>
            <a:ext cx="868680" cy="34747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SQL</a:t>
            </a:r>
            <a:endParaRPr lang="en-US" sz="1250" dirty="0"/>
          </a:p>
        </p:txBody>
      </p:sp>
      <p:sp>
        <p:nvSpPr>
          <p:cNvPr id="21" name="Text 16"/>
          <p:cNvSpPr/>
          <p:nvPr/>
        </p:nvSpPr>
        <p:spPr>
          <a:xfrm>
            <a:off x="6583680" y="2148840"/>
            <a:ext cx="4709160" cy="4160520"/>
          </a:xfrm>
          <a:prstGeom prst="rect">
            <a:avLst/>
          </a:prstGeom>
          <a:noFill/>
          <a:ln/>
        </p:spPr>
        <p:txBody>
          <a:bodyPr wrap="square" rtlCol="0" anchor="t"/>
          <a:lstStyle/>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WITH distances AS (</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SELECT</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r.restaurant_id, c.cluster_id,</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SQRT(</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POWER(r.cost_scaled</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 c.cost_centroid, 2) +</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POWER(r.rating_scaled</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 c.rating_centroid, 2)</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 AS dist,</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ROW_NUMBER() OVER (</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PARTITION BY r.restaurant_id</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ORDER BY dist</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 AS rn</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FROM restaurants r</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CROSS JOIN centroids c</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SELECT restaurant_id, cluster_id,</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       dist AS wcss_contribution</a:t>
            </a:r>
            <a:endParaRPr lang="en-US" sz="1200" dirty="0"/>
          </a:p>
          <a:p>
            <a:pPr indent="0" marL="0">
              <a:lnSpc>
                <a:spcPct val="122000"/>
              </a:lnSpc>
              <a:buNone/>
            </a:pPr>
            <a:r>
              <a:rPr lang="en-US" sz="1200" dirty="0">
                <a:solidFill>
                  <a:srgbClr val="E8ECF7"/>
                </a:solidFill>
                <a:latin typeface="Courier New" pitchFamily="34" charset="0"/>
                <a:ea typeface="Courier New" pitchFamily="34" charset="-122"/>
                <a:cs typeface="Courier New" pitchFamily="34" charset="-120"/>
              </a:rPr>
              <a:t>FROM distances WHERE rn = 1;</a:t>
            </a:r>
            <a:endParaRPr lang="en-US" sz="1200" dirty="0"/>
          </a:p>
        </p:txBody>
      </p:sp>
      <p:sp>
        <p:nvSpPr>
          <p:cNvPr id="22" name="Text 17"/>
          <p:cNvSpPr/>
          <p:nvPr/>
        </p:nvSpPr>
        <p:spPr>
          <a:xfrm>
            <a:off x="548640" y="6528816"/>
            <a:ext cx="7315200" cy="256032"/>
          </a:xfrm>
          <a:prstGeom prst="rect">
            <a:avLst/>
          </a:prstGeom>
          <a:noFill/>
          <a:ln/>
        </p:spPr>
        <p:txBody>
          <a:bodyPr wrap="square" rtlCol="0" anchor="ctr"/>
          <a:lstStyle/>
          <a:p>
            <a:pPr indent="0" marL="0">
              <a:buNone/>
            </a:pPr>
            <a:r>
              <a:rPr lang="en-US" sz="900" dirty="0">
                <a:solidFill>
                  <a:srgbClr val="9AA3BF"/>
                </a:solidFill>
                <a:latin typeface="Calibri" pitchFamily="34" charset="0"/>
                <a:ea typeface="Calibri" pitchFamily="34" charset="-122"/>
                <a:cs typeface="Calibri" pitchFamily="34" charset="-120"/>
              </a:rPr>
              <a:t>BDA POP — Hybrid Model Validation (R + SQL)</a:t>
            </a:r>
            <a:endParaRPr lang="en-US" sz="900" dirty="0"/>
          </a:p>
        </p:txBody>
      </p:sp>
      <p:sp>
        <p:nvSpPr>
          <p:cNvPr id="23" name="Text 18"/>
          <p:cNvSpPr/>
          <p:nvPr/>
        </p:nvSpPr>
        <p:spPr>
          <a:xfrm>
            <a:off x="10972800" y="6528816"/>
            <a:ext cx="667512" cy="256032"/>
          </a:xfrm>
          <a:prstGeom prst="rect">
            <a:avLst/>
          </a:prstGeom>
          <a:noFill/>
          <a:ln/>
        </p:spPr>
        <p:txBody>
          <a:bodyPr wrap="square" rtlCol="0" anchor="ctr"/>
          <a:lstStyle/>
          <a:p>
            <a:pPr algn="r" indent="0" marL="0">
              <a:buNone/>
            </a:pPr>
            <a:r>
              <a:rPr lang="en-US" sz="900" dirty="0">
                <a:solidFill>
                  <a:srgbClr val="9AA3BF"/>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74320"/>
          </a:xfrm>
          <a:prstGeom prst="rect">
            <a:avLst/>
          </a:prstGeom>
          <a:noFill/>
          <a:ln/>
        </p:spPr>
        <p:txBody>
          <a:bodyPr wrap="square" rtlCol="0" anchor="ctr"/>
          <a:lstStyle/>
          <a:p>
            <a:pPr indent="0" marL="0">
              <a:buNone/>
            </a:pPr>
            <a:r>
              <a:rPr lang="en-US" sz="1200" b="1" spc="200" kern="0" dirty="0">
                <a:solidFill>
                  <a:srgbClr val="E8912D"/>
                </a:solidFill>
                <a:latin typeface="Calibri" pitchFamily="34" charset="0"/>
                <a:ea typeface="Calibri" pitchFamily="34" charset="-122"/>
                <a:cs typeface="Calibri" pitchFamily="34" charset="-120"/>
              </a:rPr>
              <a:t>ARCHITECTURE GUARDRAILS</a:t>
            </a:r>
            <a:endParaRPr lang="en-US" sz="1200" dirty="0"/>
          </a:p>
        </p:txBody>
      </p:sp>
      <p:sp>
        <p:nvSpPr>
          <p:cNvPr id="3" name="Text 1"/>
          <p:cNvSpPr/>
          <p:nvPr/>
        </p:nvSpPr>
        <p:spPr>
          <a:xfrm>
            <a:off x="548640" y="603504"/>
            <a:ext cx="11064240" cy="658368"/>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Big Data Diagnostics Best Practices</a:t>
            </a:r>
            <a:endParaRPr lang="en-US" sz="3200" dirty="0"/>
          </a:p>
        </p:txBody>
      </p:sp>
      <p:sp>
        <p:nvSpPr>
          <p:cNvPr id="4" name="Shape 2"/>
          <p:cNvSpPr/>
          <p:nvPr/>
        </p:nvSpPr>
        <p:spPr>
          <a:xfrm>
            <a:off x="548640" y="1691640"/>
            <a:ext cx="5440680" cy="2057400"/>
          </a:xfrm>
          <a:prstGeom prst="roundRect">
            <a:avLst>
              <a:gd name="adj" fmla="val 4000"/>
            </a:avLst>
          </a:prstGeom>
          <a:solidFill>
            <a:srgbClr val="EEF3FC"/>
          </a:solidFill>
          <a:ln/>
          <a:effectLst>
            <a:outerShdw sx="100000" sy="100000" kx="0" ky="0" algn="bl" rotWithShape="0" blurRad="88900" dist="25400" dir="5400000">
              <a:srgbClr val="0B0E24">
                <a:alpha val="22000"/>
              </a:srgbClr>
            </a:outerShdw>
          </a:effectLst>
        </p:spPr>
      </p:sp>
      <p:sp>
        <p:nvSpPr>
          <p:cNvPr id="5" name="Shape 3"/>
          <p:cNvSpPr/>
          <p:nvPr/>
        </p:nvSpPr>
        <p:spPr>
          <a:xfrm>
            <a:off x="777240" y="1874520"/>
            <a:ext cx="731520" cy="731520"/>
          </a:xfrm>
          <a:prstGeom prst="ellipse">
            <a:avLst/>
          </a:prstGeom>
          <a:solidFill>
            <a:srgbClr val="1E2761"/>
          </a:solidFill>
          <a:ln/>
          <a:effectLst>
            <a:outerShdw sx="100000" sy="100000" kx="0" ky="0" algn="bl" rotWithShape="0" blurRad="88900" dist="25400" dir="5400000">
              <a:srgbClr val="0B0E24">
                <a:alpha val="22000"/>
              </a:srgbClr>
            </a:outerShdw>
          </a:effectLst>
        </p:spPr>
      </p:sp>
      <p:pic>
        <p:nvPicPr>
          <p:cNvPr id="6" name="Image 0" descr="preencoded.png">    </p:cNvPr>
          <p:cNvPicPr>
            <a:picLocks noChangeAspect="1"/>
          </p:cNvPicPr>
          <p:nvPr/>
        </p:nvPicPr>
        <p:blipFill>
          <a:blip r:embed="rId1"/>
          <a:stretch>
            <a:fillRect/>
          </a:stretch>
        </p:blipFill>
        <p:spPr>
          <a:xfrm>
            <a:off x="952805" y="2050085"/>
            <a:ext cx="380390" cy="380390"/>
          </a:xfrm>
          <a:prstGeom prst="rect">
            <a:avLst/>
          </a:prstGeom>
        </p:spPr>
      </p:pic>
      <p:sp>
        <p:nvSpPr>
          <p:cNvPr id="7" name="Text 4"/>
          <p:cNvSpPr/>
          <p:nvPr/>
        </p:nvSpPr>
        <p:spPr>
          <a:xfrm>
            <a:off x="1645920" y="1965960"/>
            <a:ext cx="416052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Threshold governance</a:t>
            </a:r>
            <a:endParaRPr lang="en-US" sz="1600" dirty="0"/>
          </a:p>
        </p:txBody>
      </p:sp>
      <p:sp>
        <p:nvSpPr>
          <p:cNvPr id="8" name="Text 5"/>
          <p:cNvSpPr/>
          <p:nvPr/>
        </p:nvSpPr>
        <p:spPr>
          <a:xfrm>
            <a:off x="914400" y="2743200"/>
            <a:ext cx="4709160" cy="822960"/>
          </a:xfrm>
          <a:prstGeom prst="rect">
            <a:avLst/>
          </a:prstGeom>
          <a:noFill/>
          <a:ln/>
        </p:spPr>
        <p:txBody>
          <a:bodyPr wrap="square" rtlCol="0" anchor="t"/>
          <a:lstStyle/>
          <a:p>
            <a:pPr indent="0" marL="0">
              <a:lnSpc>
                <a:spcPct val="115000"/>
              </a:lnSpc>
              <a:buNone/>
            </a:pPr>
            <a:r>
              <a:rPr lang="en-US" sz="1200" dirty="0">
                <a:solidFill>
                  <a:srgbClr val="232946"/>
                </a:solidFill>
                <a:latin typeface="Calibri" pitchFamily="34" charset="0"/>
                <a:ea typeface="Calibri" pitchFamily="34" charset="-122"/>
                <a:cs typeface="Calibri" pitchFamily="34" charset="-120"/>
              </a:rPr>
              <a:t>Set the bar before scoring — a metric with no threshold is an opinion.</a:t>
            </a:r>
            <a:endParaRPr lang="en-US" sz="1200" dirty="0"/>
          </a:p>
        </p:txBody>
      </p:sp>
      <p:sp>
        <p:nvSpPr>
          <p:cNvPr id="9" name="Shape 6"/>
          <p:cNvSpPr/>
          <p:nvPr/>
        </p:nvSpPr>
        <p:spPr>
          <a:xfrm>
            <a:off x="6263640" y="1691640"/>
            <a:ext cx="5440680" cy="2057400"/>
          </a:xfrm>
          <a:prstGeom prst="roundRect">
            <a:avLst>
              <a:gd name="adj" fmla="val 4000"/>
            </a:avLst>
          </a:prstGeom>
          <a:solidFill>
            <a:srgbClr val="EEF3FC"/>
          </a:solidFill>
          <a:ln/>
          <a:effectLst>
            <a:outerShdw sx="100000" sy="100000" kx="0" ky="0" algn="bl" rotWithShape="0" blurRad="88900" dist="25400" dir="5400000">
              <a:srgbClr val="0B0E24">
                <a:alpha val="22000"/>
              </a:srgbClr>
            </a:outerShdw>
          </a:effectLst>
        </p:spPr>
      </p:sp>
      <p:sp>
        <p:nvSpPr>
          <p:cNvPr id="10" name="Shape 7"/>
          <p:cNvSpPr/>
          <p:nvPr/>
        </p:nvSpPr>
        <p:spPr>
          <a:xfrm>
            <a:off x="6492240" y="1874520"/>
            <a:ext cx="731520" cy="731520"/>
          </a:xfrm>
          <a:prstGeom prst="ellipse">
            <a:avLst/>
          </a:prstGeom>
          <a:solidFill>
            <a:srgbClr val="C4472B"/>
          </a:solidFill>
          <a:ln/>
          <a:effectLst>
            <a:outerShdw sx="100000" sy="100000" kx="0" ky="0" algn="bl" rotWithShape="0" blurRad="88900" dist="25400" dir="5400000">
              <a:srgbClr val="0B0E24">
                <a:alpha val="22000"/>
              </a:srgbClr>
            </a:outerShdw>
          </a:effectLst>
        </p:spPr>
      </p:sp>
      <p:pic>
        <p:nvPicPr>
          <p:cNvPr id="11" name="Image 1" descr="preencoded.png">    </p:cNvPr>
          <p:cNvPicPr>
            <a:picLocks noChangeAspect="1"/>
          </p:cNvPicPr>
          <p:nvPr/>
        </p:nvPicPr>
        <p:blipFill>
          <a:blip r:embed="rId2"/>
          <a:stretch>
            <a:fillRect/>
          </a:stretch>
        </p:blipFill>
        <p:spPr>
          <a:xfrm>
            <a:off x="6667805" y="2050085"/>
            <a:ext cx="380390" cy="380390"/>
          </a:xfrm>
          <a:prstGeom prst="rect">
            <a:avLst/>
          </a:prstGeom>
        </p:spPr>
      </p:pic>
      <p:sp>
        <p:nvSpPr>
          <p:cNvPr id="12" name="Text 8"/>
          <p:cNvSpPr/>
          <p:nvPr/>
        </p:nvSpPr>
        <p:spPr>
          <a:xfrm>
            <a:off x="7360920" y="1965960"/>
            <a:ext cx="416052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Drift monitoring</a:t>
            </a:r>
            <a:endParaRPr lang="en-US" sz="1600" dirty="0"/>
          </a:p>
        </p:txBody>
      </p:sp>
      <p:sp>
        <p:nvSpPr>
          <p:cNvPr id="13" name="Text 9"/>
          <p:cNvSpPr/>
          <p:nvPr/>
        </p:nvSpPr>
        <p:spPr>
          <a:xfrm>
            <a:off x="6629400" y="2743200"/>
            <a:ext cx="4709160" cy="822960"/>
          </a:xfrm>
          <a:prstGeom prst="rect">
            <a:avLst/>
          </a:prstGeom>
          <a:noFill/>
          <a:ln/>
        </p:spPr>
        <p:txBody>
          <a:bodyPr wrap="square" rtlCol="0" anchor="t"/>
          <a:lstStyle/>
          <a:p>
            <a:pPr indent="0" marL="0">
              <a:lnSpc>
                <a:spcPct val="115000"/>
              </a:lnSpc>
              <a:buNone/>
            </a:pPr>
            <a:r>
              <a:rPr lang="en-US" sz="1200" dirty="0">
                <a:solidFill>
                  <a:srgbClr val="232946"/>
                </a:solidFill>
                <a:latin typeface="Calibri" pitchFamily="34" charset="0"/>
                <a:ea typeface="Calibri" pitchFamily="34" charset="-122"/>
                <a:cs typeface="Calibri" pitchFamily="34" charset="-120"/>
              </a:rPr>
              <a:t>Recompute R² and AUC on a rolling holdout, on a schedule.</a:t>
            </a:r>
            <a:endParaRPr lang="en-US" sz="1200" dirty="0"/>
          </a:p>
        </p:txBody>
      </p:sp>
      <p:sp>
        <p:nvSpPr>
          <p:cNvPr id="14" name="Shape 10"/>
          <p:cNvSpPr/>
          <p:nvPr/>
        </p:nvSpPr>
        <p:spPr>
          <a:xfrm>
            <a:off x="548640" y="3977640"/>
            <a:ext cx="5440680" cy="2057400"/>
          </a:xfrm>
          <a:prstGeom prst="roundRect">
            <a:avLst>
              <a:gd name="adj" fmla="val 4000"/>
            </a:avLst>
          </a:prstGeom>
          <a:solidFill>
            <a:srgbClr val="EEF3FC"/>
          </a:solidFill>
          <a:ln/>
          <a:effectLst>
            <a:outerShdw sx="100000" sy="100000" kx="0" ky="0" algn="bl" rotWithShape="0" blurRad="88900" dist="25400" dir="5400000">
              <a:srgbClr val="0B0E24">
                <a:alpha val="22000"/>
              </a:srgbClr>
            </a:outerShdw>
          </a:effectLst>
        </p:spPr>
      </p:sp>
      <p:sp>
        <p:nvSpPr>
          <p:cNvPr id="15" name="Shape 11"/>
          <p:cNvSpPr/>
          <p:nvPr/>
        </p:nvSpPr>
        <p:spPr>
          <a:xfrm>
            <a:off x="777240" y="4160520"/>
            <a:ext cx="731520" cy="731520"/>
          </a:xfrm>
          <a:prstGeom prst="ellipse">
            <a:avLst/>
          </a:prstGeom>
          <a:solidFill>
            <a:srgbClr val="E8912D"/>
          </a:solidFill>
          <a:ln/>
          <a:effectLst>
            <a:outerShdw sx="100000" sy="100000" kx="0" ky="0" algn="bl" rotWithShape="0" blurRad="88900" dist="25400" dir="5400000">
              <a:srgbClr val="0B0E24">
                <a:alpha val="22000"/>
              </a:srgbClr>
            </a:outerShdw>
          </a:effectLst>
        </p:spPr>
      </p:sp>
      <p:pic>
        <p:nvPicPr>
          <p:cNvPr id="16" name="Image 2" descr="preencoded.png">    </p:cNvPr>
          <p:cNvPicPr>
            <a:picLocks noChangeAspect="1"/>
          </p:cNvPicPr>
          <p:nvPr/>
        </p:nvPicPr>
        <p:blipFill>
          <a:blip r:embed="rId3"/>
          <a:stretch>
            <a:fillRect/>
          </a:stretch>
        </p:blipFill>
        <p:spPr>
          <a:xfrm>
            <a:off x="952805" y="4336085"/>
            <a:ext cx="380390" cy="380390"/>
          </a:xfrm>
          <a:prstGeom prst="rect">
            <a:avLst/>
          </a:prstGeom>
        </p:spPr>
      </p:pic>
      <p:sp>
        <p:nvSpPr>
          <p:cNvPr id="17" name="Text 12"/>
          <p:cNvSpPr/>
          <p:nvPr/>
        </p:nvSpPr>
        <p:spPr>
          <a:xfrm>
            <a:off x="1645920" y="4251960"/>
            <a:ext cx="416052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Compute placement</a:t>
            </a:r>
            <a:endParaRPr lang="en-US" sz="1600" dirty="0"/>
          </a:p>
        </p:txBody>
      </p:sp>
      <p:sp>
        <p:nvSpPr>
          <p:cNvPr id="18" name="Text 13"/>
          <p:cNvSpPr/>
          <p:nvPr/>
        </p:nvSpPr>
        <p:spPr>
          <a:xfrm>
            <a:off x="914400" y="5029200"/>
            <a:ext cx="4709160" cy="822960"/>
          </a:xfrm>
          <a:prstGeom prst="rect">
            <a:avLst/>
          </a:prstGeom>
          <a:noFill/>
          <a:ln/>
        </p:spPr>
        <p:txBody>
          <a:bodyPr wrap="square" rtlCol="0" anchor="t"/>
          <a:lstStyle/>
          <a:p>
            <a:pPr indent="0" marL="0">
              <a:lnSpc>
                <a:spcPct val="115000"/>
              </a:lnSpc>
              <a:buNone/>
            </a:pPr>
            <a:r>
              <a:rPr lang="en-US" sz="1200" dirty="0">
                <a:solidFill>
                  <a:srgbClr val="232946"/>
                </a:solidFill>
                <a:latin typeface="Calibri" pitchFamily="34" charset="0"/>
                <a:ea typeface="Calibri" pitchFamily="34" charset="-122"/>
                <a:cs typeface="Calibri" pitchFamily="34" charset="-120"/>
              </a:rPr>
              <a:t>Diagnose in R, score in SQL — move the model, not the data.</a:t>
            </a:r>
            <a:endParaRPr lang="en-US" sz="1200" dirty="0"/>
          </a:p>
        </p:txBody>
      </p:sp>
      <p:sp>
        <p:nvSpPr>
          <p:cNvPr id="19" name="Shape 14"/>
          <p:cNvSpPr/>
          <p:nvPr/>
        </p:nvSpPr>
        <p:spPr>
          <a:xfrm>
            <a:off x="6263640" y="3977640"/>
            <a:ext cx="5440680" cy="2057400"/>
          </a:xfrm>
          <a:prstGeom prst="roundRect">
            <a:avLst>
              <a:gd name="adj" fmla="val 4000"/>
            </a:avLst>
          </a:prstGeom>
          <a:solidFill>
            <a:srgbClr val="EEF3FC"/>
          </a:solidFill>
          <a:ln/>
          <a:effectLst>
            <a:outerShdw sx="100000" sy="100000" kx="0" ky="0" algn="bl" rotWithShape="0" blurRad="88900" dist="25400" dir="5400000">
              <a:srgbClr val="0B0E24">
                <a:alpha val="22000"/>
              </a:srgbClr>
            </a:outerShdw>
          </a:effectLst>
        </p:spPr>
      </p:sp>
      <p:sp>
        <p:nvSpPr>
          <p:cNvPr id="20" name="Shape 15"/>
          <p:cNvSpPr/>
          <p:nvPr/>
        </p:nvSpPr>
        <p:spPr>
          <a:xfrm>
            <a:off x="6492240" y="4160520"/>
            <a:ext cx="731520" cy="731520"/>
          </a:xfrm>
          <a:prstGeom prst="ellipse">
            <a:avLst/>
          </a:prstGeom>
          <a:solidFill>
            <a:srgbClr val="1E8F6B"/>
          </a:solidFill>
          <a:ln/>
          <a:effectLst>
            <a:outerShdw sx="100000" sy="100000" kx="0" ky="0" algn="bl" rotWithShape="0" blurRad="88900" dist="25400" dir="5400000">
              <a:srgbClr val="0B0E24">
                <a:alpha val="22000"/>
              </a:srgbClr>
            </a:outerShdw>
          </a:effectLst>
        </p:spPr>
      </p:sp>
      <p:pic>
        <p:nvPicPr>
          <p:cNvPr id="21" name="Image 3" descr="preencoded.png">    </p:cNvPr>
          <p:cNvPicPr>
            <a:picLocks noChangeAspect="1"/>
          </p:cNvPicPr>
          <p:nvPr/>
        </p:nvPicPr>
        <p:blipFill>
          <a:blip r:embed="rId4"/>
          <a:stretch>
            <a:fillRect/>
          </a:stretch>
        </p:blipFill>
        <p:spPr>
          <a:xfrm>
            <a:off x="6667805" y="4336085"/>
            <a:ext cx="380390" cy="380390"/>
          </a:xfrm>
          <a:prstGeom prst="rect">
            <a:avLst/>
          </a:prstGeom>
        </p:spPr>
      </p:pic>
      <p:sp>
        <p:nvSpPr>
          <p:cNvPr id="22" name="Text 16"/>
          <p:cNvSpPr/>
          <p:nvPr/>
        </p:nvSpPr>
        <p:spPr>
          <a:xfrm>
            <a:off x="7360920" y="4251960"/>
            <a:ext cx="416052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Reproducibility</a:t>
            </a:r>
            <a:endParaRPr lang="en-US" sz="1600" dirty="0"/>
          </a:p>
        </p:txBody>
      </p:sp>
      <p:sp>
        <p:nvSpPr>
          <p:cNvPr id="23" name="Text 17"/>
          <p:cNvSpPr/>
          <p:nvPr/>
        </p:nvSpPr>
        <p:spPr>
          <a:xfrm>
            <a:off x="6629400" y="5029200"/>
            <a:ext cx="4709160" cy="822960"/>
          </a:xfrm>
          <a:prstGeom prst="rect">
            <a:avLst/>
          </a:prstGeom>
          <a:noFill/>
          <a:ln/>
        </p:spPr>
        <p:txBody>
          <a:bodyPr wrap="square" rtlCol="0" anchor="t"/>
          <a:lstStyle/>
          <a:p>
            <a:pPr indent="0" marL="0">
              <a:lnSpc>
                <a:spcPct val="115000"/>
              </a:lnSpc>
              <a:buNone/>
            </a:pPr>
            <a:r>
              <a:rPr lang="en-US" sz="1200" dirty="0">
                <a:solidFill>
                  <a:srgbClr val="232946"/>
                </a:solidFill>
                <a:latin typeface="Calibri" pitchFamily="34" charset="0"/>
                <a:ea typeface="Calibri" pitchFamily="34" charset="-122"/>
                <a:cs typeface="Calibri" pitchFamily="34" charset="-120"/>
              </a:rPr>
              <a:t>Version coefficients and thresholds together, same as code.</a:t>
            </a:r>
            <a:endParaRPr lang="en-US" sz="1200" dirty="0"/>
          </a:p>
        </p:txBody>
      </p:sp>
      <p:sp>
        <p:nvSpPr>
          <p:cNvPr id="24" name="Text 18"/>
          <p:cNvSpPr/>
          <p:nvPr/>
        </p:nvSpPr>
        <p:spPr>
          <a:xfrm>
            <a:off x="548640" y="6528816"/>
            <a:ext cx="7315200" cy="256032"/>
          </a:xfrm>
          <a:prstGeom prst="rect">
            <a:avLst/>
          </a:prstGeom>
          <a:noFill/>
          <a:ln/>
        </p:spPr>
        <p:txBody>
          <a:bodyPr wrap="square" rtlCol="0" anchor="ctr"/>
          <a:lstStyle/>
          <a:p>
            <a:pPr indent="0" marL="0">
              <a:buNone/>
            </a:pPr>
            <a:r>
              <a:rPr lang="en-US" sz="900" dirty="0">
                <a:solidFill>
                  <a:srgbClr val="9AA3BF"/>
                </a:solidFill>
                <a:latin typeface="Calibri" pitchFamily="34" charset="0"/>
                <a:ea typeface="Calibri" pitchFamily="34" charset="-122"/>
                <a:cs typeface="Calibri" pitchFamily="34" charset="-120"/>
              </a:rPr>
              <a:t>BDA POP — Hybrid Model Validation (R + SQL)</a:t>
            </a:r>
            <a:endParaRPr lang="en-US" sz="900" dirty="0"/>
          </a:p>
        </p:txBody>
      </p:sp>
      <p:sp>
        <p:nvSpPr>
          <p:cNvPr id="25" name="Text 19"/>
          <p:cNvSpPr/>
          <p:nvPr/>
        </p:nvSpPr>
        <p:spPr>
          <a:xfrm>
            <a:off x="10972800" y="6528816"/>
            <a:ext cx="667512" cy="256032"/>
          </a:xfrm>
          <a:prstGeom prst="rect">
            <a:avLst/>
          </a:prstGeom>
          <a:noFill/>
          <a:ln/>
        </p:spPr>
        <p:txBody>
          <a:bodyPr wrap="square" rtlCol="0" anchor="ctr"/>
          <a:lstStyle/>
          <a:p>
            <a:pPr algn="r" indent="0" marL="0">
              <a:buNone/>
            </a:pPr>
            <a:r>
              <a:rPr lang="en-US" sz="900" dirty="0">
                <a:solidFill>
                  <a:srgbClr val="9AA3BF"/>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24"/>
        </a:solidFill>
      </p:bgPr>
    </p:bg>
    <p:spTree>
      <p:nvGrpSpPr>
        <p:cNvPr id="1" name=""/>
        <p:cNvGrpSpPr/>
        <p:nvPr/>
      </p:nvGrpSpPr>
      <p:grpSpPr>
        <a:xfrm>
          <a:off x="0" y="0"/>
          <a:ext cx="0" cy="0"/>
          <a:chOff x="0" y="0"/>
          <a:chExt cx="0" cy="0"/>
        </a:xfrm>
      </p:grpSpPr>
      <p:sp>
        <p:nvSpPr>
          <p:cNvPr id="2" name="Text 0"/>
          <p:cNvSpPr/>
          <p:nvPr/>
        </p:nvSpPr>
        <p:spPr>
          <a:xfrm>
            <a:off x="822960" y="640080"/>
            <a:ext cx="7315200" cy="320040"/>
          </a:xfrm>
          <a:prstGeom prst="rect">
            <a:avLst/>
          </a:prstGeom>
          <a:noFill/>
          <a:ln/>
        </p:spPr>
        <p:txBody>
          <a:bodyPr wrap="square" rtlCol="0" anchor="ctr"/>
          <a:lstStyle/>
          <a:p>
            <a:pPr indent="0" marL="0">
              <a:buNone/>
            </a:pPr>
            <a:r>
              <a:rPr lang="en-US" sz="1200" b="1" spc="200" kern="0" dirty="0">
                <a:solidFill>
                  <a:srgbClr val="E8912D"/>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822960" y="914400"/>
            <a:ext cx="9144000" cy="77724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Next Steps</a:t>
            </a:r>
            <a:endParaRPr lang="en-US" sz="3800" dirty="0"/>
          </a:p>
        </p:txBody>
      </p:sp>
      <p:sp>
        <p:nvSpPr>
          <p:cNvPr id="4" name="Shape 2"/>
          <p:cNvSpPr/>
          <p:nvPr/>
        </p:nvSpPr>
        <p:spPr>
          <a:xfrm>
            <a:off x="822960" y="2148840"/>
            <a:ext cx="457200" cy="457200"/>
          </a:xfrm>
          <a:prstGeom prst="ellipse">
            <a:avLst/>
          </a:prstGeom>
          <a:solidFill>
            <a:srgbClr val="2C7FB0"/>
          </a:solidFill>
          <a:ln/>
        </p:spPr>
      </p:sp>
      <p:sp>
        <p:nvSpPr>
          <p:cNvPr id="5" name="Text 3"/>
          <p:cNvSpPr/>
          <p:nvPr/>
        </p:nvSpPr>
        <p:spPr>
          <a:xfrm>
            <a:off x="822960" y="21488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508760" y="2167128"/>
            <a:ext cx="8686800" cy="45720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Adopt fit → score → evaluate for every model, every time</a:t>
            </a:r>
            <a:endParaRPr lang="en-US" sz="1650" dirty="0"/>
          </a:p>
        </p:txBody>
      </p:sp>
      <p:sp>
        <p:nvSpPr>
          <p:cNvPr id="7" name="Shape 5"/>
          <p:cNvSpPr/>
          <p:nvPr/>
        </p:nvSpPr>
        <p:spPr>
          <a:xfrm>
            <a:off x="822960" y="2926080"/>
            <a:ext cx="457200" cy="457200"/>
          </a:xfrm>
          <a:prstGeom prst="ellipse">
            <a:avLst/>
          </a:prstGeom>
          <a:solidFill>
            <a:srgbClr val="E8912D"/>
          </a:solidFill>
          <a:ln/>
        </p:spPr>
      </p:sp>
      <p:sp>
        <p:nvSpPr>
          <p:cNvPr id="8" name="Text 6"/>
          <p:cNvSpPr/>
          <p:nvPr/>
        </p:nvSpPr>
        <p:spPr>
          <a:xfrm>
            <a:off x="822960" y="29260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508760" y="2944368"/>
            <a:ext cx="8686800" cy="45720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Prototype diagnostics in R, then push scoring into SQL</a:t>
            </a:r>
            <a:endParaRPr lang="en-US" sz="1650" dirty="0"/>
          </a:p>
        </p:txBody>
      </p:sp>
      <p:sp>
        <p:nvSpPr>
          <p:cNvPr id="10" name="Shape 8"/>
          <p:cNvSpPr/>
          <p:nvPr/>
        </p:nvSpPr>
        <p:spPr>
          <a:xfrm>
            <a:off x="822960" y="3703320"/>
            <a:ext cx="457200" cy="457200"/>
          </a:xfrm>
          <a:prstGeom prst="ellipse">
            <a:avLst/>
          </a:prstGeom>
          <a:solidFill>
            <a:srgbClr val="2C7FB0"/>
          </a:solidFill>
          <a:ln/>
        </p:spPr>
      </p:sp>
      <p:sp>
        <p:nvSpPr>
          <p:cNvPr id="11" name="Text 9"/>
          <p:cNvSpPr/>
          <p:nvPr/>
        </p:nvSpPr>
        <p:spPr>
          <a:xfrm>
            <a:off x="822960" y="3703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508760" y="3721608"/>
            <a:ext cx="8686800" cy="45720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Re-run every metric on a live holdout, not once at launch</a:t>
            </a:r>
            <a:endParaRPr lang="en-US" sz="1650" dirty="0"/>
          </a:p>
        </p:txBody>
      </p:sp>
      <p:sp>
        <p:nvSpPr>
          <p:cNvPr id="13" name="Text 11"/>
          <p:cNvSpPr/>
          <p:nvPr/>
        </p:nvSpPr>
        <p:spPr>
          <a:xfrm>
            <a:off x="822960" y="5120640"/>
            <a:ext cx="7315200" cy="822960"/>
          </a:xfrm>
          <a:prstGeom prst="rect">
            <a:avLst/>
          </a:prstGeom>
          <a:noFill/>
          <a:ln/>
        </p:spPr>
        <p:txBody>
          <a:bodyPr wrap="square"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Questions?</a:t>
            </a:r>
            <a:endParaRPr lang="en-US" sz="3400" dirty="0"/>
          </a:p>
        </p:txBody>
      </p:sp>
      <p:sp>
        <p:nvSpPr>
          <p:cNvPr id="14" name="Shape 12"/>
          <p:cNvSpPr/>
          <p:nvPr/>
        </p:nvSpPr>
        <p:spPr>
          <a:xfrm>
            <a:off x="10538460" y="5234940"/>
            <a:ext cx="868680" cy="868680"/>
          </a:xfrm>
          <a:prstGeom prst="ellipse">
            <a:avLst/>
          </a:prstGeom>
          <a:solidFill>
            <a:srgbClr val="1E8F6B"/>
          </a:solidFill>
          <a:ln/>
          <a:effectLst>
            <a:outerShdw sx="100000" sy="100000" kx="0" ky="0" algn="bl" rotWithShape="0" blurRad="88900" dist="25400" dir="5400000">
              <a:srgbClr val="0B0E24">
                <a:alpha val="22000"/>
              </a:srgbClr>
            </a:outerShdw>
          </a:effectLst>
        </p:spPr>
      </p:sp>
      <p:pic>
        <p:nvPicPr>
          <p:cNvPr id="15" name="Image 0" descr="preencoded.png">    </p:cNvPr>
          <p:cNvPicPr>
            <a:picLocks noChangeAspect="1"/>
          </p:cNvPicPr>
          <p:nvPr/>
        </p:nvPicPr>
        <p:blipFill>
          <a:blip r:embed="rId1"/>
          <a:stretch>
            <a:fillRect/>
          </a:stretch>
        </p:blipFill>
        <p:spPr>
          <a:xfrm>
            <a:off x="10746943" y="5443423"/>
            <a:ext cx="451714" cy="451714"/>
          </a:xfrm>
          <a:prstGeom prst="rect">
            <a:avLst/>
          </a:prstGeom>
        </p:spPr>
      </p:pic>
      <p:sp>
        <p:nvSpPr>
          <p:cNvPr id="16" name="Text 13"/>
          <p:cNvSpPr/>
          <p:nvPr/>
        </p:nvSpPr>
        <p:spPr>
          <a:xfrm>
            <a:off x="548640" y="6528816"/>
            <a:ext cx="7315200" cy="256032"/>
          </a:xfrm>
          <a:prstGeom prst="rect">
            <a:avLst/>
          </a:prstGeom>
          <a:noFill/>
          <a:ln/>
        </p:spPr>
        <p:txBody>
          <a:bodyPr wrap="square" rtlCol="0" anchor="ctr"/>
          <a:lstStyle/>
          <a:p>
            <a:pPr indent="0" marL="0">
              <a:buNone/>
            </a:pPr>
            <a:r>
              <a:rPr lang="en-US" sz="900" dirty="0">
                <a:solidFill>
                  <a:srgbClr val="6B75A0"/>
                </a:solidFill>
                <a:latin typeface="Calibri" pitchFamily="34" charset="0"/>
                <a:ea typeface="Calibri" pitchFamily="34" charset="-122"/>
                <a:cs typeface="Calibri" pitchFamily="34" charset="-120"/>
              </a:rPr>
              <a:t>BDA POP — Hybrid Model Validation (R + SQL)</a:t>
            </a:r>
            <a:endParaRPr lang="en-US" sz="900" dirty="0"/>
          </a:p>
        </p:txBody>
      </p:sp>
      <p:sp>
        <p:nvSpPr>
          <p:cNvPr id="17" name="Text 14"/>
          <p:cNvSpPr/>
          <p:nvPr/>
        </p:nvSpPr>
        <p:spPr>
          <a:xfrm>
            <a:off x="10972800" y="6528816"/>
            <a:ext cx="667512" cy="256032"/>
          </a:xfrm>
          <a:prstGeom prst="rect">
            <a:avLst/>
          </a:prstGeom>
          <a:noFill/>
          <a:ln/>
        </p:spPr>
        <p:txBody>
          <a:bodyPr wrap="square" rtlCol="0" anchor="ctr"/>
          <a:lstStyle/>
          <a:p>
            <a:pPr algn="r" indent="0" marL="0">
              <a:buNone/>
            </a:pPr>
            <a:r>
              <a:rPr lang="en-US" sz="900" dirty="0">
                <a:solidFill>
                  <a:srgbClr val="6B75A0"/>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BDA POP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Validating Big Data Models at Scale</dc:title>
  <dc:subject>PptxGenJS Presentation</dc:subject>
  <dc:creator>BDA Program of Practice</dc:creator>
  <cp:lastModifiedBy>BDA Program of Practice</cp:lastModifiedBy>
  <cp:revision>1</cp:revision>
  <dcterms:created xsi:type="dcterms:W3CDTF">2026-09-02T00:22:57Z</dcterms:created>
  <dcterms:modified xsi:type="dcterms:W3CDTF">2026-09-02T00:22:57Z</dcterms:modified>
</cp:coreProperties>
</file>