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ra Light"/>
      <p:regular r:id="rId201314"/>
    </p:embeddedFont>
    <p:embeddedFont>
      <p:font typeface="Sora"/>
      <p:regular r:id="rId201315"/>
    </p:embeddedFont>
    <p:embeddedFont>
      <p:font typeface="Sora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613521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Validating What You Built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3478213"/>
            <a:ext cx="696557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Diagnostics for Regression, Classification, Trees &amp; Clustering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3970238"/>
            <a:ext cx="2620401" cy="274241"/>
          </a:xfrm>
          <a:prstGeom prst="roundRect">
            <a:avLst>
              <a:gd name="adj" fmla="val 22121"/>
            </a:avLst>
          </a:prstGeom>
          <a:solidFill>
            <a:srgbClr val="F9D2D6"/>
          </a:solidFill>
          <a:ln/>
        </p:spPr>
      </p:sp>
      <p:sp>
        <p:nvSpPr>
          <p:cNvPr id="6" name="Text 3"/>
          <p:cNvSpPr/>
          <p:nvPr/>
        </p:nvSpPr>
        <p:spPr>
          <a:xfrm>
            <a:off x="5312039" y="4024313"/>
            <a:ext cx="30134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BDA POP — SESSION 09/01/2026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3030"/>
            <a:ext cx="6355993" cy="111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Why Validation Is Not Optional at Scale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1908" y="1944489"/>
            <a:ext cx="6965577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 Zomato- or Swiggy-scale, a model doesn't get to be "probably fine."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385318"/>
            <a:ext cx="6355993" cy="10125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6419" y="2573635"/>
            <a:ext cx="59031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Forecasting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96419" y="2947194"/>
            <a:ext cx="5903170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model 20% off skews marketing budgets across hundreds of cities.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556496"/>
            <a:ext cx="6355993" cy="12748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419" y="3744813"/>
            <a:ext cx="59031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Delivery Classifier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96419" y="4118372"/>
            <a:ext cx="5903170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Failures on unseen restaurants break service commitments — and customer trust rarely recovers.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990009"/>
            <a:ext cx="6355993" cy="12748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6419" y="5178326"/>
            <a:ext cx="59031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Rule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896419" y="5551884"/>
            <a:ext cx="5903170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Every production model is validated </a:t>
            </a:r>
            <a:pPr algn="l" indent="0" marL="0">
              <a:lnSpc>
                <a:spcPct val="129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twice</a:t>
            </a:r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against a threshold, then against unseen data.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4230"/>
            <a:ext cx="10927878" cy="36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Protocol, in One Line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96905" y="1075531"/>
            <a:ext cx="11372466" cy="14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Fit it, score it against a holdout set the model never saw, and evaluate against a stated threshold.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31908" y="1000125"/>
            <a:ext cx="12700" cy="292398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5" name="Text 3"/>
          <p:cNvSpPr/>
          <p:nvPr/>
        </p:nvSpPr>
        <p:spPr>
          <a:xfrm>
            <a:off x="631908" y="1367929"/>
            <a:ext cx="11537463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metric with no threshold is an opinion; a metric with a threshold is a decision.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556643"/>
            <a:ext cx="10927878" cy="47971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5718" y="5050992"/>
            <a:ext cx="1915541" cy="31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Fit Model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485718" y="5446838"/>
            <a:ext cx="1915541" cy="38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 on development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967" y="4665670"/>
            <a:ext cx="1915541" cy="62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Evaluate Threshold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863967" y="5373162"/>
            <a:ext cx="1915541" cy="38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Compare metric to stated cutoff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190630" y="2059693"/>
            <a:ext cx="1915541" cy="31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Score Holdout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190630" y="2455540"/>
            <a:ext cx="1915541" cy="38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Compute metrics on unseen data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01067"/>
            <a:ext cx="10927878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Linear Regression — Predicting Restaurant Revenue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461195"/>
            <a:ext cx="6970637" cy="464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306" y="2556867"/>
            <a:ext cx="3578731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Model Setup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87306" y="2945309"/>
            <a:ext cx="357873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Features: 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distance_center_km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votes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30% holdout.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87306" y="3546475"/>
            <a:ext cx="3578731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Results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7306" y="3934916"/>
            <a:ext cx="4188316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43840" indent="-243840">
              <a:lnSpc>
                <a:spcPct val="124000"/>
              </a:lnSpc>
              <a:buSzPct val="100000"/>
              <a:buChar char="•"/>
            </a:pPr>
            <a:r>
              <a:rPr lang="en-US" sz="12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  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 </a:t>
            </a:r>
            <a:pPr algn="l"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0.84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≥ 0.60 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446" y="3960316"/>
            <a:ext cx="176704" cy="194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87306" y="4212332"/>
            <a:ext cx="4188316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43840" indent="-243840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RMSE: </a:t>
            </a:r>
            <a:pPr algn="l"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~17%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of mean ≤ 20% </a:t>
            </a:r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987306" y="4563070"/>
            <a:ext cx="3578731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Residuals scatter randomly — no funnel, no curve.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4924"/>
            <a:ext cx="10927878" cy="1094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Logistic Regression — Predicting Delivery Availability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1908" y="2660848"/>
            <a:ext cx="5260943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Trap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1908" y="3087886"/>
            <a:ext cx="5260943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Headline metrics clear the bar — but the confusion matrix reveals a deeper problem.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1908" y="3737670"/>
            <a:ext cx="5260943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Holdout AUC: 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0.77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(≥ 0.70) 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300" dirty="0"/>
          </a:p>
          <a:p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Holdout Accuracy: 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73%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(≥ 70%) 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300" dirty="0"/>
          </a:p>
          <a:p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Recall, "no delivery" class: 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~20%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(≥ 50%) </a:t>
            </a:r>
            <a:pPr algn="l" marL="264160" indent="-26416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1908" y="4769743"/>
            <a:ext cx="5260943" cy="767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model defaults to predicting "yes, delivery." Any staffing decision built on this would severely under-plan for offline-only locations — a miss headline metrics never surface.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194" y="2002532"/>
            <a:ext cx="5260943" cy="4177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32805"/>
            <a:ext cx="6355993" cy="172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Decision Tree — The Diagnostic Catching a Real Problem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31908" y="2512715"/>
            <a:ext cx="635599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unconstrained tree on weak-signal predictors hits </a:t>
            </a:r>
            <a:pPr algn="l" indent="0" marL="0">
              <a:lnSpc>
                <a:spcPct val="131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100% training accuracy</a:t>
            </a:r>
            <a:pPr algn="l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then collapses to </a:t>
            </a:r>
            <a:pPr algn="l" indent="0" marL="0">
              <a:lnSpc>
                <a:spcPct val="131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40% holdout accuracy</a:t>
            </a:r>
            <a:pPr algn="l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worse than chance.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31908" y="3529608"/>
            <a:ext cx="6355993" cy="2795588"/>
          </a:xfrm>
          <a:prstGeom prst="roundRect">
            <a:avLst>
              <a:gd name="adj" fmla="val 2628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8258" y="3535958"/>
            <a:ext cx="6343293" cy="1391444"/>
          </a:xfrm>
          <a:custGeom>
            <a:avLst/>
            <a:gdLst/>
            <a:ahLst/>
            <a:cxnLst/>
            <a:rect l="l" t="t" r="r" b="b"/>
            <a:pathLst>
              <a:path w="6343293" h="1391444">
                <a:moveTo>
                  <a:pt x="61217" y="0"/>
                </a:moveTo>
                <a:lnTo>
                  <a:pt x="6282076" y="0"/>
                </a:lnTo>
                <a:arcTo hR="61218" wR="61217" stAng="16200000" swAng="5400000"/>
                <a:lnTo>
                  <a:pt x="6343293" y="1391444"/>
                </a:lnTo>
                <a:lnTo>
                  <a:pt x="0" y="1391444"/>
                </a:lnTo>
                <a:lnTo>
                  <a:pt x="0" y="61218"/>
                </a:lnTo>
                <a:arcTo hR="61218" wR="61217" stAng="10800000" swAng="5400000"/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7" name="Text 4"/>
          <p:cNvSpPr/>
          <p:nvPr/>
        </p:nvSpPr>
        <p:spPr>
          <a:xfrm>
            <a:off x="813077" y="3710781"/>
            <a:ext cx="5993655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Unpruned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3077" y="4100116"/>
            <a:ext cx="5993655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Train–holdout gap: </a:t>
            </a:r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~60 pts</a:t>
            </a:r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🚩</a:t>
            </a:r>
            <a:endParaRPr lang="en-US" sz="13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Pure memorization.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8258" y="4927402"/>
            <a:ext cx="6343293" cy="1391444"/>
          </a:xfrm>
          <a:custGeom>
            <a:avLst/>
            <a:gdLst/>
            <a:ahLst/>
            <a:cxnLst/>
            <a:rect l="l" t="t" r="r" b="b"/>
            <a:pathLst>
              <a:path w="6343293" h="1391444">
                <a:moveTo>
                  <a:pt x="0" y="0"/>
                </a:moveTo>
                <a:lnTo>
                  <a:pt x="6343293" y="0"/>
                </a:lnTo>
                <a:lnTo>
                  <a:pt x="6343293" y="1330225"/>
                </a:lnTo>
                <a:arcTo hR="61218" wR="61217" stAng="0" swAng="5400000"/>
                <a:lnTo>
                  <a:pt x="61217" y="1391444"/>
                </a:lnTo>
                <a:arcTo hR="61218" wR="61217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10" name="Shape 7"/>
          <p:cNvSpPr/>
          <p:nvPr/>
        </p:nvSpPr>
        <p:spPr>
          <a:xfrm>
            <a:off x="638258" y="4927402"/>
            <a:ext cx="6343293" cy="19050"/>
          </a:xfrm>
          <a:prstGeom prst="roundRect">
            <a:avLst>
              <a:gd name="adj" fmla="val 49999"/>
            </a:avLst>
          </a:prstGeom>
          <a:solidFill>
            <a:srgbClr val="DFB8BC"/>
          </a:solidFill>
          <a:ln/>
        </p:spPr>
      </p:sp>
      <p:sp>
        <p:nvSpPr>
          <p:cNvPr id="11" name="Text 8"/>
          <p:cNvSpPr/>
          <p:nvPr/>
        </p:nvSpPr>
        <p:spPr>
          <a:xfrm>
            <a:off x="813077" y="5102225"/>
            <a:ext cx="5993655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Pruned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3077" y="5491559"/>
            <a:ext cx="5993655" cy="652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Train–holdout gap: </a:t>
            </a:r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~6 pts</a:t>
            </a:r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pPr algn="l" indent="0" marL="0">
              <a:lnSpc>
                <a:spcPct val="1310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3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Collapsed to a single split.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24607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Decision Tree — The Real Lesson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083197"/>
            <a:ext cx="353835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Diagnostics Did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574" y="2592090"/>
            <a:ext cx="270761" cy="270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8574" y="2583160"/>
            <a:ext cx="295168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Caught overfitting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flagged false confidence before shipping.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74" y="3819922"/>
            <a:ext cx="270761" cy="270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8574" y="3810992"/>
            <a:ext cx="295168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Revealed weak features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these predictors carry little signal for price tier.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74" y="5047754"/>
            <a:ext cx="270761" cy="2707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8574" y="5038824"/>
            <a:ext cx="29516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Directed the fix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find better features, not a fancier model.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128" y="1892399"/>
            <a:ext cx="6948909" cy="3937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4782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k-Means Clustering — Restaurant Segments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715419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No Holdout Labels — So What Now?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31908" y="3192760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Test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 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values 2–5 and compare silhouette scores.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502" y="3224510"/>
            <a:ext cx="97430" cy="2370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908" y="3644106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Best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   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silhouette =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0.42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19" y="3675856"/>
            <a:ext cx="420677" cy="2370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908" y="3996134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"Clearly separated" threshold: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≥ 0.50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🚩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1908" y="4447480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Cost and rating alone produce overlapping clusters — </a:t>
            </a:r>
            <a:pPr algn="l" indent="0" marL="0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 but fuzzy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A starting point for judgment, not a hard rule.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57" y="2715617"/>
            <a:ext cx="5243679" cy="2291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296789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Second Engine: Database Aggregate Functions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845693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Everything above ran in R, in memory. In production, the same evaluate step runs as an aggregate query against the platform's database.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3626644"/>
            <a:ext cx="3522277" cy="1934468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3813473"/>
            <a:ext cx="314862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Same Grammar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4218583"/>
            <a:ext cx="314862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group_by() / summarise()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pushes to live SQL with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no code changes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4660" y="3626644"/>
            <a:ext cx="3522277" cy="1934468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1484" y="3813473"/>
            <a:ext cx="314862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Same Protocol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21484" y="4218583"/>
            <a:ext cx="3148628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Linear model errors and delivery rates as grouped aggregates confirm stability across both engines.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37411" y="3626644"/>
            <a:ext cx="3522376" cy="1934468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4235" y="3813473"/>
            <a:ext cx="314872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Consistent Findings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4235" y="4218583"/>
            <a:ext cx="314872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Delivery rate climbs from Budget (40%) to Luxury (88%) — matching logistic regression in one query.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84002"/>
            <a:ext cx="10927878" cy="53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Summary: Every Model, One Glance</a:t>
            </a:r>
            <a:endParaRPr lang="en-US" sz="3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908" y="1418828"/>
          <a:ext cx="9143771" cy="914400"/>
        </p:xfrm>
        <a:graphic>
          <a:graphicData uri="http://schemas.openxmlformats.org/drawingml/2006/table">
            <a:tbl>
              <a:tblPr/>
              <a:tblGrid>
                <a:gridCol w="2404133"/>
                <a:gridCol w="3059806"/>
                <a:gridCol w="1967018"/>
                <a:gridCol w="1967018"/>
                <a:gridCol w="1529903"/>
              </a:tblGrid>
              <a:tr h="44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Model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Metric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Value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Threshold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Status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Linear Regression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Holdout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R^2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0.84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≥ 0.60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Pass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Linear Regression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Holdout RMSE (% mean)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~17%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≤ 20%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Pass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Logistic Regression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Holdout AUC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0.77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≥ 0.70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Pass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Logistic Regression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Recall, "no delivery"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~20%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≥ 50%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Flagged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Decision Tree (unpruned)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Train–holdout gap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~60 pts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≤ 15 pts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Flagged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2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Decision Tree (pruned)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Train–holdout gap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~6 pts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≤ 15 pts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Pass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k-Means (k=3)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Avg. silhouette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0.42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≥ 0.50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 Flagged</a:t>
                      </a:r>
                      <a:endParaRPr lang="en-US" sz="12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63621" marR="16362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31908" y="5411688"/>
            <a:ext cx="10927878" cy="862310"/>
          </a:xfrm>
          <a:prstGeom prst="roundRect">
            <a:avLst>
              <a:gd name="adj" fmla="val 7969"/>
            </a:avLst>
          </a:prstGeom>
          <a:solidFill>
            <a:srgbClr val="F9D2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16" y="5622727"/>
            <a:ext cx="204485" cy="1636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3608" y="5600799"/>
            <a:ext cx="10232571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3 of 7 checks flagged.</a:t>
            </a:r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 model can pass its headline metric and still fail a component check that matters more to the business — the case for running diagnostics on every model.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2026-09-02T01:21:42Z</dcterms:created>
  <dcterms:modified xsi:type="dcterms:W3CDTF">2026-09-02T01:21:42Z</dcterms:modified>
</cp:coreProperties>
</file>