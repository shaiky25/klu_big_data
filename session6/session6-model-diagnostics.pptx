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stakes before any formulas: at Zomato/Swiggy scale, an unvalidated model is a business risk, not just a stats exercise. Roadmap: fit-score-evaluate on four models, confirm each with a holdout re-run, then the same evaluate step as DB aggregate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framing slide. Ground each bullet in a business consequence a mixed exec/engineer audience recognizes, not a textbook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Establish the holdout methodology once here so every following slide can say 'holdout R²' or 'holdout accuracy' without re-explaining what that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checks pass comfortably here. Votes and distance genuinely explain most of the variation in this synthetic data — worth naming so students don't assume every model will look this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actual residual plot from the Rmd here if presenting live. The point: R²=0.84 is necessary but not sufficient evidence the model is trustworthy — the residual shape is the second, independent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headline metrics pass. The third row is where it breaks — hold that for the next slide rather than explaining it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naturally-occurring example, not fabricated — straight from the confusion matrix on this run. Emphasize: always look at the confusion matrix, not just the summary metrics derived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 this before the Decision Tree section because the next two slides use 'cross-validated error' and xerror without defining them first. Whiteboard the k-fold rotation if the formula box alone doesn't land it — k=10 is rpart's default, worth naming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deliberately broken example. Emphasize the tree didn't need a holdout set to be caught — the cptable's xerror column flags it during training, before any test-set peek.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point: diagnostics did its job twice here — caught false confidence, then told the team where to actually spend effort next (features, not model complexity).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protocol as every other model — fit, score, evaluate against a threshold — applied to a question with no labels: did we pick the right 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third naturally-flagged result. Don't frame it as a failure of k-means — frame it as the diagnostic doing exactly its job: telling you how much to trust the segments before you build a plan on top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second half of 'fit, score, evaluate' from the title slide — the same protocol, run through a different engine. Next slide shows the actual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Live-run this if a class MySQL instance is reachable (sql alias). Point at show_query()'s printed SQL first — that's the proof the grammar really does push down, not just a claim. The results table on the next slide is this query's actual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Reading: linear model's error is stable across both platforms — no platform quietly dragging the average down. Delivery rate climbs steadily from Budget to Luxury, consistent with what logistic regression found. Both took one grouped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of seven checks are flagged — that's the entire argument for running diagnostics on every model, not just the ones that feel shaky going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content slide before the sign-off. Keep this concrete and portable — these are rules a student can apply to a model they build next week, not a recap of today's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course capstone, not just a session recap — 09/01 is the last date on the syllabus. Land the point explicitly: everything since 07/25 has been building toward the answer to one question — is this model allowed into production? Today answered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Sign-off slide. Leave 10-15 minutes for Q&amp;A given the density of the diagnostics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Arial"/>
              </a:defRPr>
            </a:pPr>
            <a:r>
              <a:t>Validating What You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E7490"/>
                </a:solidFill>
                <a:latin typeface="Arial"/>
              </a:defRPr>
            </a:pPr>
            <a:r>
              <a:t>Diagnostics for Regression, Classification, Trees &amp; Clustering — Session 09/01/2026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Every model gets fit, scored on a holdout set, and evaluated against a threshold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Four models from last session, one protocol, run twice — once in R, once as database aggregate functions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One model breaks on purpose, so a diagnostic can catch it and we fix it live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THE COST OF SKIPPING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Why This Isn't Optional at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203530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What Breaks in Production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A revenue model quietly 20% off skews marketing spend across hundreds of cities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A delivery-availability classifier that looks accurate in a notebook fails on restaurants it's never seen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The cost shows up weeks later — in a P&amp;L or a support queue — not in the training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486400" cy="203530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The Protocol, One Line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Fit it, score it on a holdout set the model never trained on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Evaluate the result against a stated threshold — a metric with no threshold is an opinion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Run the same evaluate step a second way, as database aggregate functions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METHODOLOGY USED FOR EVERY MODEL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One Dataset, One Holdout Split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18038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The Running Dataset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Same self-generated Zomato/Swiggy restaurant dataset as last session (set.seed(42), 200 restaurants)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platform, cost, distance, rating, votes — with revenue, delivery, and price tier derived from them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Zero external files — runs identically on any machine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486400" cy="203530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The 70/30 Holdout Split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70% of restaurants train each model; the other 30% never touch training at all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Every metric on the slides that follow is measured on that untouched 30%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A model only gets credit for what it does on restaurants it has never seen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PREDICTING RESTAURANT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Linear Regression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05867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Fit &amp; Score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Fit on distance from city center and vote count against estimated revenue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Scored on the 30% holdout set — restaurants the model never trained 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01752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Threshold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Holdout R²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0.84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≥ 0.60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Within threshold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Holdout RMSE (% of mean revenue)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~17%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≤ 20%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Within threshold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WHAT THE RESIDUALS TELL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Linear Regression — Reading the Panel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8546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Beyond the Headline Number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Residual plot (actual − predicted, plotted against predicted) shows no funnel shape and no curve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Errors scatter randomly around zero across the whole prediction range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That randomness is what 'the model isn't missing a pattern' looks like — a curved or funnel-shaped residual plot would mean the model is systematically wrong somewhere specific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R² alone can't tell you that; you have to look at the residuals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PREDICTING DELIVERY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Logistic Regression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05867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Fit &amp; Score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Fit on average cost and rating against has_online_delivery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Scored on the same 30% holdout set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01752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3434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Threshold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Holdout AUC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0.77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≥ 0.70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Within threshold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Holdout accuracy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73%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≥ 70%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Within threshold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Recall, "no delivery" class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~20%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≥ 50%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Flagged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ONE CONFUSION MATRIX CHANGES THE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The Headline-Metric Trap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8546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What the Confusion Matrix Shows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Accuracy and AUC both clear a reasonable bar — that's exactly the trap a headline metric sets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Of the restaurants that genuinely don't offer delivery, the model correctly flags only about 1 in 5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It has learned to predict 'yes, delivery' by default, because most restaurants in this data do offer it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A delivery-fleet staffing decision built on this model would badly under-plan for the offline-only segment — a real operational miss accuracy and AUC alone never surface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NEEDED BEFORE THE DECISION TREE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A Quick Definition: "Cross-Validated" Error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i="1">
                <a:solidFill>
                  <a:srgbClr val="0E7490"/>
                </a:solidFill>
                <a:latin typeface="Arial"/>
              </a:defRPr>
            </a:pPr>
            <a:r>
              <a:t>Split training data into k folds → train on k−1, validate on the 1 held out → rotate → average</a:t>
            </a:r>
          </a:p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That average is the "cross-validated error" a tree reports — computed on training data alone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26080"/>
            <a:ext cx="11064240" cy="18546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Not the Same Thing as the Holdout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k-fold cross-validation happens entirely inside the training 70% — the 30% holdout is never touched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rpart repeats this automatically at every candidate tree size while it grows, recording the result as xerror in its cptable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It's a second, independent overfitting check — done before the holdout evaluation on the next slide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Two different words, two different slices of data: don't read 'cross-validated error' as 'holdout error'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NO SIZE LIMIT, WEAK PREDICTORS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Decision Tree — Breaking It on Purpose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i="1">
                <a:solidFill>
                  <a:srgbClr val="0E7490"/>
                </a:solidFill>
                <a:latin typeface="Arial"/>
              </a:defRPr>
            </a:pPr>
            <a:r>
              <a:t>Training accuracy: 100%   |   Holdout accuracy: 40%</a:t>
            </a:r>
          </a:p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A 60-point gap is the signature of memorizing training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26080"/>
            <a:ext cx="11064240" cy="1572387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What Happened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Tree grown with no depth limit (cp = 0, minsplit = 2) on rating, votes, platform, distance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69 splits — rich enough to fit noise in the training restaurants perfectly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rpart's own cross-validation table (built while the tree grows) already flags this: cross-validated error is worst at the tree's full, unpruned size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PRUNE TO THE CROSS-VALIDATED BEST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Decision Tree — The Fix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9624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Threshold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Unpruned: train − holdout gap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~60 pts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≤ 15 pts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Flagged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Pruned: train − holdout gap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~6 pts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≤ 15 pts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Within threshold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2926080"/>
            <a:ext cx="11064240" cy="1623187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The Honest Lesson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Pruned tree collapses to 1 split; train (~48%) and holdout (~42%) now land close together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Absolute accuracy is still underwhelming — and that's the real finding, not a failure of pruning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Pruning fixed the overfitting; it also revealed these features don't carry much price-tier signal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Sometimes the fix isn't a fancier model — it's better features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RESTAURANT SEGMENTS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k-Means Clustering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05867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No Holdout Labels Here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Clustering has no 'correct' cluster to score against — the confirmation is trying a range of k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Fit on scaled average cost and rating; k = 2 through 5 compared by silhouette score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017520"/>
          <a:ext cx="11064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Threshold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Silhouette, best k (k=3)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0.42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≥ 0.50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Flagged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REAL SEGMENTS, FUZZY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k-Means — Reading the Panel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623187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What 0.42 Means Here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k = 3 is the best of the four values tried — but 0.42 sits below the 0.50 bar for 'clearly separated'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Cost and rating alone produce segments that overlap more than they're distinct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Useful to know before building a marketing plan around three crisp restaurant personas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Treat the cluster boundaries as a starting point for judgment, not a hard rule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DATABASE ANALYTICAL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The Same Evaluate Step, a Second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i="1">
                <a:solidFill>
                  <a:srgbClr val="0E7490"/>
                </a:solidFill>
                <a:latin typeface="Arial"/>
              </a:defRPr>
            </a:pPr>
            <a:r>
              <a:t>group_by() + summarise()  ==  the grammar dbplyr pushes straight to SQL</a:t>
            </a:r>
          </a:p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Same protocol, no code changes to run it against a live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40"/>
            <a:ext cx="11064240" cy="1340929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Why This Matters in Production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Everything on the last 9 slides ran in R, in memory — every row pulled in first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At platform scale, that evaluate step usually runs as an aggregate query against the database instead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The grammar (group, then summarize) is identical either way — only where it executes changes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DBPLYR → MYSQL, NOT JUST A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The Actual Push-Down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3749039"/>
          </a:xfrm>
          <a:prstGeom prst="roundRect">
            <a:avLst>
              <a:gd name="adj" fmla="val 5000"/>
            </a:avLst>
          </a:prstGeom>
          <a:solidFill>
            <a:srgbClr val="11162E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>
              <a:defRPr sz="1300">
                <a:solidFill>
                  <a:srgbClr val="E8ECF6"/>
                </a:solidFill>
                <a:latin typeface="Courier New"/>
              </a:defRPr>
            </a:pPr>
            <a:r>
              <a:t>con &lt;- DBI::dbConnect(RMySQL::MySQL(), dbname = "bda_pop", host = Sys.getenv("DB_HOST"))</a:t>
            </a:r>
          </a:p>
          <a:p>
            <a:pPr>
              <a:defRPr sz="1300">
                <a:solidFill>
                  <a:srgbClr val="E8ECF6"/>
                </a:solidFill>
                <a:latin typeface="Courier New"/>
              </a:defRPr>
            </a:pPr>
            <a:r>
              <a:t>restaurants_db &lt;- tbl(con, "restaurants")</a:t>
            </a:r>
          </a:p>
          <a:p>
            <a:pPr>
              <a:defRPr sz="1300">
                <a:solidFill>
                  <a:srgbClr val="E8ECF6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E8ECF6"/>
                </a:solidFill>
                <a:latin typeface="Courier New"/>
              </a:defRPr>
            </a:pPr>
            <a:r>
              <a:t>restaurants_db %&gt;%</a:t>
            </a:r>
          </a:p>
          <a:p>
            <a:pPr>
              <a:defRPr sz="1300">
                <a:solidFill>
                  <a:srgbClr val="E8ECF6"/>
                </a:solidFill>
                <a:latin typeface="Courier New"/>
              </a:defRPr>
            </a:pPr>
            <a:r>
              <a:t>  group_by(platform) %&gt;%</a:t>
            </a:r>
          </a:p>
          <a:p>
            <a:pPr>
              <a:defRPr sz="1300">
                <a:solidFill>
                  <a:srgbClr val="E8ECF6"/>
                </a:solidFill>
                <a:latin typeface="Courier New"/>
              </a:defRPr>
            </a:pPr>
            <a:r>
              <a:t>  summarise(avg_revenue = mean(estimated_revenue),</a:t>
            </a:r>
          </a:p>
          <a:p>
            <a:pPr>
              <a:defRPr sz="1300">
                <a:solidFill>
                  <a:srgbClr val="E8ECF6"/>
                </a:solidFill>
                <a:latin typeface="Courier New"/>
              </a:defRPr>
            </a:pPr>
            <a:r>
              <a:t>            delivery_rate = mean(has_online_delivery)) %&gt;%</a:t>
            </a:r>
          </a:p>
          <a:p>
            <a:pPr>
              <a:defRPr sz="1300">
                <a:solidFill>
                  <a:srgbClr val="E8ECF6"/>
                </a:solidFill>
                <a:latin typeface="Courier New"/>
              </a:defRPr>
            </a:pPr>
            <a:r>
              <a:t>  show_query()   # prints the SELECT ... GROUP BY — nothing pulled into R yet</a:t>
            </a:r>
          </a:p>
          <a:p>
            <a:pPr>
              <a:defRPr sz="1300">
                <a:solidFill>
                  <a:srgbClr val="E8ECF6"/>
                </a:solidFill>
                <a:latin typeface="Courier New"/>
              </a:defRPr>
            </a:pPr>
            <a:r>
              <a:t>  collect()      # only this line crosses the wire and returns rows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Credentials from an env var, per this environment's own no-hardcoded-secrets rule.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303520"/>
            <a:ext cx="11064240" cy="100787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The Point of show_query()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Same group_by()/summarise() verbs from the last slide — dbplyr compiles them to real SQL, it doesn't run them row-by-row in 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SAME NUMBERS, GROUPED BY PLATFORM AND 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Second Engine — The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5720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Platform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Restaurants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Avg. Revenue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Avg. Abs. Error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Delivery Rate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Swiggy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111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1,642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242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71%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Zomato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1,776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277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72%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2004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Price Tier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Restaurants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Delivery Rate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Avg. Rating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Budget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3.08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3.45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Premium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3.06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Luxury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88%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3.36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Every Model, One Glance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6007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Threshold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Linear Regression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Holdout R²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0.84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≥ 0.60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Within threshold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Linear Regression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Holdout RMSE (% of mean)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~17%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≤ 20%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Within threshold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Logistic Regression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Holdout AUC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0.77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≥ 0.70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Within threshold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Logistic Regression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Recall, "no delivery"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~20%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≥ 50%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Flagged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Decision Tree (unpruned)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Train − holdout gap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~60 pts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≤ 15 pts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Flagged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Decision Tree (pruned)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Train − holdout gap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~6 pts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≤ 15 pts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Within threshold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k-Means (k=3)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Avg. silhouette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0.42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≥ 0.50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Flagged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What to Bring Back to Your Own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Arial"/>
              </a:defRPr>
            </a:pPr>
            <a:r>
              <a:t>• Never trust a metric with no threshold — decide the bar before you look at the number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Arial"/>
              </a:defRPr>
            </a:pPr>
            <a:r>
              <a:t>• Always score on a holdout set, or on cross-validated error the model never optimized against directly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Arial"/>
              </a:defRPr>
            </a:pPr>
            <a:r>
              <a:t>• Read the component metrics, not just the headline one — the confusion matrix caught what accuracy hid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Arial"/>
              </a:defRPr>
            </a:pPr>
            <a:r>
              <a:t>• A flagged diagnostic isn't always a model problem — sometimes it's telling you to get better features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Arial"/>
              </a:defRPr>
            </a:pPr>
            <a:r>
              <a:t>• Whatever you can compute in R, ask whether it could run as a database aggregate query instead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COURSE CAPSTONE — 09/01 CLOSES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Six Sessions, One Lifecycle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70262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Lifecycle Phase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We Built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07/25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All 5 phases, overview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Telco churn workshop — prep through operationalizing, end to end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08/01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Data Prep + Initial EDA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Distributions, initial exploration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08/11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Statistical foundations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Summary tests, sound vs. significant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08/18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Model Planning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H0/H1, technique selection by business objective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08/25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Model Building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ML/DL algorithm survey, technical foundations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09/01 (Today)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Validation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Diagnostics — R holdout checks, then database aggregate functions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937760"/>
            <a:ext cx="11064240" cy="100787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Where the Loop Closes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Validation is the gate: only a model that clears today's checks is fit to reach the Communicating and Operationalizing phases from 07/25 — that's why it comes last, not first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WHERE THIS GOES FROM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Next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1064240" cy="1340929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Questions &amp; What's Next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Every model we validated today feeds directly into how results get communicated and operationalized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Bring a model of your own next session — we'll run this same fit/score/evaluate protocol on it live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(16:9)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