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naming the gap from last week: we named Hive and Pig, but never showed what typing a query or a cleanup script actually looks like. That's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Hive as the SQL front end over data that was always going to live in HDFS.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Hive doesn't move the data anywhere new -- it gives it a schema and a query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Metastore is the piece people forget: it's a separate small database holding table schema and file locations. Hive never touches HDFS bytes until a query needs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the query never touches HDFS directly -- the Compiler checks the Metastore's schema first, then the Execution Engine runs the compiled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incident pattern: pointing a managed table at a shared raw-log directory, then one DROP TABLE takes out data another pipeline still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Partitioning is directory-level; bucketing is file-level within a partition. Same idea, finer grain.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week's simulated order log: 5,401 rows across 14 days. One day's partition is 361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out: nothing about the SELECT looks special. The WHERE clause naming the partition column is what triggers pruning -- Hive does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query, same answer -- the only difference is whether Hive had to read 15x more to get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Hive-level version of last week's 'bring the compute to the data.'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this back to money and time -- a platform-scale cluster's cost is measured in compute-hours, and an unpruned scan burns them for no extra insight.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Bridge: Hive can query dirty data, it just shouldn't have to. Where does the dirt come from?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'unstructured' in the sense that matters here -- not free text, just fields you can't trust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why cleaning can't be a one-off script -- it has to be a pipeline step that runs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216 of 5,401 simulated rows this week -- small-looking, but it's biasing every average silently.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Pig is the tool for exactly the cleanup job the last section just diagnosed.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Pig is procedural on purpose -- a pipeline of steps, not a single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underlying engine as Hive -- the difference is entirely in who writes it and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maps directly onto the Pig Latin script on the next slide -- same three verbs.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Narrate FILTER specifically -- that's the line doing the work the 4% stat just showed we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dataset, same rows counted the same way -- the FILTER step is the only thing that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compile to the same batch engine underneath -- this is a 'who' and 'when' distinction, not a 'how'.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Hive and Pig assume the data already landed in HDFS and that something scheduled the job. Two more gaps to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Sqoop: nightly batch pulls from a production database. Flume: a live event stream. Different shapes, same destination.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Oozie is the 'every night at 2am, in this order' piece. ZooKeeper is infrastructure plumbing, not a data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Oozie is what actually ran all five steps in order, unattended, every night -- it's not a box in the data path, it's the thing scheduling the whole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None of these compete with Hive or Pig -- each one fills a gap neither was built to 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this as the session's one-liner before the 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session in six words -- use this as the anchor before the takeaways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recap -- three points, no new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 flagged for review: next week's exact topic isn't in topics.txt yet as of this build, so this teaser is deliberately generic rather than naming a specific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20240"/>
            <a:ext cx="10362895" cy="3108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1800"/>
              </a:spcAft>
              <a:defRPr sz="2000" b="1" i="0">
                <a:solidFill>
                  <a:srgbClr val="0071E3"/>
                </a:solidFill>
                <a:latin typeface="Helvetica Neue"/>
              </a:defRPr>
            </a:pPr>
            <a:r>
              <a:t>BDA POP · SESSION 8</a:t>
            </a:r>
          </a:p>
          <a:p>
            <a:pPr algn="ctr">
              <a:lnSpc>
                <a:spcPct val="100000"/>
              </a:lnSpc>
              <a:spcAft>
                <a:spcPts val="1600"/>
              </a:spcAft>
              <a:defRPr sz="6400" b="1" i="0">
                <a:solidFill>
                  <a:srgbClr val="000000"/>
                </a:solidFill>
                <a:latin typeface="Helvetica Neue"/>
              </a:defRPr>
            </a:pPr>
            <a:r>
              <a:t>Hive &amp; Pig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  <a:defRPr sz="2600" b="0" i="0">
                <a:solidFill>
                  <a:srgbClr val="6E6E73"/>
                </a:solidFill>
                <a:latin typeface="Helvetica Neue"/>
              </a:defRPr>
            </a:pPr>
            <a:r>
              <a:t>SQL and scripting on data that never leaves HDFS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126480"/>
            <a:ext cx="1036289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1500" b="0" i="0">
                <a:solidFill>
                  <a:srgbClr val="6E6E73"/>
                </a:solidFill>
                <a:latin typeface="Helvetica Neue"/>
              </a:defRPr>
            </a:pPr>
            <a:r>
              <a:t>Faiz  ·  09/22/2026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62895" cy="2560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2000"/>
              </a:spcAft>
              <a:defRPr sz="2200" b="1" i="0">
                <a:solidFill>
                  <a:srgbClr val="0071E3"/>
                </a:solidFill>
                <a:latin typeface="Helvetica Neue"/>
              </a:defRPr>
            </a:pPr>
            <a:r>
              <a:t>PART 1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  <a:defRPr sz="9600" b="1" i="0">
                <a:solidFill>
                  <a:srgbClr val="000000"/>
                </a:solidFill>
                <a:latin typeface="Helvetica Neue"/>
              </a:defRPr>
            </a:pPr>
            <a:r>
              <a:t>Hive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38190" y="5029200"/>
            <a:ext cx="914400" cy="64008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8495" cy="2834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  <a:defRPr sz="5400" b="1" i="0">
                <a:solidFill>
                  <a:srgbClr val="000000"/>
                </a:solidFill>
                <a:latin typeface="Helvetica Neue"/>
              </a:defRPr>
            </a:pPr>
            <a:r>
              <a:t>SQL on data that never left HDFS.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000000"/>
                </a:solidFill>
                <a:latin typeface="Helvetica Neue"/>
              </a:defRPr>
            </a:pPr>
            <a:r>
              <a:t>Four pieces run every Hive query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Driver — owns the session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Compiler — plans against the Metastore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Execution Engine — runs it on the cluster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800" b="1" i="0">
                <a:solidFill>
                  <a:srgbClr val="000000"/>
                </a:solidFill>
                <a:latin typeface="Helvetica Neue"/>
              </a:defRPr>
            </a:pPr>
            <a:r>
              <a:t>How a HiveQL query actually runs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10362895" cy="4297680"/>
          </a:xfrm>
          <a:prstGeom prst="roundRect">
            <a:avLst>
              <a:gd name="adj" fmla="val 7000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2700000"/>
            <a:ext cx="1816547" cy="1400000"/>
          </a:xfrm>
          <a:prstGeom prst="roundRect">
            <a:avLst>
              <a:gd name="adj" fmla="val 12000"/>
            </a:avLst>
          </a:prstGeom>
          <a:solidFill>
            <a:srgbClr val="EAEAED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</a:defRPr>
            </a:pPr>
            <a:r>
              <a:t>HiveQL query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30947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50987" y="2700000"/>
            <a:ext cx="1816547" cy="1400000"/>
          </a:xfrm>
          <a:prstGeom prst="roundRect">
            <a:avLst>
              <a:gd name="adj" fmla="val 12000"/>
            </a:avLst>
          </a:prstGeom>
          <a:solidFill>
            <a:srgbClr val="EAEAED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</a:defRPr>
            </a:pPr>
            <a:r>
              <a:t>Driver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7534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87574" y="2700000"/>
            <a:ext cx="1816547" cy="1400000"/>
          </a:xfrm>
          <a:prstGeom prst="roundRect">
            <a:avLst>
              <a:gd name="adj" fmla="val 12000"/>
            </a:avLst>
          </a:prstGeom>
          <a:solidFill>
            <a:srgbClr val="EAEAED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</a:defRPr>
            </a:pPr>
            <a:r>
              <a:t>Compiler +</a:t>
            </a:r>
            <a:br/>
            <a:r>
              <a:t>Metastore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4121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24161" y="2700000"/>
            <a:ext cx="1816547" cy="1400000"/>
          </a:xfrm>
          <a:prstGeom prst="roundRect">
            <a:avLst>
              <a:gd name="adj" fmla="val 12000"/>
            </a:avLst>
          </a:prstGeom>
          <a:solidFill>
            <a:srgbClr val="EAEAED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</a:defRPr>
            </a:pPr>
            <a:r>
              <a:t>Execution</a:t>
            </a:r>
            <a:br/>
            <a:r>
              <a:t>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0708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60748" y="2700000"/>
            <a:ext cx="1816547" cy="1400000"/>
          </a:xfrm>
          <a:prstGeom prst="roundRect">
            <a:avLst>
              <a:gd name="adj" fmla="val 12000"/>
            </a:avLst>
          </a:prstGeom>
          <a:solidFill>
            <a:srgbClr val="EAEAED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</a:defRPr>
            </a:pPr>
            <a:r>
              <a:t>HDFS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800" b="1" i="0">
                <a:solidFill>
                  <a:srgbClr val="000000"/>
                </a:solidFill>
                <a:latin typeface="Helvetica Neue"/>
              </a:defRPr>
            </a:pPr>
            <a:r>
              <a:t>Managed vs. external tables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4965192" cy="4206240"/>
          </a:xfrm>
          <a:prstGeom prst="roundRect">
            <a:avLst>
              <a:gd name="adj" fmla="val 7000"/>
            </a:avLst>
          </a:prstGeom>
          <a:solidFill>
            <a:srgbClr val="EA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2103120"/>
            <a:ext cx="4142232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  <a:defRPr sz="2400" b="1" i="0">
                <a:solidFill>
                  <a:srgbClr val="0071E3"/>
                </a:solidFill>
                <a:latin typeface="Helvetica Neue"/>
              </a:defRPr>
            </a:pPr>
            <a:r>
              <a:t>Managed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2000" b="0" i="0">
                <a:solidFill>
                  <a:srgbClr val="6E6E73"/>
                </a:solidFill>
                <a:latin typeface="Helvetica Neue"/>
              </a:defRPr>
            </a:pPr>
            <a:r>
              <a:t>Hive owns the data — DROP TABLE deletes the HDFS files too.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737360"/>
            <a:ext cx="4965192" cy="4206240"/>
          </a:xfrm>
          <a:prstGeom prst="roundRect">
            <a:avLst>
              <a:gd name="adj" fmla="val 7000"/>
            </a:avLst>
          </a:prstGeom>
          <a:solidFill>
            <a:srgbClr val="EA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2103120"/>
            <a:ext cx="4142232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  <a:defRPr sz="2400" b="1" i="0">
                <a:solidFill>
                  <a:srgbClr val="0071E3"/>
                </a:solidFill>
                <a:latin typeface="Helvetica Neue"/>
              </a:defRPr>
            </a:pPr>
            <a:r>
              <a:t>External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2000" b="0" i="0">
                <a:solidFill>
                  <a:srgbClr val="6E6E73"/>
                </a:solidFill>
                <a:latin typeface="Helvetica Neue"/>
              </a:defRPr>
            </a:pPr>
            <a:r>
              <a:t>Hive owns only the schema — the files stay another pipeline's.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000000"/>
                </a:solidFill>
                <a:latin typeface="Helvetica Neue"/>
              </a:defRPr>
            </a:pPr>
            <a:r>
              <a:t>Hive's data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Partitions — one HDFS folder per column value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Buckets — a fixed hash split within a partition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Both exist to avoid reading what you don't need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362895" cy="4023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  <a:defRPr sz="13000" b="1" i="0">
                <a:solidFill>
                  <a:srgbClr val="000000"/>
                </a:solidFill>
                <a:latin typeface="Helvetica Neue"/>
              </a:defRPr>
            </a:pPr>
            <a:r>
              <a:t>15×</a:t>
            </a:r>
          </a:p>
          <a:p>
            <a:pPr algn="ctr">
              <a:lnSpc>
                <a:spcPct val="125000"/>
              </a:lnSpc>
              <a:spcAft>
                <a:spcPts val="600"/>
              </a:spcAft>
              <a:defRPr sz="3000" b="0" i="0">
                <a:solidFill>
                  <a:srgbClr val="6E6E73"/>
                </a:solidFill>
                <a:latin typeface="Helvetica Neue"/>
              </a:defRPr>
            </a:pPr>
            <a:r>
              <a:t>fewer rows read with one partitioned query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200" b="1" i="0">
                <a:solidFill>
                  <a:srgbClr val="000000"/>
                </a:solidFill>
                <a:latin typeface="Helvetica Neue"/>
              </a:defRPr>
            </a:pPr>
            <a:r>
              <a:t>Partitioned table, partition-pruned query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554480"/>
            <a:ext cx="10362895" cy="4572000"/>
          </a:xfrm>
          <a:prstGeom prst="roundRect">
            <a:avLst>
              <a:gd name="adj" fmla="val 7000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1874519"/>
            <a:ext cx="9537192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000000"/>
                </a:solidFill>
                <a:latin typeface="Courier New"/>
              </a:defRPr>
            </a:pPr>
            <a:r>
              <a:t>CREATE TABLE orders (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000000"/>
                </a:solidFill>
                <a:latin typeface="Courier New"/>
              </a:defRPr>
            </a:pPr>
            <a:r>
              <a:t>  order_id INT, restaurant_id INT,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000000"/>
                </a:solidFill>
                <a:latin typeface="Courier New"/>
              </a:defRPr>
            </a:pPr>
            <a:r>
              <a:t>  delivery_time_minutes INT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000000"/>
                </a:solidFill>
                <a:latin typeface="Courier New"/>
              </a:defRPr>
            </a:pPr>
            <a:r>
              <a:t>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000000"/>
                </a:solidFill>
                <a:latin typeface="Courier New"/>
              </a:defRPr>
            </a:pPr>
            <a:r>
              <a:t>PARTITIONED BY (order_date STRING);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000000"/>
                </a:solidFill>
                <a:latin typeface="Courier New"/>
              </a:defRPr>
            </a:pPr>
            <a: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000000"/>
                </a:solidFill>
                <a:latin typeface="Courier New"/>
              </a:defRPr>
            </a:pPr>
            <a:r>
              <a:t>SELECT city, AVG(delivery_time_minutes)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000000"/>
                </a:solidFill>
                <a:latin typeface="Courier New"/>
              </a:defRPr>
            </a:pPr>
            <a:r>
              <a:t>FROM orders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000000"/>
                </a:solidFill>
                <a:latin typeface="Courier New"/>
              </a:defRPr>
            </a:pPr>
            <a:r>
              <a:t>WHERE order_date = '2026-09-06'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000000"/>
                </a:solidFill>
                <a:latin typeface="Courier New"/>
              </a:defRPr>
            </a:pPr>
            <a:r>
              <a:t>GROUP BY city;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362895" cy="4023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  <a:defRPr sz="13000" b="1" i="0">
                <a:solidFill>
                  <a:srgbClr val="000000"/>
                </a:solidFill>
                <a:latin typeface="Helvetica Neue"/>
              </a:defRPr>
            </a:pPr>
            <a:r>
              <a:t>5,401 → 361</a:t>
            </a:r>
          </a:p>
          <a:p>
            <a:pPr algn="ctr">
              <a:lnSpc>
                <a:spcPct val="125000"/>
              </a:lnSpc>
              <a:spcAft>
                <a:spcPts val="600"/>
              </a:spcAft>
              <a:defRPr sz="3000" b="0" i="0">
                <a:solidFill>
                  <a:srgbClr val="6E6E73"/>
                </a:solidFill>
                <a:latin typeface="Helvetica Neue"/>
              </a:defRPr>
            </a:pPr>
            <a:r>
              <a:t>rows scanned, naive vs. partition-pruned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8495" cy="2834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  <a:defRPr sz="5400" b="1" i="0">
                <a:solidFill>
                  <a:srgbClr val="000000"/>
                </a:solidFill>
                <a:latin typeface="Helvetica Neue"/>
              </a:defRPr>
            </a:pPr>
            <a:r>
              <a:t>Partition pruning: scan today, not everything.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000000"/>
                </a:solidFill>
                <a:latin typeface="Helvetica Neue"/>
              </a:defRPr>
            </a:pPr>
            <a:r>
              <a:t>What partition pruning saves at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Less cluster time paying for scans nobody needed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Faster answers for an analyst waiting on a query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Lower compute cost per question asked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62895" cy="2560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2000"/>
              </a:spcAft>
              <a:defRPr sz="2200" b="1" i="0">
                <a:solidFill>
                  <a:srgbClr val="0071E3"/>
                </a:solidFill>
                <a:latin typeface="Helvetica Neue"/>
              </a:defRPr>
            </a:pPr>
            <a:r>
              <a:t>PART 2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  <a:defRPr sz="9600" b="1" i="0">
                <a:solidFill>
                  <a:srgbClr val="000000"/>
                </a:solidFill>
                <a:latin typeface="Helvetica Neue"/>
              </a:defRPr>
            </a:pPr>
            <a:r>
              <a:t>The Mess Underneath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38190" y="5029200"/>
            <a:ext cx="914400" cy="64008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000000"/>
                </a:solidFill>
                <a:latin typeface="Helvetica Neue"/>
              </a:defRPr>
            </a:pPr>
            <a:r>
              <a:t>What raw order logs actually look like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Missing delivery times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Negative, nonsensical values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No error raised, just a quietly wrong AVG()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000000"/>
                </a:solidFill>
                <a:latin typeface="Helvetica Neue"/>
              </a:defRPr>
            </a:pPr>
            <a:r>
              <a:t>Why this happens at real platform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Millions of app events a day, many code paths writing them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Retries, crashes, and partial writes create garbage rows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Small scale: noise. Platform scale: a biased average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362895" cy="4023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  <a:defRPr sz="13000" b="1" i="0">
                <a:solidFill>
                  <a:srgbClr val="000000"/>
                </a:solidFill>
                <a:latin typeface="Helvetica Neue"/>
              </a:defRPr>
            </a:pPr>
            <a:r>
              <a:t>4%</a:t>
            </a:r>
          </a:p>
          <a:p>
            <a:pPr algn="ctr">
              <a:lnSpc>
                <a:spcPct val="125000"/>
              </a:lnSpc>
              <a:spcAft>
                <a:spcPts val="600"/>
              </a:spcAft>
              <a:defRPr sz="3000" b="0" i="0">
                <a:solidFill>
                  <a:srgbClr val="6E6E73"/>
                </a:solidFill>
                <a:latin typeface="Helvetica Neue"/>
              </a:defRPr>
            </a:pPr>
            <a:r>
              <a:t>of raw order-log rows are invalid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62895" cy="2560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2000"/>
              </a:spcAft>
              <a:defRPr sz="2200" b="1" i="0">
                <a:solidFill>
                  <a:srgbClr val="0071E3"/>
                </a:solidFill>
                <a:latin typeface="Helvetica Neue"/>
              </a:defRPr>
            </a:pPr>
            <a:r>
              <a:t>PART 3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  <a:defRPr sz="9600" b="1" i="0">
                <a:solidFill>
                  <a:srgbClr val="000000"/>
                </a:solidFill>
                <a:latin typeface="Helvetica Neue"/>
              </a:defRPr>
            </a:pPr>
            <a:r>
              <a:t>Pig</a:t>
            </a:r>
          </a:p>
        </p:txBody>
      </p:sp>
      <p:sp>
        <p:nvSpPr>
          <p:cNvPr id="3" name="Rectangle 2"/>
          <p:cNvSpPr/>
          <p:nvPr/>
        </p:nvSpPr>
        <p:spPr>
          <a:xfrm>
            <a:off x="5638190" y="5029200"/>
            <a:ext cx="914400" cy="64008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8495" cy="2834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  <a:defRPr sz="5400" b="1" i="0">
                <a:solidFill>
                  <a:srgbClr val="000000"/>
                </a:solidFill>
                <a:latin typeface="Helvetica Neue"/>
              </a:defRPr>
            </a:pPr>
            <a:r>
              <a:t>Pig Latin cleans the mess before Hive.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000000"/>
                </a:solidFill>
                <a:latin typeface="Helvetica Neue"/>
              </a:defRPr>
            </a:pPr>
            <a:r>
              <a:t>What Pig is built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A readable, step-by-step pipeline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LOAD, FILTER, GROUP, JOIN, STORE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Compiles down to MapReduce, like Hive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800" b="1" i="0">
                <a:solidFill>
                  <a:srgbClr val="000000"/>
                </a:solidFill>
                <a:latin typeface="Helvetica Neue"/>
              </a:defRPr>
            </a:pPr>
            <a:r>
              <a:t>A cleanup pipeline in three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2843784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6400" b="1" i="0">
                <a:solidFill>
                  <a:srgbClr val="0071E3"/>
                </a:solidFill>
                <a:latin typeface="Helvetica Neue"/>
              </a:defRPr>
            </a:pPr>
            <a:r>
              <a:t>1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  <a:defRPr sz="2400" b="1" i="0">
                <a:solidFill>
                  <a:srgbClr val="000000"/>
                </a:solidFill>
                <a:latin typeface="Helvetica Neue"/>
              </a:defRPr>
            </a:pPr>
            <a:r>
              <a:t>LOAD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1900" b="0" i="0">
                <a:solidFill>
                  <a:srgbClr val="6E6E73"/>
                </a:solidFill>
                <a:latin typeface="Helvetica Neue"/>
              </a:defRPr>
            </a:pPr>
            <a:r>
              <a:t>Read the raw order log as-is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72584" y="1737360"/>
            <a:ext cx="2843784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6400" b="1" i="0">
                <a:solidFill>
                  <a:srgbClr val="0071E3"/>
                </a:solidFill>
                <a:latin typeface="Helvetica Neue"/>
              </a:defRPr>
            </a:pPr>
            <a:r>
              <a:t>2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  <a:defRPr sz="2400" b="1" i="0">
                <a:solidFill>
                  <a:srgbClr val="000000"/>
                </a:solidFill>
                <a:latin typeface="Helvetica Neue"/>
              </a:defRPr>
            </a:pPr>
            <a:r>
              <a:t>FILTER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1900" b="0" i="0">
                <a:solidFill>
                  <a:srgbClr val="6E6E73"/>
                </a:solidFill>
                <a:latin typeface="Helvetica Neue"/>
              </a:defRPr>
            </a:pPr>
            <a:r>
              <a:t>Drop rows with missing or negative times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30768" y="1737360"/>
            <a:ext cx="2843784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6400" b="1" i="0">
                <a:solidFill>
                  <a:srgbClr val="0071E3"/>
                </a:solidFill>
                <a:latin typeface="Helvetica Neue"/>
              </a:defRPr>
            </a:pPr>
            <a:r>
              <a:t>3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  <a:defRPr sz="2400" b="1" i="0">
                <a:solidFill>
                  <a:srgbClr val="000000"/>
                </a:solidFill>
                <a:latin typeface="Helvetica Neue"/>
              </a:defRPr>
            </a:pPr>
            <a:r>
              <a:t>STORE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1900" b="0" i="0">
                <a:solidFill>
                  <a:srgbClr val="6E6E73"/>
                </a:solidFill>
                <a:latin typeface="Helvetica Neue"/>
              </a:defRPr>
            </a:pPr>
            <a:r>
              <a:t>Write the clean table Hive queries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200" b="1" i="0">
                <a:solidFill>
                  <a:srgbClr val="000000"/>
                </a:solidFill>
                <a:latin typeface="Helvetica Neue"/>
              </a:defRPr>
            </a:pPr>
            <a:r>
              <a:t>The Pig Latin for that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554480"/>
            <a:ext cx="10362895" cy="4572000"/>
          </a:xfrm>
          <a:prstGeom prst="roundRect">
            <a:avLst>
              <a:gd name="adj" fmla="val 7000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1874519"/>
            <a:ext cx="9537192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000000"/>
                </a:solidFill>
                <a:latin typeface="Courier New"/>
              </a:defRPr>
            </a:pPr>
            <a:r>
              <a:t>raw = LOAD 'orders_raw.csv'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000000"/>
                </a:solidFill>
                <a:latin typeface="Courier New"/>
              </a:defRPr>
            </a:pPr>
            <a:r>
              <a:t>     USING PigStorage(',')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000000"/>
                </a:solidFill>
                <a:latin typeface="Courier New"/>
              </a:defRPr>
            </a:pPr>
            <a:r>
              <a:t>     AS (order_id:int,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000000"/>
                </a:solidFill>
                <a:latin typeface="Courier New"/>
              </a:defRPr>
            </a:pPr>
            <a:r>
              <a:t>         delivery_time_minutes:int);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000000"/>
                </a:solidFill>
                <a:latin typeface="Courier New"/>
              </a:defRPr>
            </a:pPr>
            <a: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000000"/>
                </a:solidFill>
                <a:latin typeface="Courier New"/>
              </a:defRPr>
            </a:pPr>
            <a:r>
              <a:t>clean = FILTER raw BY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000000"/>
                </a:solidFill>
                <a:latin typeface="Courier New"/>
              </a:defRPr>
            </a:pPr>
            <a:r>
              <a:t>        delivery_time_minutes &gt; 0;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000000"/>
                </a:solidFill>
                <a:latin typeface="Courier New"/>
              </a:defRPr>
            </a:pPr>
            <a: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000000"/>
                </a:solidFill>
                <a:latin typeface="Courier New"/>
              </a:defRPr>
            </a:pPr>
            <a:r>
              <a:t>STORE clean INTO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000000"/>
                </a:solidFill>
                <a:latin typeface="Courier New"/>
              </a:defRPr>
            </a:pPr>
            <a:r>
              <a:t>      '/warehouse/orders_clean';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362895" cy="4023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  <a:defRPr sz="13000" b="1" i="0">
                <a:solidFill>
                  <a:srgbClr val="000000"/>
                </a:solidFill>
                <a:latin typeface="Helvetica Neue"/>
              </a:defRPr>
            </a:pPr>
            <a:r>
              <a:t>4% → 0%</a:t>
            </a:r>
          </a:p>
          <a:p>
            <a:pPr algn="ctr">
              <a:lnSpc>
                <a:spcPct val="125000"/>
              </a:lnSpc>
              <a:spcAft>
                <a:spcPts val="600"/>
              </a:spcAft>
              <a:defRPr sz="3000" b="0" i="0">
                <a:solidFill>
                  <a:srgbClr val="6E6E73"/>
                </a:solidFill>
                <a:latin typeface="Helvetica Neue"/>
              </a:defRPr>
            </a:pPr>
            <a:r>
              <a:t>invalid rows, before and after the FILTER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800" b="1" i="0">
                <a:solidFill>
                  <a:srgbClr val="000000"/>
                </a:solidFill>
                <a:latin typeface="Helvetica Neue"/>
              </a:defRPr>
            </a:pPr>
            <a:r>
              <a:t>Hive vs. Pig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4965192" cy="4206240"/>
          </a:xfrm>
          <a:prstGeom prst="roundRect">
            <a:avLst>
              <a:gd name="adj" fmla="val 7000"/>
            </a:avLst>
          </a:prstGeom>
          <a:solidFill>
            <a:srgbClr val="EA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2103120"/>
            <a:ext cx="4142232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  <a:defRPr sz="2400" b="1" i="0">
                <a:solidFill>
                  <a:srgbClr val="0071E3"/>
                </a:solidFill>
                <a:latin typeface="Helvetica Neue"/>
              </a:defRPr>
            </a:pPr>
            <a:r>
              <a:t>Hive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2000" b="0" i="0">
                <a:solidFill>
                  <a:srgbClr val="6E6E73"/>
                </a:solidFill>
                <a:latin typeface="Helvetica Neue"/>
              </a:defRPr>
            </a:pPr>
            <a:r>
              <a:t>Declarative SQL — for someone who already knows the question.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737360"/>
            <a:ext cx="4965192" cy="4206240"/>
          </a:xfrm>
          <a:prstGeom prst="roundRect">
            <a:avLst>
              <a:gd name="adj" fmla="val 7000"/>
            </a:avLst>
          </a:prstGeom>
          <a:solidFill>
            <a:srgbClr val="EA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2103120"/>
            <a:ext cx="4142232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  <a:defRPr sz="2400" b="1" i="0">
                <a:solidFill>
                  <a:srgbClr val="0071E3"/>
                </a:solidFill>
                <a:latin typeface="Helvetica Neue"/>
              </a:defRPr>
            </a:pPr>
            <a:r>
              <a:t>Pig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2000" b="0" i="0">
                <a:solidFill>
                  <a:srgbClr val="6E6E73"/>
                </a:solidFill>
                <a:latin typeface="Helvetica Neue"/>
              </a:defRPr>
            </a:pPr>
            <a:r>
              <a:t>Procedural script — for someone who has to clean the answer first.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62895" cy="2560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2000"/>
              </a:spcAft>
              <a:defRPr sz="2200" b="1" i="0">
                <a:solidFill>
                  <a:srgbClr val="0071E3"/>
                </a:solidFill>
                <a:latin typeface="Helvetica Neue"/>
              </a:defRPr>
            </a:pPr>
            <a:r>
              <a:t>PART 4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  <a:defRPr sz="9600" b="1" i="0">
                <a:solidFill>
                  <a:srgbClr val="000000"/>
                </a:solidFill>
                <a:latin typeface="Helvetica Neue"/>
              </a:defRPr>
            </a:pPr>
            <a:r>
              <a:t>The Rest Of The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38190" y="5029200"/>
            <a:ext cx="914400" cy="64008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000000"/>
                </a:solidFill>
                <a:latin typeface="Helvetica Neue"/>
              </a:defRPr>
            </a:pPr>
            <a:r>
              <a:t>Getting raw data into HDFS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Sqoop — bulk transfer from a relational database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Flume — continuous log and event streaming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Both land data before Pig ever runs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000000"/>
                </a:solidFill>
                <a:latin typeface="Helvetica Neue"/>
              </a:defRPr>
            </a:pPr>
            <a:r>
              <a:t>Keeping it all running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Oozie — schedules and chains the jobs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ZooKeeper — keeps cluster services agreeing who's in charge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Neither one touches the data itself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800" b="1" i="0">
                <a:solidFill>
                  <a:srgbClr val="000000"/>
                </a:solidFill>
                <a:latin typeface="Helvetica Neue"/>
              </a:defRPr>
            </a:pPr>
            <a:r>
              <a:t>A realistic nightly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10362895" cy="4297680"/>
          </a:xfrm>
          <a:prstGeom prst="roundRect">
            <a:avLst>
              <a:gd name="adj" fmla="val 7000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700000"/>
            <a:ext cx="1999467" cy="1400000"/>
          </a:xfrm>
          <a:prstGeom prst="roundRect">
            <a:avLst>
              <a:gd name="adj" fmla="val 12000"/>
            </a:avLst>
          </a:prstGeom>
          <a:solidFill>
            <a:srgbClr val="EAEAED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</a:defRPr>
            </a:pPr>
            <a:r>
              <a:t>Sqoop /</a:t>
            </a:r>
            <a:br/>
            <a:r>
              <a:t>Flume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6667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76707" y="2700000"/>
            <a:ext cx="1999467" cy="1400000"/>
          </a:xfrm>
          <a:prstGeom prst="roundRect">
            <a:avLst>
              <a:gd name="adj" fmla="val 12000"/>
            </a:avLst>
          </a:prstGeom>
          <a:solidFill>
            <a:srgbClr val="EAEAED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</a:defRPr>
            </a:pPr>
            <a:r>
              <a:t>HDFS</a:t>
            </a:r>
            <a:br/>
            <a:r>
              <a:t>(raw)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6174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6214" y="2700000"/>
            <a:ext cx="1999467" cy="1400000"/>
          </a:xfrm>
          <a:prstGeom prst="roundRect">
            <a:avLst>
              <a:gd name="adj" fmla="val 12000"/>
            </a:avLst>
          </a:prstGeom>
          <a:solidFill>
            <a:srgbClr val="EAEAED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</a:defRPr>
            </a:pPr>
            <a:r>
              <a:t>Pig</a:t>
            </a:r>
            <a:br/>
            <a:r>
              <a:t>(clean)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681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15721" y="2700000"/>
            <a:ext cx="1999467" cy="1400000"/>
          </a:xfrm>
          <a:prstGeom prst="roundRect">
            <a:avLst>
              <a:gd name="adj" fmla="val 12000"/>
            </a:avLst>
          </a:prstGeom>
          <a:solidFill>
            <a:srgbClr val="EAEAED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</a:defRPr>
            </a:pPr>
            <a:r>
              <a:t>Hive</a:t>
            </a:r>
            <a:br/>
            <a:r>
              <a:t>(query)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5188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35228" y="2700000"/>
            <a:ext cx="1999467" cy="1400000"/>
          </a:xfrm>
          <a:prstGeom prst="roundRect">
            <a:avLst>
              <a:gd name="adj" fmla="val 12000"/>
            </a:avLst>
          </a:prstGeom>
          <a:solidFill>
            <a:srgbClr val="EAEAED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</a:defRPr>
            </a:pPr>
            <a:r>
              <a:t>Answers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8495" cy="2834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  <a:defRPr sz="5400" b="1" i="0">
                <a:solidFill>
                  <a:srgbClr val="000000"/>
                </a:solidFill>
                <a:latin typeface="Helvetica Neue"/>
              </a:defRPr>
            </a:pPr>
            <a:r>
              <a:t>Every unstructured-data problem already has its tool.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828800"/>
            <a:ext cx="8899855" cy="3108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30000"/>
              </a:lnSpc>
              <a:spcAft>
                <a:spcPts val="2200"/>
              </a:spcAft>
              <a:defRPr sz="3800" b="0" i="1">
                <a:solidFill>
                  <a:srgbClr val="000000"/>
                </a:solidFill>
                <a:latin typeface="Helvetica Neue"/>
              </a:defRPr>
            </a:pPr>
            <a:r>
              <a:t>“Distributed systems don't remove the mess in your data — they just give you a place big enough to clean it up.”</a:t>
            </a:r>
          </a:p>
          <a:p>
            <a:pPr algn="ctr">
              <a:lnSpc>
                <a:spcPct val="105000"/>
              </a:lnSpc>
              <a:spcAft>
                <a:spcPts val="600"/>
              </a:spcAft>
              <a:defRPr sz="2000" b="0" i="0">
                <a:solidFill>
                  <a:srgbClr val="6E6E73"/>
                </a:solidFill>
                <a:latin typeface="Helvetica Neue"/>
              </a:defRPr>
            </a:pPr>
            <a:r>
              <a:t>— Big Data engineering maxim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8495" cy="2834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  <a:defRPr sz="5400" b="1" i="0">
                <a:solidFill>
                  <a:srgbClr val="000000"/>
                </a:solidFill>
                <a:latin typeface="Helvetica Neue"/>
              </a:defRPr>
            </a:pPr>
            <a:r>
              <a:t>Raw logs in. Pig cleans. Hive answers.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000000"/>
                </a:solidFill>
                <a:latin typeface="Helvetica Neue"/>
              </a:defRPr>
            </a:pPr>
            <a:r>
              <a:t>What to remember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Partition and bucket, or scan everything every time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Clean before you query, not inside every query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000000"/>
                </a:solidFill>
                <a:latin typeface="Helvetica Neue"/>
              </a:defRPr>
            </a:pPr>
            <a:r>
              <a:t>—  Hive and Pig still run on MapReduce underneath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2926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0000"/>
              </a:lnSpc>
              <a:spcAft>
                <a:spcPts val="1800"/>
              </a:spcAft>
              <a:defRPr sz="7200" b="1" i="0">
                <a:solidFill>
                  <a:srgbClr val="000000"/>
                </a:solidFill>
                <a:latin typeface="Helvetica Neue"/>
              </a:defRPr>
            </a:pPr>
            <a:r>
              <a:t>Thank you.</a:t>
            </a:r>
          </a:p>
          <a:p>
            <a:pPr algn="ctr">
              <a:lnSpc>
                <a:spcPct val="105000"/>
              </a:lnSpc>
              <a:spcAft>
                <a:spcPts val="1400"/>
              </a:spcAft>
              <a:defRPr sz="2600" b="0" i="0">
                <a:solidFill>
                  <a:srgbClr val="6E6E73"/>
                </a:solidFill>
                <a:latin typeface="Helvetica Neue"/>
              </a:defRPr>
            </a:pPr>
            <a:r>
              <a:t>Next: scaling analytics beyond batch.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(16:9)</PresentationFormat>
  <Paragraphs>0</Paragraphs>
  <Slides>32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Template — Apple Keynote Style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