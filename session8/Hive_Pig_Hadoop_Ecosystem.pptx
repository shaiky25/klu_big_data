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gap from last week: we named Hive and Pig, but never showed what typing a query or a cleanup script actually looks like. That's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Hive as the SQL front end over data that was always going to live in HDFS.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Hive doesn't move the data anywhere new -- it gives it a schema and a query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Metastore is the piece people forget: it's a separate small database holding table schema and file locations. Hive never touches HDFS bytes until a query needs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the query never touches HDFS directly -- the Compiler checks the Metastore's schema first, then the Execution Engine runs the compiled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incident pattern: pointing a managed table at a shared raw-log directory, then one DROP TABLE takes out data another pipeline still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Partitioning is directory-level; bucketing is file-level within a partition. Same idea, finer grain.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week's simulated order log: 5,401 rows across 14 days. One day's partition is 361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out: nothing about the SELECT looks special. The WHERE clause naming the partition column is what triggers pruning -- Hive does the rest.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query, same answer -- the only difference is whether Hive had to read 15x more to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Hive-level version of last week's 'bring the compute to the data.'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this back to money and time -- a platform-scale cluster's cost is measured in compute-hours, and an unpruned scan burns them for no extra insight.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Bridge: Hive can query dirty data, it just shouldn't have to. Where does the dirt come from?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'unstructured' in the sense that matters here -- not free text, just fields you can't trust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cleaning can't be a one-off script -- it has to be a pipeline step that runs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216 of 5,401 simulated rows this week -- small-looking, but it's biasing every average silently.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Pig is the tool for exactly the cleanup job the last section just diagnosed.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Pig is procedural on purpose -- a pipeline of steps, not a single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underlying engine as Hive -- the difference is entirely in who writes it and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maps directly onto the Pig Latin script on the next slide -- same three verbs.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Narrate FILTER specifically -- that's the line doing the work the 4% stat just showed we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dataset, same rows counted the same way -- the FILTER step is the only thing that 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compile to the same batch engine underneath -- this is a 'who' and 'when' distinction, not a 'how'.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Hive and Pig assume the data already landed in HDFS and that something scheduled the job. Two more gaps to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Sqoop: nightly batch pulls from a production database. Flume: a live event stream. Different shapes, same destination.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Oozie is the 'every night at 2am, in this order' piece. ZooKeeper is infrastructure plumbing, not a data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Oozie is what actually ran all five steps in order, unattended, every night -- it's not a box in the data path, it's the thing scheduling the whole 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compete with Hive or Pig -- each one fills a gap neither was built to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this as the session's one-liner before the 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session in six words -- use this as the anchor before the takeaways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recap -- three points, no new information.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Assumption flagged for review: next week's exact topic isn't in topics.txt yet as of this build, so this teaser is deliberately generic rather than naming a specific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920240"/>
            <a:ext cx="10362895" cy="3108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1800"/>
              </a:spcAft>
              <a:defRPr sz="2000" b="1" i="0">
                <a:solidFill>
                  <a:srgbClr val="0071E3"/>
                </a:solidFill>
                <a:latin typeface="Helvetica Neue"/>
              </a:defRPr>
            </a:pPr>
            <a:r>
              <a:t>BDA POP · SESSION 8</a:t>
            </a:r>
          </a:p>
          <a:p>
            <a:pPr algn="ctr">
              <a:lnSpc>
                <a:spcPct val="100000"/>
              </a:lnSpc>
              <a:spcAft>
                <a:spcPts val="1600"/>
              </a:spcAft>
              <a:defRPr sz="6400" b="1" i="0">
                <a:solidFill>
                  <a:srgbClr val="F5F5F7"/>
                </a:solidFill>
                <a:latin typeface="Helvetica Neue"/>
              </a:defRPr>
            </a:pPr>
            <a:r>
              <a:t>Hive &amp; Pig</a:t>
            </a:r>
          </a:p>
          <a:p>
            <a:pPr algn="ctr">
              <a:lnSpc>
                <a:spcPct val="120000"/>
              </a:lnSpc>
              <a:spcAft>
                <a:spcPts val="600"/>
              </a:spcAft>
              <a:defRPr sz="2600" b="0" i="0">
                <a:solidFill>
                  <a:srgbClr val="A1A1A6"/>
                </a:solidFill>
                <a:latin typeface="Helvetica Neue"/>
              </a:defRPr>
            </a:pPr>
            <a:r>
              <a:t>SQL and scripting on data that never leaves HDFS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126480"/>
            <a:ext cx="10362895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  <a:defRPr sz="1500" b="0" i="0">
                <a:solidFill>
                  <a:srgbClr val="A1A1A6"/>
                </a:solidFill>
                <a:latin typeface="Helvetica Neue"/>
              </a:defRPr>
            </a:pPr>
            <a:r>
              <a:t>Faiz  ·  09/22/2026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1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F5F5F7"/>
                </a:solidFill>
                <a:latin typeface="Helvetica Neue"/>
              </a:defRPr>
            </a:pPr>
            <a:r>
              <a:t>Hive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F5F5F7"/>
                </a:solidFill>
                <a:latin typeface="Helvetica Neue"/>
              </a:defRPr>
            </a:pPr>
            <a:r>
              <a:t>SQL on data that never left HDFS.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Four pieces run every Hive query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Driver — owns the session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Compiler — plans against the Metastore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Execution Engine — runs it on the cluster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How a HiveQL query actually runs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0362895" cy="4297680"/>
          </a:xfrm>
          <a:prstGeom prst="roundRect">
            <a:avLst>
              <a:gd name="adj" fmla="val 7000"/>
            </a:avLst>
          </a:prstGeom>
          <a:solidFill>
            <a:srgbClr val="161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HiveQL 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30947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50987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Driver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7534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87574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Compiler +</a:t>
            </a:r>
            <a:br/>
            <a:r>
              <a:t>Metastore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04121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4161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Execution</a:t>
            </a:r>
            <a:br/>
            <a:r>
              <a:t>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0708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60748" y="2700000"/>
            <a:ext cx="181654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HDFS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Managed vs. external tables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Managed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Hive owns the data — DROP TABLE deletes the HDFS files too.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External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Hive owns only the schema — the files stay another pipeline's.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Hive's data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Partitions — one HDFS folder per column value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Buckets — a fixed hash split within a partition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Both exist to avoid reading what you don't need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F5F5F7"/>
                </a:solidFill>
                <a:latin typeface="Helvetica Neue"/>
              </a:defRPr>
            </a:pPr>
            <a:r>
              <a:t>15×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A1A1A6"/>
                </a:solidFill>
                <a:latin typeface="Helvetica Neue"/>
              </a:defRPr>
            </a:pPr>
            <a:r>
              <a:t>fewer rows read with one partitioned query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200" b="1" i="0">
                <a:solidFill>
                  <a:srgbClr val="F5F5F7"/>
                </a:solidFill>
                <a:latin typeface="Helvetica Neue"/>
              </a:defRPr>
            </a:pPr>
            <a:r>
              <a:t>Partitioned table, partition-pruned query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554480"/>
            <a:ext cx="10362895" cy="4572000"/>
          </a:xfrm>
          <a:prstGeom prst="roundRect">
            <a:avLst>
              <a:gd name="adj" fmla="val 7000"/>
            </a:avLst>
          </a:prstGeom>
          <a:solidFill>
            <a:srgbClr val="161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874519"/>
            <a:ext cx="9537192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CREATE TABLE orders (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order_id INT, restaurant_id INT,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delivery_time_minutes INT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PARTITIONED BY (order_date STRING);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SELECT city, AVG(delivery_time_minutes)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FROM orders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WHERE order_date = '2026-09-06'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GROUP BY city;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F5F5F7"/>
                </a:solidFill>
                <a:latin typeface="Helvetica Neue"/>
              </a:defRPr>
            </a:pPr>
            <a:r>
              <a:t>5,401 → 361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A1A1A6"/>
                </a:solidFill>
                <a:latin typeface="Helvetica Neue"/>
              </a:defRPr>
            </a:pPr>
            <a:r>
              <a:t>rows scanned, naive vs. partition-pruned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F5F5F7"/>
                </a:solidFill>
                <a:latin typeface="Helvetica Neue"/>
              </a:defRPr>
            </a:pPr>
            <a:r>
              <a:t>Partition pruning: scan today, not everything.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What partition pruning saves at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Less cluster time paying for scans nobody needed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Faster answers for an analyst waiting on a query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Lower compute cost per question asked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2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F5F5F7"/>
                </a:solidFill>
                <a:latin typeface="Helvetica Neue"/>
              </a:defRPr>
            </a:pPr>
            <a:r>
              <a:t>The Mess Underneath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What raw order logs actually look like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Missing delivery times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Negative, nonsensical values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No error raised, just a quietly wrong AVG()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Why this happens at real platform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Millions of app events a day, many code paths writing them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Retries, crashes, and partial writes create garbage rows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Small scale: noise. Platform scale: a biased average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F5F5F7"/>
                </a:solidFill>
                <a:latin typeface="Helvetica Neue"/>
              </a:defRPr>
            </a:pPr>
            <a:r>
              <a:t>4%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A1A1A6"/>
                </a:solidFill>
                <a:latin typeface="Helvetica Neue"/>
              </a:defRPr>
            </a:pPr>
            <a:r>
              <a:t>of raw order-log rows are invalid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3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F5F5F7"/>
                </a:solidFill>
                <a:latin typeface="Helvetica Neue"/>
              </a:defRPr>
            </a:pPr>
            <a:r>
              <a:t>Pig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F5F5F7"/>
                </a:solidFill>
                <a:latin typeface="Helvetica Neue"/>
              </a:defRPr>
            </a:pPr>
            <a:r>
              <a:t>Pig Latin cleans the mess before Hive.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What Pig is built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A readable, step-by-step pipeline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LOAD, FILTER, GROUP, JOIN, STORE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Compiles down to MapReduce, like Hive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A cleanup pipeline in three stages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1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F5F5F7"/>
                </a:solidFill>
                <a:latin typeface="Helvetica Neue"/>
              </a:defRPr>
            </a:pPr>
            <a:r>
              <a:t>LOAD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A1A1A6"/>
                </a:solidFill>
                <a:latin typeface="Helvetica Neue"/>
              </a:defRPr>
            </a:pPr>
            <a:r>
              <a:t>Read the raw order log 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72584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F5F5F7"/>
                </a:solidFill>
                <a:latin typeface="Helvetica Neue"/>
              </a:defRPr>
            </a:pPr>
            <a:r>
              <a:t>FILTER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A1A1A6"/>
                </a:solidFill>
                <a:latin typeface="Helvetica Neue"/>
              </a:defRPr>
            </a:pPr>
            <a:r>
              <a:t>Drop rows with missing or negative times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30768" y="1737360"/>
            <a:ext cx="2843784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6400" b="1" i="0">
                <a:solidFill>
                  <a:srgbClr val="0071E3"/>
                </a:solidFill>
                <a:latin typeface="Helvetica Neue"/>
              </a:defRPr>
            </a:pPr>
            <a:r>
              <a:t>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  <a:defRPr sz="2400" b="1" i="0">
                <a:solidFill>
                  <a:srgbClr val="F5F5F7"/>
                </a:solidFill>
                <a:latin typeface="Helvetica Neue"/>
              </a:defRPr>
            </a:pPr>
            <a:r>
              <a:t>STORE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1900" b="0" i="0">
                <a:solidFill>
                  <a:srgbClr val="A1A1A6"/>
                </a:solidFill>
                <a:latin typeface="Helvetica Neue"/>
              </a:defRPr>
            </a:pPr>
            <a:r>
              <a:t>Write the clean table Hive queries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200" b="1" i="0">
                <a:solidFill>
                  <a:srgbClr val="F5F5F7"/>
                </a:solidFill>
                <a:latin typeface="Helvetica Neue"/>
              </a:defRPr>
            </a:pPr>
            <a:r>
              <a:t>The Pig Latin for that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554480"/>
            <a:ext cx="10362895" cy="4572000"/>
          </a:xfrm>
          <a:prstGeom prst="roundRect">
            <a:avLst>
              <a:gd name="adj" fmla="val 7000"/>
            </a:avLst>
          </a:prstGeom>
          <a:solidFill>
            <a:srgbClr val="161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1874519"/>
            <a:ext cx="9537192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raw = LOAD 'orders_raw.csv'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   USING PigStorage(',')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   AS (order_id:int,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       delivery_time_minutes:int);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clean = FILTER raw BY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      delivery_time_minutes &gt; 0;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/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STORE clean INTO</a:t>
            </a:r>
          </a:p>
          <a:p>
            <a:pPr algn="l">
              <a:lnSpc>
                <a:spcPct val="125000"/>
              </a:lnSpc>
              <a:spcAft>
                <a:spcPts val="200"/>
              </a:spcAft>
              <a:defRPr sz="1800" b="0" i="0">
                <a:solidFill>
                  <a:srgbClr val="F5F5F7"/>
                </a:solidFill>
                <a:latin typeface="Courier New"/>
              </a:defRPr>
            </a:pPr>
            <a:r>
              <a:t>      '/warehouse/orders_clean';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463040"/>
            <a:ext cx="10362895" cy="40233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000"/>
              </a:spcAft>
              <a:defRPr sz="13000" b="1" i="0">
                <a:solidFill>
                  <a:srgbClr val="F5F5F7"/>
                </a:solidFill>
                <a:latin typeface="Helvetica Neue"/>
              </a:defRPr>
            </a:pPr>
            <a:r>
              <a:t>4% → 0%</a:t>
            </a:r>
          </a:p>
          <a:p>
            <a:pPr algn="ctr">
              <a:lnSpc>
                <a:spcPct val="125000"/>
              </a:lnSpc>
              <a:spcAft>
                <a:spcPts val="600"/>
              </a:spcAft>
              <a:defRPr sz="3000" b="0" i="0">
                <a:solidFill>
                  <a:srgbClr val="A1A1A6"/>
                </a:solidFill>
                <a:latin typeface="Helvetica Neue"/>
              </a:defRPr>
            </a:pPr>
            <a:r>
              <a:t>invalid rows, before and after the FILTER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Hive vs. Pig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2588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Hive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Declarative SQL — for someone who already knows the question.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737360"/>
            <a:ext cx="4965192" cy="4206240"/>
          </a:xfrm>
          <a:prstGeom prst="roundRect">
            <a:avLst>
              <a:gd name="adj" fmla="val 7000"/>
            </a:avLst>
          </a:prstGeom>
          <a:solidFill>
            <a:srgbClr val="1D1D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2103120"/>
            <a:ext cx="4142232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  <a:defRPr sz="2400" b="1" i="0">
                <a:solidFill>
                  <a:srgbClr val="0071E3"/>
                </a:solidFill>
                <a:latin typeface="Helvetica Neue"/>
              </a:defRPr>
            </a:pPr>
            <a:r>
              <a:t>Pig</a:t>
            </a:r>
          </a:p>
          <a:p>
            <a:pPr algn="l">
              <a:lnSpc>
                <a:spcPct val="13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Procedural script — for someone who has to clean the answer first.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4560"/>
            <a:ext cx="10362895" cy="25603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5000"/>
              </a:lnSpc>
              <a:spcAft>
                <a:spcPts val="2000"/>
              </a:spcAft>
              <a:defRPr sz="2200" b="1" i="0">
                <a:solidFill>
                  <a:srgbClr val="0071E3"/>
                </a:solidFill>
                <a:latin typeface="Helvetica Neue"/>
              </a:defRPr>
            </a:pPr>
            <a:r>
              <a:t>PART 4</a:t>
            </a:r>
          </a:p>
          <a:p>
            <a:pPr algn="ctr">
              <a:lnSpc>
                <a:spcPct val="100000"/>
              </a:lnSpc>
              <a:spcAft>
                <a:spcPts val="600"/>
              </a:spcAft>
              <a:defRPr sz="9600" b="1" i="0">
                <a:solidFill>
                  <a:srgbClr val="F5F5F7"/>
                </a:solidFill>
                <a:latin typeface="Helvetica Neue"/>
              </a:defRPr>
            </a:pPr>
            <a:r>
              <a:t>The Rest Of The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8190" y="5029200"/>
            <a:ext cx="914400" cy="64008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Getting raw data into HDFS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Sqoop — bulk transfer from a relational database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Flume — continuous log and event streaming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Both land data before Pig ever runs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Keeping it all running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Oozie — schedules and chains the jobs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ZooKeeper — keeps cluster services agreeing who's in charge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Neither one touches the data itself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3800" b="1" i="0">
                <a:solidFill>
                  <a:srgbClr val="F5F5F7"/>
                </a:solidFill>
                <a:latin typeface="Helvetica Neue"/>
              </a:defRPr>
            </a:pPr>
            <a:r>
              <a:t>A realistic nightly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737360"/>
            <a:ext cx="10362895" cy="4297680"/>
          </a:xfrm>
          <a:prstGeom prst="roundRect">
            <a:avLst>
              <a:gd name="adj" fmla="val 7000"/>
            </a:avLst>
          </a:prstGeom>
          <a:solidFill>
            <a:srgbClr val="1616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Sqoop /</a:t>
            </a:r>
            <a:br/>
            <a:r>
              <a:t>Flume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6667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76707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HDFS</a:t>
            </a:r>
            <a:br/>
            <a:r>
              <a:t>(raw)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6174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96214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Pig</a:t>
            </a:r>
            <a:br/>
            <a:r>
              <a:t>(clean)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5681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21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Hive</a:t>
            </a:r>
            <a:br/>
            <a:r>
              <a:t>(query)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5188" y="2700000"/>
            <a:ext cx="320040" cy="14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>
                <a:solidFill>
                  <a:srgbClr val="86868B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35228" y="2700000"/>
            <a:ext cx="1999467" cy="1400000"/>
          </a:xfrm>
          <a:prstGeom prst="roundRect">
            <a:avLst>
              <a:gd name="adj" fmla="val 12000"/>
            </a:avLst>
          </a:prstGeom>
          <a:solidFill>
            <a:srgbClr val="1D1D1F"/>
          </a:solidFill>
          <a:ln w="15875">
            <a:solidFill>
              <a:srgbClr val="0071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F5F7"/>
                </a:solidFill>
              </a:defRPr>
            </a:pPr>
            <a:r>
              <a:t>Answers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F5F5F7"/>
                </a:solidFill>
                <a:latin typeface="Helvetica Neue"/>
              </a:defRPr>
            </a:pPr>
            <a:r>
              <a:t>Every unstructured-data problem already has its tool.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45920" y="1828800"/>
            <a:ext cx="8899855" cy="3108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30000"/>
              </a:lnSpc>
              <a:spcAft>
                <a:spcPts val="2200"/>
              </a:spcAft>
              <a:defRPr sz="3800" b="0" i="1">
                <a:solidFill>
                  <a:srgbClr val="F5F5F7"/>
                </a:solidFill>
                <a:latin typeface="Helvetica Neue"/>
              </a:defRPr>
            </a:pPr>
            <a:r>
              <a:t>“Distributed systems don't remove the mess in your data — they just give you a place big enough to clean it up.”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  <a:defRPr sz="2000" b="0" i="0">
                <a:solidFill>
                  <a:srgbClr val="A1A1A6"/>
                </a:solidFill>
                <a:latin typeface="Helvetica Neue"/>
              </a:defRPr>
            </a:pPr>
            <a:r>
              <a:t>— Big Data engineering maxim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011680"/>
            <a:ext cx="9448495" cy="2834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  <a:defRPr sz="5400" b="1" i="0">
                <a:solidFill>
                  <a:srgbClr val="F5F5F7"/>
                </a:solidFill>
                <a:latin typeface="Helvetica Neue"/>
              </a:defRPr>
            </a:pPr>
            <a:r>
              <a:t>Raw logs in. Pig cleans. Hive answers.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02920"/>
            <a:ext cx="10362895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  <a:defRPr sz="4000" b="1" i="0">
                <a:solidFill>
                  <a:srgbClr val="F5F5F7"/>
                </a:solidFill>
                <a:latin typeface="Helvetica Neue"/>
              </a:defRPr>
            </a:pPr>
            <a:r>
              <a:t>What to remember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417320"/>
            <a:ext cx="822960" cy="54864"/>
          </a:xfrm>
          <a:prstGeom prst="rect">
            <a:avLst/>
          </a:prstGeom>
          <a:solidFill>
            <a:srgbClr val="007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Partition and bucket, or scan everything every time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Clean before you query, not inside every query</a:t>
            </a:r>
          </a:p>
          <a:p>
            <a:pPr algn="l">
              <a:lnSpc>
                <a:spcPct val="120000"/>
              </a:lnSpc>
              <a:spcAft>
                <a:spcPts val="2600"/>
              </a:spcAft>
              <a:defRPr sz="2800" b="0" i="0">
                <a:solidFill>
                  <a:srgbClr val="F5F5F7"/>
                </a:solidFill>
                <a:latin typeface="Helvetica Neue"/>
              </a:defRPr>
            </a:pPr>
            <a:r>
              <a:t>—  Hive and Pig still run on MapReduce underneath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B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2926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lnSpc>
                <a:spcPct val="100000"/>
              </a:lnSpc>
              <a:spcAft>
                <a:spcPts val="1800"/>
              </a:spcAft>
              <a:defRPr sz="7200" b="1" i="0">
                <a:solidFill>
                  <a:srgbClr val="F5F5F7"/>
                </a:solidFill>
                <a:latin typeface="Helvetica Neue"/>
              </a:defRPr>
            </a:pPr>
            <a:r>
              <a:t>Thank you.</a:t>
            </a:r>
          </a:p>
          <a:p>
            <a:pPr algn="ctr">
              <a:lnSpc>
                <a:spcPct val="105000"/>
              </a:lnSpc>
              <a:spcAft>
                <a:spcPts val="1400"/>
              </a:spcAft>
              <a:defRPr sz="2600" b="0" i="0">
                <a:solidFill>
                  <a:srgbClr val="A1A1A6"/>
                </a:solidFill>
                <a:latin typeface="Helvetica Neue"/>
              </a:defRPr>
            </a:pPr>
            <a:r>
              <a:t>Next: scaling analytics beyond batch.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(16:9)</PresentationFormat>
  <Paragraphs>0</Paragraphs>
  <Slides>32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  <vt:lpstr/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Template — Apple Keynote Style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