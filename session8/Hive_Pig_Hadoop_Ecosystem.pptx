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</p:sldIdLst>
  <p:sldSz cx="121793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4572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FD7E7"/>
          </a:solidFill>
        </a:fill>
      </a:tcStyle>
    </a:wholeTbl>
    <a:band2H>
      <a:tcTxStyle b="def" i="def"/>
      <a:tcStyle>
        <a:tcBdr/>
        <a:fill>
          <a:solidFill>
            <a:srgbClr val="E8ECF4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EE7D0"/>
          </a:solidFill>
        </a:fill>
      </a:tcStyle>
    </a:wholeTbl>
    <a:band2H>
      <a:tcTxStyle b="def" i="def"/>
      <a:tcStyle>
        <a:tcBdr/>
        <a:fill>
          <a:solidFill>
            <a:srgbClr val="EFF3E9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CDCCE"/>
          </a:solidFill>
        </a:fill>
      </a:tcStyle>
    </a:wholeTbl>
    <a:band2H>
      <a:tcTxStyle b="def" i="def"/>
      <a:tcStyle>
        <a:tcBdr/>
        <a:fill>
          <a:solidFill>
            <a:srgbClr val="FDEE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hape 91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2" name="Shape 92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defRPr sz="1200">
        <a:latin typeface="+mn-lt"/>
        <a:ea typeface="+mn-ea"/>
        <a:cs typeface="+mn-cs"/>
        <a:sym typeface="Calibri"/>
      </a:defRPr>
    </a:lvl1pPr>
    <a:lvl2pPr indent="228600" defTabSz="457200" latinLnBrk="0">
      <a:defRPr sz="1200">
        <a:latin typeface="+mn-lt"/>
        <a:ea typeface="+mn-ea"/>
        <a:cs typeface="+mn-cs"/>
        <a:sym typeface="Calibri"/>
      </a:defRPr>
    </a:lvl2pPr>
    <a:lvl3pPr indent="457200" defTabSz="457200" latinLnBrk="0">
      <a:defRPr sz="1200">
        <a:latin typeface="+mn-lt"/>
        <a:ea typeface="+mn-ea"/>
        <a:cs typeface="+mn-cs"/>
        <a:sym typeface="Calibri"/>
      </a:defRPr>
    </a:lvl3pPr>
    <a:lvl4pPr indent="685800" defTabSz="457200" latinLnBrk="0">
      <a:defRPr sz="1200">
        <a:latin typeface="+mn-lt"/>
        <a:ea typeface="+mn-ea"/>
        <a:cs typeface="+mn-cs"/>
        <a:sym typeface="Calibri"/>
      </a:defRPr>
    </a:lvl4pPr>
    <a:lvl5pPr indent="914400" defTabSz="457200" latinLnBrk="0">
      <a:defRPr sz="1200">
        <a:latin typeface="+mn-lt"/>
        <a:ea typeface="+mn-ea"/>
        <a:cs typeface="+mn-cs"/>
        <a:sym typeface="Calibri"/>
      </a:defRPr>
    </a:lvl5pPr>
    <a:lvl6pPr indent="1143000" defTabSz="457200" latinLnBrk="0">
      <a:defRPr sz="1200">
        <a:latin typeface="+mn-lt"/>
        <a:ea typeface="+mn-ea"/>
        <a:cs typeface="+mn-cs"/>
        <a:sym typeface="Calibri"/>
      </a:defRPr>
    </a:lvl6pPr>
    <a:lvl7pPr indent="1371600" defTabSz="457200" latinLnBrk="0">
      <a:defRPr sz="1200">
        <a:latin typeface="+mn-lt"/>
        <a:ea typeface="+mn-ea"/>
        <a:cs typeface="+mn-cs"/>
        <a:sym typeface="Calibri"/>
      </a:defRPr>
    </a:lvl7pPr>
    <a:lvl8pPr indent="1600200" defTabSz="457200" latinLnBrk="0">
      <a:defRPr sz="1200">
        <a:latin typeface="+mn-lt"/>
        <a:ea typeface="+mn-ea"/>
        <a:cs typeface="+mn-cs"/>
        <a:sym typeface="Calibri"/>
      </a:defRPr>
    </a:lvl8pPr>
    <a:lvl9pPr indent="1828800" defTabSz="4572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
</file>

<file path=ppt/notesSlides/_rels/notesSlide8.xml.rels><?xml version="1.0" encoding="UTF-8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
</file>

<file path=ppt/notesSlides/_rels/notesSlide9.xml.rels><?xml version="1.0" encoding="UTF-8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
</file>

<file path=ppt/notesSlides/_rels/notesSlide10.xml.rels><?xml version="1.0" encoding="UTF-8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
</file>

<file path=ppt/notesSlides/_rels/notesSlide11.xml.rels><?xml version="1.0" encoding="UTF-8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
</file>

<file path=ppt/notesSlides/_rels/notesSlide12.xml.rels><?xml version="1.0" encoding="UTF-8"?>
<Relationships xmlns="http://schemas.openxmlformats.org/package/2006/relationships"><Relationship Id="rId1" Type="http://schemas.openxmlformats.org/officeDocument/2006/relationships/slide" Target="../slides/slide12.xml"/><Relationship Id="rId2" Type="http://schemas.openxmlformats.org/officeDocument/2006/relationships/notesMaster" Target="../notesMasters/notesMaster1.xml"/></Relationships>

</file>

<file path=ppt/notesSlides/_rels/notesSlide13.xml.rels><?xml version="1.0" encoding="UTF-8"?>
<Relationships xmlns="http://schemas.openxmlformats.org/package/2006/relationships"><Relationship Id="rId1" Type="http://schemas.openxmlformats.org/officeDocument/2006/relationships/slide" Target="../slides/slide13.xml"/><Relationship Id="rId2" Type="http://schemas.openxmlformats.org/officeDocument/2006/relationships/notesMaster" Target="../notesMasters/notesMaster1.xml"/></Relationships>

</file>

<file path=ppt/notesSlides/_rels/notesSlide14.xml.rels><?xml version="1.0" encoding="UTF-8"?>
<Relationships xmlns="http://schemas.openxmlformats.org/package/2006/relationships"><Relationship Id="rId1" Type="http://schemas.openxmlformats.org/officeDocument/2006/relationships/slide" Target="../slides/slide14.xml"/><Relationship Id="rId2" Type="http://schemas.openxmlformats.org/officeDocument/2006/relationships/notesMaster" Target="../notesMasters/notesMaster1.xml"/></Relationships>

</file>

<file path=ppt/notesSlides/_rels/notesSlide15.xml.rels><?xml version="1.0" encoding="UTF-8"?>
<Relationships xmlns="http://schemas.openxmlformats.org/package/2006/relationships"><Relationship Id="rId1" Type="http://schemas.openxmlformats.org/officeDocument/2006/relationships/slide" Target="../slides/slide15.xml"/><Relationship Id="rId2" Type="http://schemas.openxmlformats.org/officeDocument/2006/relationships/notesMaster" Target="../notesMasters/notesMaster1.xml"/></Relationships>

</file>

<file path=ppt/notesSlides/_rels/notesSlide16.xml.rels><?xml version="1.0" encoding="UTF-8"?>
<Relationships xmlns="http://schemas.openxmlformats.org/package/2006/relationships"><Relationship Id="rId1" Type="http://schemas.openxmlformats.org/officeDocument/2006/relationships/slide" Target="../slides/slide16.xml"/><Relationship Id="rId2" Type="http://schemas.openxmlformats.org/officeDocument/2006/relationships/notesMaster" Target="../notesMasters/notesMaster1.xml"/></Relationships>

</file>

<file path=ppt/notesSlides/_rels/notesSlide17.xml.rels><?xml version="1.0" encoding="UTF-8"?>
<Relationships xmlns="http://schemas.openxmlformats.org/package/2006/relationships"><Relationship Id="rId1" Type="http://schemas.openxmlformats.org/officeDocument/2006/relationships/slide" Target="../slides/slide17.xml"/><Relationship Id="rId2" Type="http://schemas.openxmlformats.org/officeDocument/2006/relationships/notesMaster" Target="../notesMasters/notesMaster1.xml"/></Relationships>

</file>

<file path=ppt/notesSlides/_rels/notesSlide18.xml.rels><?xml version="1.0" encoding="UTF-8"?>
<Relationships xmlns="http://schemas.openxmlformats.org/package/2006/relationships"><Relationship Id="rId1" Type="http://schemas.openxmlformats.org/officeDocument/2006/relationships/slide" Target="../slides/slide18.xml"/><Relationship Id="rId2" Type="http://schemas.openxmlformats.org/officeDocument/2006/relationships/notesMaster" Target="../notesMasters/notesMaster1.xml"/></Relationships>

</file>

<file path=ppt/notesSlides/_rels/notesSlide19.xml.rels><?xml version="1.0" encoding="UTF-8"?>
<Relationships xmlns="http://schemas.openxmlformats.org/package/2006/relationships"><Relationship Id="rId1" Type="http://schemas.openxmlformats.org/officeDocument/2006/relationships/slide" Target="../slides/slide19.xml"/><Relationship Id="rId2" Type="http://schemas.openxmlformats.org/officeDocument/2006/relationships/notesMaster" Target="../notesMasters/notesMaster1.xml"/></Relationships>

</file>

<file path=ppt/notesSlides/_rels/notesSlide20.xml.rels><?xml version="1.0" encoding="UTF-8"?>
<Relationships xmlns="http://schemas.openxmlformats.org/package/2006/relationships"><Relationship Id="rId1" Type="http://schemas.openxmlformats.org/officeDocument/2006/relationships/slide" Target="../slides/slide20.xml"/><Relationship Id="rId2" Type="http://schemas.openxmlformats.org/officeDocument/2006/relationships/notesMaster" Target="../notesMasters/notesMaster1.xml"/></Relationships>

</file>

<file path=ppt/notesSlides/_rels/notesSlide21.xml.rels><?xml version="1.0" encoding="UTF-8"?>
<Relationships xmlns="http://schemas.openxmlformats.org/package/2006/relationships"><Relationship Id="rId1" Type="http://schemas.openxmlformats.org/officeDocument/2006/relationships/slide" Target="../slides/slide21.xml"/><Relationship Id="rId2" Type="http://schemas.openxmlformats.org/officeDocument/2006/relationships/notesMaster" Target="../notesMasters/notesMaster1.xml"/></Relationships>

</file>

<file path=ppt/notesSlides/_rels/notesSlide22.xml.rels><?xml version="1.0" encoding="UTF-8"?>
<Relationships xmlns="http://schemas.openxmlformats.org/package/2006/relationships"><Relationship Id="rId1" Type="http://schemas.openxmlformats.org/officeDocument/2006/relationships/slide" Target="../slides/slide22.xml"/><Relationship Id="rId2" Type="http://schemas.openxmlformats.org/officeDocument/2006/relationships/notesMaster" Target="../notesMasters/notesMaster1.xml"/></Relationships>

</file>

<file path=ppt/notesSlides/_rels/notesSlide23.xml.rels><?xml version="1.0" encoding="UTF-8"?>
<Relationships xmlns="http://schemas.openxmlformats.org/package/2006/relationships"><Relationship Id="rId1" Type="http://schemas.openxmlformats.org/officeDocument/2006/relationships/slide" Target="../slides/slide23.xml"/><Relationship Id="rId2" Type="http://schemas.openxmlformats.org/officeDocument/2006/relationships/notesMaster" Target="../notesMasters/notesMaster1.xml"/></Relationships>

</file>

<file path=ppt/notesSlides/_rels/notesSlide24.xml.rels><?xml version="1.0" encoding="UTF-8"?>
<Relationships xmlns="http://schemas.openxmlformats.org/package/2006/relationships"><Relationship Id="rId1" Type="http://schemas.openxmlformats.org/officeDocument/2006/relationships/slide" Target="../slides/slide24.xml"/><Relationship Id="rId2" Type="http://schemas.openxmlformats.org/officeDocument/2006/relationships/notesMaster" Target="../notesMasters/notesMaster1.xml"/></Relationships>

</file>

<file path=ppt/notesSlides/_rels/notesSlide25.xml.rels><?xml version="1.0" encoding="UTF-8"?>
<Relationships xmlns="http://schemas.openxmlformats.org/package/2006/relationships"><Relationship Id="rId1" Type="http://schemas.openxmlformats.org/officeDocument/2006/relationships/slide" Target="../slides/slide25.xml"/><Relationship Id="rId2" Type="http://schemas.openxmlformats.org/officeDocument/2006/relationships/notesMaster" Target="../notesMasters/notesMaster1.xml"/></Relationships>

</file>

<file path=ppt/notesSlides/_rels/notesSlide26.xml.rels><?xml version="1.0" encoding="UTF-8"?>
<Relationships xmlns="http://schemas.openxmlformats.org/package/2006/relationships"><Relationship Id="rId1" Type="http://schemas.openxmlformats.org/officeDocument/2006/relationships/slide" Target="../slides/slide26.xml"/><Relationship Id="rId2" Type="http://schemas.openxmlformats.org/officeDocument/2006/relationships/notesMaster" Target="../notesMasters/notesMaster1.xml"/></Relationships>

</file>

<file path=ppt/notesSlides/_rels/notesSlide27.xml.rels><?xml version="1.0" encoding="UTF-8"?>
<Relationships xmlns="http://schemas.openxmlformats.org/package/2006/relationships"><Relationship Id="rId1" Type="http://schemas.openxmlformats.org/officeDocument/2006/relationships/slide" Target="../slides/slide27.xml"/><Relationship Id="rId2" Type="http://schemas.openxmlformats.org/officeDocument/2006/relationships/notesMaster" Target="../notesMasters/notesMaster1.xml"/></Relationships>

</file>

<file path=ppt/notesSlides/_rels/notesSlide28.xml.rels><?xml version="1.0" encoding="UTF-8"?>
<Relationships xmlns="http://schemas.openxmlformats.org/package/2006/relationships"><Relationship Id="rId1" Type="http://schemas.openxmlformats.org/officeDocument/2006/relationships/slide" Target="../slides/slide28.xml"/><Relationship Id="rId2" Type="http://schemas.openxmlformats.org/officeDocument/2006/relationships/notesMaster" Target="../notesMasters/notesMaster1.xml"/></Relationships>

</file>

<file path=ppt/notesSlides/_rels/notesSlide29.xml.rels><?xml version="1.0" encoding="UTF-8"?>
<Relationships xmlns="http://schemas.openxmlformats.org/package/2006/relationships"><Relationship Id="rId1" Type="http://schemas.openxmlformats.org/officeDocument/2006/relationships/slide" Target="../slides/slide29.xml"/><Relationship Id="rId2" Type="http://schemas.openxmlformats.org/officeDocument/2006/relationships/notesMaster" Target="../notesMasters/notesMaster1.xml"/></Relationships>

</file>

<file path=ppt/notesSlides/_rels/notesSlide30.xml.rels><?xml version="1.0" encoding="UTF-8"?>
<Relationships xmlns="http://schemas.openxmlformats.org/package/2006/relationships"><Relationship Id="rId1" Type="http://schemas.openxmlformats.org/officeDocument/2006/relationships/slide" Target="../slides/slide30.xml"/><Relationship Id="rId2" Type="http://schemas.openxmlformats.org/officeDocument/2006/relationships/notesMaster" Target="../notesMasters/notesMaster1.xml"/></Relationships>

</file>

<file path=ppt/notesSlides/_rels/notesSlide31.xml.rels><?xml version="1.0" encoding="UTF-8"?>
<Relationships xmlns="http://schemas.openxmlformats.org/package/2006/relationships"><Relationship Id="rId1" Type="http://schemas.openxmlformats.org/officeDocument/2006/relationships/slide" Target="../slides/slide31.xml"/><Relationship Id="rId2" Type="http://schemas.openxmlformats.org/officeDocument/2006/relationships/notesMaster" Target="../notesMasters/notesMaster1.xml"/></Relationships>

</file>

<file path=ppt/notesSlides/_rels/notesSlide32.xml.rels><?xml version="1.0" encoding="UTF-8"?>
<Relationships xmlns="http://schemas.openxmlformats.org/package/2006/relationships"><Relationship Id="rId1" Type="http://schemas.openxmlformats.org/officeDocument/2006/relationships/slide" Target="../slides/slide32.xml"/><Relationship Id="rId2" Type="http://schemas.openxmlformats.org/officeDocument/2006/relationships/notesMaster" Target="../notesMasters/notesMaster1.xml"/></Relationships>
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Shape 9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97" name="Shape 9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Open by naming the gap from last week: we named Hive and Pig, but never showed what typing a query or a cleanup script actually looks like. That's today.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Shape 10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2" name="Shape 10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Frame Hive as the SQL front end over data that was always going to live in HDFS.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Shape 10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06" name="Shape 10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Hive doesn't move the data anywhere new -- it gives it a schema and a query language.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Shape 11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12" name="Shape 11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Metastore is the piece people forget: it's a separate small database holding table schema and file locations. Hive never touches HDFS bytes until a query needs them.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Shape 13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36" name="Shape 13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Walk left to right: the query never touches HDFS directly -- the Compiler checks the Metastore's schema first, then the Execution Engine runs the compiled plan.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Shape 14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44" name="Shape 14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Real incident pattern: pointing a managed table at a shared raw-log directory, then one DROP TABLE takes out data another pipeline still needed.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Shape 14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0" name="Shape 15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Partitioning is directory-level; bucketing is file-level within a partition. Same idea, finer grain.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Shape 15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54" name="Shape 15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week's simulated order log: 5,401 rows across 14 days. One day's partition is 361 rows.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Shape 15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0" name="Shape 16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Point out: nothing about the SELECT looks special. The WHERE clause naming the partition column is what triggers pruning -- Hive does the rest.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Shape 16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4" name="Shape 16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Same query, same answer -- the only difference is whether Hive had to read 15x more to get there.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Shape 16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68" name="Shape 16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the Hive-level version of last week's 'bring the compute to the data.'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Shape 17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4" name="Shape 17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Tie this back to money and time -- a platform-scale cluster's cost is measured in compute-hours, and an unpruned scan burns them for no extra insight.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Shape 178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79" name="Shape 179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Bridge: Hive can query dirty data, it just shouldn't have to. Where does the dirt come from?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Shape 18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5" name="Shape 18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'unstructured' in the sense that matters here -- not free text, just fields you can't trust yet.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Shape 190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1" name="Shape 191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is why cleaning can't be a one-off script -- it has to be a pipeline step that runs every time.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Shape 19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95" name="Shape 19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216 of 5,401 simulated rows this week -- small-looking, but it's biasing every average silently.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Shape 19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0" name="Shape 20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Pig is the tool for exactly the cleanup job the last section just diagnosed.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Shape 20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04" name="Shape 20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Pig is procedural on purpose -- a pipeline of steps, not a single question.</a:t>
            </a: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Shape 20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0" name="Shape 21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Same underlying engine as Hive -- the difference is entirely in who writes it and why.</a:t>
            </a: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Shape 21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17" name="Shape 21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This maps directly onto the Pig Latin script on the next slide -- same three verbs.</a:t>
            </a: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Shape 222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3" name="Shape 223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Narrate FILTER specifically -- that's the line doing the work the 4% stat just showed we need.</a:t>
            </a: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Shape 226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27" name="Shape 227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Same dataset, same rows counted the same way -- the FILTER step is the only thing that changed.</a:t>
            </a: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hape 234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35" name="Shape 235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Both compile to the same batch engine underneath -- this is a 'who' and 'when' distinction, not a 'how'.</a:t>
            </a: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Shape 23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0" name="Shape 24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Hive and Pig assume the data already landed in HDFS and that something scheduled the job. Two more gaps to close.</a:t>
            </a: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46" name="Shape 24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Sqoop: nightly batch pulls from a production database. Flume: a live event stream. Different shapes, same destination.</a:t>
            </a: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Shape 251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52" name="Shape 252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Oozie is the 'every night at 2am, in this order' piece. ZooKeeper is infrastructure plumbing, not a data tool.</a:t>
            </a: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Shape 275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76" name="Shape 276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Oozie is what actually ran all five steps in order, unattended, every night -- it's not a box in the data path, it's the thing scheduling the whole row.</a:t>
            </a: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Shape 279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0" name="Shape 280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None of these compete with Hive or Pig -- each one fills a gap neither was built to cover.</a:t>
            </a: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Shape 28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4" name="Shape 28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Land this as the session's one-liner before the recap.</a:t>
            </a: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Shape 28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88" name="Shape 28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The whole session in six words -- use this as the anchor before the takeaways slide.</a:t>
            </a: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Shape 293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4" name="Shape 294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Closing recap -- three points, no new information.</a:t>
            </a: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Shape 297"/>
          <p:cNvSpPr/>
          <p:nvPr>
            <p:ph type="sldImg"/>
          </p:nvPr>
        </p:nvSpPr>
        <p:spPr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298" name="Shape 298"/>
          <p:cNvSpPr/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pPr/>
            <a:r>
              <a:t>Assumption flagged for review: next week's exact topic isn't in topics.txt yet as of this build, so this teaser is deliberately generic rather than naming a specific tool.</a:t>
            </a:r>
          </a:p>
        </p:txBody>
      </p:sp>
    </p:spTree>
  </p:cSld>
  <p:clrMapOvr>
    <a:masterClrMapping/>
  </p:clrMapOvr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itle" showMasterSp="1" showMasterPhAnim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Text"/>
          <p:cNvSpPr txBox="1"/>
          <p:nvPr>
            <p:ph type="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12" name="Body Level One…"/>
          <p:cNvSpPr txBox="1"/>
          <p:nvPr>
            <p:ph type="body" sz="quarter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>
                <a:solidFill>
                  <a:srgbClr val="888888"/>
                </a:solidFill>
              </a:defRPr>
            </a:lvl1pPr>
            <a:lvl2pPr marL="0" indent="457200" algn="ctr">
              <a:buSzTx/>
              <a:buFontTx/>
              <a:buNone/>
              <a:defRPr>
                <a:solidFill>
                  <a:srgbClr val="888888"/>
                </a:solidFill>
              </a:defRPr>
            </a:lvl2pPr>
            <a:lvl3pPr marL="0" indent="914400" algn="ctr">
              <a:buSzTx/>
              <a:buFontTx/>
              <a:buNone/>
              <a:defRPr>
                <a:solidFill>
                  <a:srgbClr val="888888"/>
                </a:solidFill>
              </a:defRPr>
            </a:lvl3pPr>
            <a:lvl4pPr marL="0" indent="1371600" algn="ctr">
              <a:buSzTx/>
              <a:buFontTx/>
              <a:buNone/>
              <a:defRPr>
                <a:solidFill>
                  <a:srgbClr val="888888"/>
                </a:solidFill>
              </a:defRPr>
            </a:lvl4pPr>
            <a:lvl5pPr marL="0" indent="1828800" algn="ctr">
              <a:buSzTx/>
              <a:buFontTx/>
              <a:buNone/>
              <a:defRPr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21" name="Body Level One…"/>
          <p:cNvSpPr txBox="1"/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Text"/>
          <p:cNvSpPr txBox="1"/>
          <p:nvPr>
            <p:ph type="title"/>
          </p:nvPr>
        </p:nvSpPr>
        <p:spPr>
          <a:xfrm>
            <a:off x="722312" y="4406900"/>
            <a:ext cx="7772401" cy="1362075"/>
          </a:xfrm>
          <a:prstGeom prst="rect">
            <a:avLst/>
          </a:prstGeom>
        </p:spPr>
        <p:txBody>
          <a:bodyPr anchor="t"/>
          <a:lstStyle>
            <a:lvl1pPr algn="l">
              <a:defRPr b="1" cap="all" sz="4000"/>
            </a:lvl1pPr>
          </a:lstStyle>
          <a:p>
            <a:pPr/>
            <a:r>
              <a:t>Title Text</a:t>
            </a:r>
          </a:p>
        </p:txBody>
      </p:sp>
      <p:sp>
        <p:nvSpPr>
          <p:cNvPr id="30" name="Body Level One…"/>
          <p:cNvSpPr txBox="1"/>
          <p:nvPr>
            <p:ph type="body" sz="quarter" idx="1"/>
          </p:nvPr>
        </p:nvSpPr>
        <p:spPr>
          <a:xfrm>
            <a:off x="722312" y="2906713"/>
            <a:ext cx="7772401" cy="1500188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1pPr>
            <a:lvl2pPr marL="0" indent="4572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2pPr>
            <a:lvl3pPr marL="0" indent="9144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3pPr>
            <a:lvl4pPr marL="0" indent="13716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4pPr>
            <a:lvl5pPr marL="0" indent="1828800">
              <a:spcBef>
                <a:spcPts val="400"/>
              </a:spcBef>
              <a:buSzTx/>
              <a:buFontTx/>
              <a:buNone/>
              <a:defRPr sz="2000">
                <a:solidFill>
                  <a:srgbClr val="888888"/>
                </a:solidFill>
              </a:defRPr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39" name="Body Level One…"/>
          <p:cNvSpPr txBox="1"/>
          <p:nvPr>
            <p:ph type="body"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spcBef>
                <a:spcPts val="600"/>
              </a:spcBef>
              <a:defRPr sz="2800"/>
            </a:lvl1pPr>
            <a:lvl2pPr marL="790575" indent="-333375">
              <a:spcBef>
                <a:spcPts val="600"/>
              </a:spcBef>
              <a:defRPr sz="2800"/>
            </a:lvl2pPr>
            <a:lvl3pPr marL="1234439" indent="-320039">
              <a:spcBef>
                <a:spcPts val="600"/>
              </a:spcBef>
              <a:defRPr sz="2800"/>
            </a:lvl3pPr>
            <a:lvl4pPr marL="1727200" indent="-355600">
              <a:spcBef>
                <a:spcPts val="600"/>
              </a:spcBef>
              <a:defRPr sz="2800"/>
            </a:lvl4pPr>
            <a:lvl5pPr marL="2184400" indent="-355600">
              <a:spcBef>
                <a:spcPts val="600"/>
              </a:spcBef>
              <a:defRPr sz="28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48" name="Body Level One…"/>
          <p:cNvSpPr txBox="1"/>
          <p:nvPr>
            <p:ph type="body" sz="quarter" idx="1"/>
          </p:nvPr>
        </p:nvSpPr>
        <p:spPr>
          <a:xfrm>
            <a:off x="457200" y="1535112"/>
            <a:ext cx="4040188" cy="639763"/>
          </a:xfrm>
          <a:prstGeom prst="rect">
            <a:avLst/>
          </a:prstGeom>
        </p:spPr>
        <p:txBody>
          <a:bodyPr anchor="b"/>
          <a:lstStyle>
            <a:lvl1pPr marL="0" indent="0">
              <a:spcBef>
                <a:spcPts val="500"/>
              </a:spcBef>
              <a:buSzTx/>
              <a:buFontTx/>
              <a:buNone/>
              <a:defRPr b="1" sz="2400"/>
            </a:lvl1pPr>
            <a:lvl2pPr marL="0" indent="457200">
              <a:spcBef>
                <a:spcPts val="500"/>
              </a:spcBef>
              <a:buSzTx/>
              <a:buFontTx/>
              <a:buNone/>
              <a:defRPr b="1" sz="2400"/>
            </a:lvl2pPr>
            <a:lvl3pPr marL="0" indent="914400">
              <a:spcBef>
                <a:spcPts val="500"/>
              </a:spcBef>
              <a:buSzTx/>
              <a:buFontTx/>
              <a:buNone/>
              <a:defRPr b="1" sz="2400"/>
            </a:lvl3pPr>
            <a:lvl4pPr marL="0" indent="1371600">
              <a:spcBef>
                <a:spcPts val="500"/>
              </a:spcBef>
              <a:buSzTx/>
              <a:buFontTx/>
              <a:buNone/>
              <a:defRPr b="1" sz="2400"/>
            </a:lvl4pPr>
            <a:lvl5pPr marL="0" indent="1828800">
              <a:spcBef>
                <a:spcPts val="500"/>
              </a:spcBef>
              <a:buSzTx/>
              <a:buFontTx/>
              <a:buNone/>
              <a:defRPr b="1" sz="2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9" name="Text Placeholder 4"/>
          <p:cNvSpPr/>
          <p:nvPr>
            <p:ph type="body" sz="quarter" idx="21"/>
          </p:nvPr>
        </p:nvSpPr>
        <p:spPr>
          <a:xfrm>
            <a:off x="4645025" y="1535112"/>
            <a:ext cx="4041775" cy="639763"/>
          </a:xfrm>
          <a:prstGeom prst="rect">
            <a:avLst/>
          </a:prstGeom>
        </p:spPr>
        <p:txBody>
          <a:bodyPr anchor="b"/>
          <a:lstStyle/>
          <a:p>
            <a:pPr marL="0" indent="0">
              <a:spcBef>
                <a:spcPts val="500"/>
              </a:spcBef>
              <a:buSzTx/>
              <a:buFontTx/>
              <a:buNone/>
              <a:defRPr b="1" sz="2400"/>
            </a:pPr>
          </a:p>
        </p:txBody>
      </p:sp>
      <p:sp>
        <p:nvSpPr>
          <p:cNvPr id="50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Title Text"/>
          <p:cNvSpPr txBox="1"/>
          <p:nvPr>
            <p:ph type="title"/>
          </p:nvPr>
        </p:nvSpPr>
        <p:spPr>
          <a:xfrm>
            <a:off x="457200" y="274638"/>
            <a:ext cx="8229600" cy="1143001"/>
          </a:xfrm>
          <a:prstGeom prst="rect">
            <a:avLst/>
          </a:prstGeom>
        </p:spPr>
        <p:txBody>
          <a:bodyPr/>
          <a:lstStyle/>
          <a:p>
            <a:pPr/>
            <a:r>
              <a:t>Title Text</a:t>
            </a:r>
          </a:p>
        </p:txBody>
      </p:sp>
      <p:sp>
        <p:nvSpPr>
          <p:cNvPr id="58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Title Text"/>
          <p:cNvSpPr txBox="1"/>
          <p:nvPr>
            <p:ph type="title"/>
          </p:nvPr>
        </p:nvSpPr>
        <p:spPr>
          <a:xfrm>
            <a:off x="457200" y="273050"/>
            <a:ext cx="3008314" cy="1162050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73" name="Body Level One…"/>
          <p:cNvSpPr txBox="1"/>
          <p:nvPr>
            <p:ph type="body" sz="half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74" name="Text Placeholder 3"/>
          <p:cNvSpPr/>
          <p:nvPr>
            <p:ph type="body" sz="quarter" idx="21"/>
          </p:nvPr>
        </p:nvSpPr>
        <p:spPr>
          <a:xfrm>
            <a:off x="457199" y="1435100"/>
            <a:ext cx="3008315" cy="4691063"/>
          </a:xfrm>
          <a:prstGeom prst="rect">
            <a:avLst/>
          </a:prstGeom>
        </p:spPr>
        <p:txBody>
          <a:bodyPr/>
          <a:lstStyle/>
          <a:p>
            <a:pPr marL="0" indent="0">
              <a:spcBef>
                <a:spcPts val="300"/>
              </a:spcBef>
              <a:buSzTx/>
              <a:buFontTx/>
              <a:buNone/>
              <a:defRPr sz="1400"/>
            </a:pPr>
          </a:p>
        </p:txBody>
      </p:sp>
      <p:sp>
        <p:nvSpPr>
          <p:cNvPr id="7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Title Text"/>
          <p:cNvSpPr txBox="1"/>
          <p:nvPr>
            <p:ph type="title"/>
          </p:nvPr>
        </p:nvSpPr>
        <p:spPr>
          <a:xfrm>
            <a:off x="1792288" y="4800600"/>
            <a:ext cx="5486401" cy="566738"/>
          </a:xfrm>
          <a:prstGeom prst="rect">
            <a:avLst/>
          </a:prstGeom>
        </p:spPr>
        <p:txBody>
          <a:bodyPr anchor="b"/>
          <a:lstStyle>
            <a:lvl1pPr algn="l">
              <a:defRPr b="1" sz="2000"/>
            </a:lvl1pPr>
          </a:lstStyle>
          <a:p>
            <a:pPr/>
            <a:r>
              <a:t>Title Text</a:t>
            </a:r>
          </a:p>
        </p:txBody>
      </p:sp>
      <p:sp>
        <p:nvSpPr>
          <p:cNvPr id="83" name="Picture Placeholder 2"/>
          <p:cNvSpPr/>
          <p:nvPr>
            <p:ph type="pic" sz="half" idx="21"/>
          </p:nvPr>
        </p:nvSpPr>
        <p:spPr>
          <a:xfrm>
            <a:off x="1792288" y="612775"/>
            <a:ext cx="5486401" cy="4114800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pPr/>
          </a:p>
        </p:txBody>
      </p:sp>
      <p:sp>
        <p:nvSpPr>
          <p:cNvPr id="84" name="Body Level One…"/>
          <p:cNvSpPr txBox="1"/>
          <p:nvPr>
            <p:ph type="body" sz="quarter" idx="1"/>
          </p:nvPr>
        </p:nvSpPr>
        <p:spPr>
          <a:xfrm>
            <a:off x="1792288" y="5367337"/>
            <a:ext cx="5486401" cy="804863"/>
          </a:xfrm>
          <a:prstGeom prst="rect">
            <a:avLst/>
          </a:prstGeom>
        </p:spPr>
        <p:txBody>
          <a:bodyPr/>
          <a:lstStyle>
            <a:lvl1pPr marL="0" indent="0">
              <a:spcBef>
                <a:spcPts val="300"/>
              </a:spcBef>
              <a:buSzTx/>
              <a:buFontTx/>
              <a:buNone/>
              <a:defRPr sz="1400"/>
            </a:lvl1pPr>
            <a:lvl2pPr marL="0" indent="457200">
              <a:spcBef>
                <a:spcPts val="300"/>
              </a:spcBef>
              <a:buSzTx/>
              <a:buFontTx/>
              <a:buNone/>
              <a:defRPr sz="1400"/>
            </a:lvl2pPr>
            <a:lvl3pPr marL="0" indent="914400">
              <a:spcBef>
                <a:spcPts val="300"/>
              </a:spcBef>
              <a:buSzTx/>
              <a:buFontTx/>
              <a:buNone/>
              <a:defRPr sz="1400"/>
            </a:lvl3pPr>
            <a:lvl4pPr marL="0" indent="1371600">
              <a:spcBef>
                <a:spcPts val="300"/>
              </a:spcBef>
              <a:buSzTx/>
              <a:buFontTx/>
              <a:buNone/>
              <a:defRPr sz="1400"/>
            </a:lvl4pPr>
            <a:lvl5pPr marL="0" indent="1828800">
              <a:spcBef>
                <a:spcPts val="300"/>
              </a:spcBef>
              <a:buSzTx/>
              <a:buFontTx/>
              <a:buNone/>
              <a:defRPr sz="1400"/>
            </a:lvl5pPr>
          </a:lstStyle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5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608965" y="92074"/>
            <a:ext cx="10961370" cy="150812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normAutofit fontScale="100000" lnSpcReduction="0"/>
          </a:bodyPr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608965" y="1600200"/>
            <a:ext cx="10961370" cy="5257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normAutofit fontScale="100000" lnSpcReduction="0"/>
          </a:bodyPr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8428176" y="6414760"/>
            <a:ext cx="258624" cy="248305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>
                <a:solidFill>
                  <a:srgbClr val="888888"/>
                </a:solidFill>
              </a:defRPr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transition xmlns:p14="http://schemas.microsoft.com/office/powerpoint/2010/main" spd="med" advClick="1"/>
  <p:txStyles>
    <p:titleStyle>
      <a:lvl1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0" algn="ct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titleStyle>
    <p:bodyStyle>
      <a:lvl1pPr marL="342900" marR="0" indent="-3429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4572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457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
</file>

<file path=ppt/slides/_rels/slide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
</file>

<file path=ppt/slides/_rels/slide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
</file>

<file path=ppt/slides/_rels/slide1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
</file>

<file path=ppt/slides/_rels/slide1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
</file>

<file path=ppt/slides/_rels/slide1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
</file>

<file path=ppt/slides/_rels/slide1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
</file>

<file path=ppt/slides/_rels/slide1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
</file>

<file path=ppt/slides/_rels/slide1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
</file>

<file path=ppt/slides/_rels/slide1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
</file>

<file path=ppt/slides/_rels/slide1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
</file>

<file path=ppt/slides/_rels/slide1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
</file>

<file path=ppt/slides/_rels/slide1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
</file>

<file path=ppt/slides/_rels/slide2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
</file>

<file path=ppt/slides/_rels/slide2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
</file>

<file path=ppt/slides/_rels/slide2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
</file>

<file path=ppt/slides/_rels/slide2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
</file>

<file path=ppt/slides/_rels/slide2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
</file>

<file path=ppt/slides/_rels/slide2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
</file>

<file path=ppt/slides/_rels/slide2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
</file>

<file path=ppt/slides/_rels/slide2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
</file>

<file path=ppt/slides/_rels/slide28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
</file>

<file path=ppt/slides/_rels/slide29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
</file>

<file path=ppt/slides/_rels/slide30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
</file>

<file path=ppt/slides/_rels/slide3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
</file>

<file path=ppt/slides/_rels/slide3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TextBox 1"/>
          <p:cNvSpPr txBox="1"/>
          <p:nvPr/>
        </p:nvSpPr>
        <p:spPr>
          <a:xfrm>
            <a:off x="914399" y="2352719"/>
            <a:ext cx="10362897" cy="224400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04999"/>
              </a:lnSpc>
              <a:spcBef>
                <a:spcPts val="1800"/>
              </a:spcBef>
              <a:defRPr b="1" sz="20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BDA POP · SESSION 8</a:t>
            </a:r>
          </a:p>
          <a:p>
            <a:pPr algn="ctr">
              <a:spcBef>
                <a:spcPts val="1600"/>
              </a:spcBef>
              <a:defRPr b="1" sz="64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Hive &amp; Pig</a:t>
            </a:r>
          </a:p>
          <a:p>
            <a:pPr algn="ctr">
              <a:lnSpc>
                <a:spcPct val="120000"/>
              </a:lnSpc>
              <a:spcBef>
                <a:spcPts val="600"/>
              </a:spcBef>
              <a:defRPr sz="26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SQL and scripting on data that never leaves HDFS</a:t>
            </a:r>
          </a:p>
        </p:txBody>
      </p:sp>
      <p:sp>
        <p:nvSpPr>
          <p:cNvPr id="95" name="TextBox 2"/>
          <p:cNvSpPr txBox="1"/>
          <p:nvPr/>
        </p:nvSpPr>
        <p:spPr>
          <a:xfrm>
            <a:off x="914399" y="6126479"/>
            <a:ext cx="10362897" cy="302007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104999"/>
              </a:lnSpc>
              <a:spcBef>
                <a:spcPts val="600"/>
              </a:spcBef>
              <a:defRPr sz="15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Faiz  ·  09/22/2026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TextBox 1"/>
          <p:cNvSpPr txBox="1"/>
          <p:nvPr/>
        </p:nvSpPr>
        <p:spPr>
          <a:xfrm>
            <a:off x="914399" y="2390562"/>
            <a:ext cx="10362897" cy="2168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04999"/>
              </a:lnSpc>
              <a:spcBef>
                <a:spcPts val="2000"/>
              </a:spcBef>
              <a:defRPr b="1" sz="22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PART 1</a:t>
            </a:r>
          </a:p>
          <a:p>
            <a:pPr algn="ctr">
              <a:spcBef>
                <a:spcPts val="600"/>
              </a:spcBef>
              <a:defRPr b="1" sz="9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Hive</a:t>
            </a:r>
          </a:p>
        </p:txBody>
      </p:sp>
      <p:sp>
        <p:nvSpPr>
          <p:cNvPr id="100" name="Rectangle 2"/>
          <p:cNvSpPr/>
          <p:nvPr/>
        </p:nvSpPr>
        <p:spPr>
          <a:xfrm>
            <a:off x="5638189" y="5029200"/>
            <a:ext cx="914401" cy="64008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TextBox 1"/>
          <p:cNvSpPr txBox="1"/>
          <p:nvPr/>
        </p:nvSpPr>
        <p:spPr>
          <a:xfrm>
            <a:off x="1371599" y="2480000"/>
            <a:ext cx="9448497" cy="189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b="1" sz="5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SQL on data that never left HDFS.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Four pieces run every Hive query</a:t>
            </a:r>
          </a:p>
        </p:txBody>
      </p:sp>
      <p:sp>
        <p:nvSpPr>
          <p:cNvPr id="109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10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Driver — owns the session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Compiler — plans against the Metastore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Execution Engine — runs it on the cluster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TextBox 1"/>
          <p:cNvSpPr txBox="1"/>
          <p:nvPr/>
        </p:nvSpPr>
        <p:spPr>
          <a:xfrm>
            <a:off x="914399" y="502919"/>
            <a:ext cx="10362897" cy="66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3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How a HiveQL query actually runs</a:t>
            </a:r>
          </a:p>
        </p:txBody>
      </p:sp>
      <p:sp>
        <p:nvSpPr>
          <p:cNvPr id="115" name="Rounded Rectangle 2"/>
          <p:cNvSpPr/>
          <p:nvPr/>
        </p:nvSpPr>
        <p:spPr>
          <a:xfrm>
            <a:off x="914400" y="1737360"/>
            <a:ext cx="10362896" cy="429768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118" name="Rounded Rectangle 3"/>
          <p:cNvGrpSpPr/>
          <p:nvPr/>
        </p:nvGrpSpPr>
        <p:grpSpPr>
          <a:xfrm>
            <a:off x="914400" y="2699999"/>
            <a:ext cx="1816548" cy="1400001"/>
            <a:chOff x="0" y="0"/>
            <a:chExt cx="1816547" cy="1400000"/>
          </a:xfrm>
        </p:grpSpPr>
        <p:sp>
          <p:nvSpPr>
            <p:cNvPr id="116" name="Rounded Rectangle"/>
            <p:cNvSpPr/>
            <p:nvPr/>
          </p:nvSpPr>
          <p:spPr>
            <a:xfrm>
              <a:off x="0" y="0"/>
              <a:ext cx="1816548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117" name="HiveQL query"/>
            <p:cNvSpPr txBox="1"/>
            <p:nvPr/>
          </p:nvSpPr>
          <p:spPr>
            <a:xfrm>
              <a:off x="102863" y="559600"/>
              <a:ext cx="1610821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/>
              </a:lvl1pPr>
            </a:lstStyle>
            <a:p>
              <a:pPr/>
              <a:r>
                <a:t>HiveQL query</a:t>
              </a:r>
            </a:p>
          </p:txBody>
        </p:sp>
      </p:grpSp>
      <p:sp>
        <p:nvSpPr>
          <p:cNvPr id="119" name="TextBox 4"/>
          <p:cNvSpPr txBox="1"/>
          <p:nvPr/>
        </p:nvSpPr>
        <p:spPr>
          <a:xfrm>
            <a:off x="2735424" y="3233456"/>
            <a:ext cx="31108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22" name="Rounded Rectangle 5"/>
          <p:cNvGrpSpPr/>
          <p:nvPr/>
        </p:nvGrpSpPr>
        <p:grpSpPr>
          <a:xfrm>
            <a:off x="3050987" y="2699999"/>
            <a:ext cx="1816548" cy="1400001"/>
            <a:chOff x="0" y="0"/>
            <a:chExt cx="1816547" cy="1400000"/>
          </a:xfrm>
        </p:grpSpPr>
        <p:sp>
          <p:nvSpPr>
            <p:cNvPr id="120" name="Rounded Rectangle"/>
            <p:cNvSpPr/>
            <p:nvPr/>
          </p:nvSpPr>
          <p:spPr>
            <a:xfrm>
              <a:off x="0" y="0"/>
              <a:ext cx="1816548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121" name="Driver"/>
            <p:cNvSpPr txBox="1"/>
            <p:nvPr/>
          </p:nvSpPr>
          <p:spPr>
            <a:xfrm>
              <a:off x="102863" y="559600"/>
              <a:ext cx="1610821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/>
              </a:lvl1pPr>
            </a:lstStyle>
            <a:p>
              <a:pPr/>
              <a:r>
                <a:t>Driver</a:t>
              </a:r>
            </a:p>
          </p:txBody>
        </p:sp>
      </p:grpSp>
      <p:sp>
        <p:nvSpPr>
          <p:cNvPr id="123" name="TextBox 6"/>
          <p:cNvSpPr txBox="1"/>
          <p:nvPr/>
        </p:nvSpPr>
        <p:spPr>
          <a:xfrm>
            <a:off x="4872011" y="3233456"/>
            <a:ext cx="31108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26" name="Rounded Rectangle 7"/>
          <p:cNvGrpSpPr/>
          <p:nvPr/>
        </p:nvGrpSpPr>
        <p:grpSpPr>
          <a:xfrm>
            <a:off x="5187574" y="2699999"/>
            <a:ext cx="1816548" cy="1400001"/>
            <a:chOff x="0" y="0"/>
            <a:chExt cx="1816547" cy="1400000"/>
          </a:xfrm>
        </p:grpSpPr>
        <p:sp>
          <p:nvSpPr>
            <p:cNvPr id="124" name="Rounded Rectangle"/>
            <p:cNvSpPr/>
            <p:nvPr/>
          </p:nvSpPr>
          <p:spPr>
            <a:xfrm>
              <a:off x="0" y="0"/>
              <a:ext cx="1816548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125" name="Compiler + Metastore"/>
            <p:cNvSpPr txBox="1"/>
            <p:nvPr/>
          </p:nvSpPr>
          <p:spPr>
            <a:xfrm>
              <a:off x="102863" y="445300"/>
              <a:ext cx="1610821" cy="50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/>
              </a:pPr>
              <a:r>
                <a:t>Compiler +</a:t>
              </a:r>
              <a:br/>
              <a:r>
                <a:t>Metastore</a:t>
              </a:r>
            </a:p>
          </p:txBody>
        </p:sp>
      </p:grpSp>
      <p:sp>
        <p:nvSpPr>
          <p:cNvPr id="127" name="TextBox 8"/>
          <p:cNvSpPr txBox="1"/>
          <p:nvPr/>
        </p:nvSpPr>
        <p:spPr>
          <a:xfrm>
            <a:off x="7008598" y="3233456"/>
            <a:ext cx="311087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30" name="Rounded Rectangle 9"/>
          <p:cNvGrpSpPr/>
          <p:nvPr/>
        </p:nvGrpSpPr>
        <p:grpSpPr>
          <a:xfrm>
            <a:off x="7324160" y="2699999"/>
            <a:ext cx="1816548" cy="1400001"/>
            <a:chOff x="0" y="0"/>
            <a:chExt cx="1816547" cy="1400000"/>
          </a:xfrm>
        </p:grpSpPr>
        <p:sp>
          <p:nvSpPr>
            <p:cNvPr id="128" name="Rounded Rectangle"/>
            <p:cNvSpPr/>
            <p:nvPr/>
          </p:nvSpPr>
          <p:spPr>
            <a:xfrm>
              <a:off x="0" y="0"/>
              <a:ext cx="1816548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129" name="Execution Engine"/>
            <p:cNvSpPr txBox="1"/>
            <p:nvPr/>
          </p:nvSpPr>
          <p:spPr>
            <a:xfrm>
              <a:off x="102863" y="445300"/>
              <a:ext cx="1610821" cy="50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/>
              </a:pPr>
              <a:r>
                <a:t>Execution</a:t>
              </a:r>
              <a:br/>
              <a:r>
                <a:t>Engine</a:t>
              </a:r>
            </a:p>
          </p:txBody>
        </p:sp>
      </p:grpSp>
      <p:sp>
        <p:nvSpPr>
          <p:cNvPr id="131" name="TextBox 10"/>
          <p:cNvSpPr txBox="1"/>
          <p:nvPr/>
        </p:nvSpPr>
        <p:spPr>
          <a:xfrm>
            <a:off x="9145185" y="3233456"/>
            <a:ext cx="31108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134" name="Rounded Rectangle 11"/>
          <p:cNvGrpSpPr/>
          <p:nvPr/>
        </p:nvGrpSpPr>
        <p:grpSpPr>
          <a:xfrm>
            <a:off x="9460748" y="2699999"/>
            <a:ext cx="1816548" cy="1400001"/>
            <a:chOff x="0" y="0"/>
            <a:chExt cx="1816547" cy="1400000"/>
          </a:xfrm>
        </p:grpSpPr>
        <p:sp>
          <p:nvSpPr>
            <p:cNvPr id="132" name="Rounded Rectangle"/>
            <p:cNvSpPr/>
            <p:nvPr/>
          </p:nvSpPr>
          <p:spPr>
            <a:xfrm>
              <a:off x="0" y="0"/>
              <a:ext cx="1816548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133" name="HDFS"/>
            <p:cNvSpPr txBox="1"/>
            <p:nvPr/>
          </p:nvSpPr>
          <p:spPr>
            <a:xfrm>
              <a:off x="102863" y="559600"/>
              <a:ext cx="1610821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/>
              </a:lvl1pPr>
            </a:lstStyle>
            <a:p>
              <a:pPr/>
              <a:r>
                <a:t>HDFS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TextBox 1"/>
          <p:cNvSpPr txBox="1"/>
          <p:nvPr/>
        </p:nvSpPr>
        <p:spPr>
          <a:xfrm>
            <a:off x="914399" y="502919"/>
            <a:ext cx="10362897" cy="66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3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Managed vs. external tables</a:t>
            </a:r>
          </a:p>
        </p:txBody>
      </p:sp>
      <p:sp>
        <p:nvSpPr>
          <p:cNvPr id="139" name="Rounded Rectangle 2"/>
          <p:cNvSpPr/>
          <p:nvPr/>
        </p:nvSpPr>
        <p:spPr>
          <a:xfrm>
            <a:off x="914400" y="1737360"/>
            <a:ext cx="4965192" cy="4206241"/>
          </a:xfrm>
          <a:prstGeom prst="roundRect">
            <a:avLst>
              <a:gd name="adj" fmla="val 7000"/>
            </a:avLst>
          </a:prstGeom>
          <a:solidFill>
            <a:srgbClr val="EAE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0" name="TextBox 3"/>
          <p:cNvSpPr txBox="1"/>
          <p:nvPr/>
        </p:nvSpPr>
        <p:spPr>
          <a:xfrm>
            <a:off x="1325879" y="2103120"/>
            <a:ext cx="4142234" cy="1362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1400"/>
              </a:spcBef>
              <a:defRPr b="1" sz="24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Managed</a:t>
            </a:r>
          </a:p>
          <a:p>
            <a:pPr>
              <a:lnSpc>
                <a:spcPct val="135000"/>
              </a:lnSpc>
              <a:spcBef>
                <a:spcPts val="600"/>
              </a:spcBef>
              <a:defRPr sz="2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Hive owns the data — DROP TABLE deletes the HDFS files too.</a:t>
            </a:r>
          </a:p>
        </p:txBody>
      </p:sp>
      <p:sp>
        <p:nvSpPr>
          <p:cNvPr id="141" name="Rounded Rectangle 4"/>
          <p:cNvSpPr/>
          <p:nvPr/>
        </p:nvSpPr>
        <p:spPr>
          <a:xfrm>
            <a:off x="6309359" y="1737360"/>
            <a:ext cx="4965193" cy="4206241"/>
          </a:xfrm>
          <a:prstGeom prst="roundRect">
            <a:avLst>
              <a:gd name="adj" fmla="val 7000"/>
            </a:avLst>
          </a:prstGeom>
          <a:solidFill>
            <a:srgbClr val="EAE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2" name="TextBox 5"/>
          <p:cNvSpPr txBox="1"/>
          <p:nvPr/>
        </p:nvSpPr>
        <p:spPr>
          <a:xfrm>
            <a:off x="6720840" y="2103120"/>
            <a:ext cx="4142233" cy="1362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1400"/>
              </a:spcBef>
              <a:defRPr b="1" sz="24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External</a:t>
            </a:r>
          </a:p>
          <a:p>
            <a:pPr>
              <a:lnSpc>
                <a:spcPct val="135000"/>
              </a:lnSpc>
              <a:spcBef>
                <a:spcPts val="600"/>
              </a:spcBef>
              <a:defRPr sz="2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Hive owns only the schema — the files stay another pipeline's.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Hive's data model</a:t>
            </a:r>
          </a:p>
        </p:txBody>
      </p:sp>
      <p:sp>
        <p:nvSpPr>
          <p:cNvPr id="147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48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Partitions — one HDFS folder per column value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Buckets — a fixed hash split within a partition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Both exist to avoid reading what you don't need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TextBox 1"/>
          <p:cNvSpPr txBox="1"/>
          <p:nvPr/>
        </p:nvSpPr>
        <p:spPr>
          <a:xfrm>
            <a:off x="914399" y="2132583"/>
            <a:ext cx="10362897" cy="2684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spcBef>
                <a:spcPts val="1000"/>
              </a:spcBef>
              <a:defRPr b="1" sz="1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15×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defRPr sz="3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fewer rows read with one partitioned query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TextBox 1"/>
          <p:cNvSpPr txBox="1"/>
          <p:nvPr/>
        </p:nvSpPr>
        <p:spPr>
          <a:xfrm>
            <a:off x="914399" y="502919"/>
            <a:ext cx="10362897" cy="57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3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Partitioned table, partition-pruned query</a:t>
            </a:r>
          </a:p>
        </p:txBody>
      </p:sp>
      <p:sp>
        <p:nvSpPr>
          <p:cNvPr id="157" name="Rounded Rectangle 2"/>
          <p:cNvSpPr/>
          <p:nvPr/>
        </p:nvSpPr>
        <p:spPr>
          <a:xfrm>
            <a:off x="914400" y="1554480"/>
            <a:ext cx="10362896" cy="4572001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58" name="TextBox 3"/>
          <p:cNvSpPr txBox="1"/>
          <p:nvPr/>
        </p:nvSpPr>
        <p:spPr>
          <a:xfrm>
            <a:off x="1325879" y="1874518"/>
            <a:ext cx="9537194" cy="343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CREATE TABLE orders (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order_id INT, restaurant_id INT,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delivery_time_minutes INT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)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PARTITIONED BY (order_date STRING);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SELECT city, AVG(delivery_time_minutes)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FROM orders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WHERE order_date = '2026-09-06'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GROUP BY city;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TextBox 1"/>
          <p:cNvSpPr txBox="1"/>
          <p:nvPr/>
        </p:nvSpPr>
        <p:spPr>
          <a:xfrm>
            <a:off x="914399" y="2132583"/>
            <a:ext cx="10362897" cy="2684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spcBef>
                <a:spcPts val="1000"/>
              </a:spcBef>
              <a:defRPr b="1" sz="1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5,401 → 361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defRPr sz="3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rows scanned, naive vs. partition-pruned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TextBox 1"/>
          <p:cNvSpPr txBox="1"/>
          <p:nvPr/>
        </p:nvSpPr>
        <p:spPr>
          <a:xfrm>
            <a:off x="1371599" y="2480000"/>
            <a:ext cx="9448497" cy="189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b="1" sz="5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Partition pruning: scan today, not everything.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partition pruning saves at scale</a:t>
            </a:r>
          </a:p>
        </p:txBody>
      </p:sp>
      <p:sp>
        <p:nvSpPr>
          <p:cNvPr id="171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72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Less cluster time paying for scans nobody needed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Faster answers for an analyst waiting on a query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Lower compute cost per question asked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TextBox 1"/>
          <p:cNvSpPr txBox="1"/>
          <p:nvPr/>
        </p:nvSpPr>
        <p:spPr>
          <a:xfrm>
            <a:off x="914399" y="1641262"/>
            <a:ext cx="10362897" cy="3666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04999"/>
              </a:lnSpc>
              <a:spcBef>
                <a:spcPts val="2000"/>
              </a:spcBef>
              <a:defRPr b="1" sz="22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PART 2</a:t>
            </a:r>
          </a:p>
          <a:p>
            <a:pPr algn="ctr">
              <a:spcBef>
                <a:spcPts val="600"/>
              </a:spcBef>
              <a:defRPr b="1" sz="9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 Mess Underneath</a:t>
            </a:r>
          </a:p>
        </p:txBody>
      </p:sp>
      <p:sp>
        <p:nvSpPr>
          <p:cNvPr id="177" name="Rectangle 2"/>
          <p:cNvSpPr/>
          <p:nvPr/>
        </p:nvSpPr>
        <p:spPr>
          <a:xfrm>
            <a:off x="5638189" y="5029200"/>
            <a:ext cx="914401" cy="64008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raw order logs actually look like</a:t>
            </a:r>
          </a:p>
        </p:txBody>
      </p:sp>
      <p:sp>
        <p:nvSpPr>
          <p:cNvPr id="182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3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Missing delivery times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Negative, nonsensical values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No error raised, just a quietly wrong AVG()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Why this happens at real platform scale</a:t>
            </a:r>
          </a:p>
        </p:txBody>
      </p:sp>
      <p:sp>
        <p:nvSpPr>
          <p:cNvPr id="188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189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Millions of app events a day, many code paths writing them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Retries, crashes, and partial writes create garbage rows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Small scale: noise. Platform scale: a biased average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TextBox 1"/>
          <p:cNvSpPr txBox="1"/>
          <p:nvPr/>
        </p:nvSpPr>
        <p:spPr>
          <a:xfrm>
            <a:off x="914399" y="2132583"/>
            <a:ext cx="10362897" cy="2684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spcBef>
                <a:spcPts val="1000"/>
              </a:spcBef>
              <a:defRPr b="1" sz="1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4%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defRPr sz="3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of raw order-log rows are invalid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TextBox 1"/>
          <p:cNvSpPr txBox="1"/>
          <p:nvPr/>
        </p:nvSpPr>
        <p:spPr>
          <a:xfrm>
            <a:off x="914399" y="2390562"/>
            <a:ext cx="10362897" cy="21683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04999"/>
              </a:lnSpc>
              <a:spcBef>
                <a:spcPts val="2000"/>
              </a:spcBef>
              <a:defRPr b="1" sz="22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PART 3</a:t>
            </a:r>
          </a:p>
          <a:p>
            <a:pPr algn="ctr">
              <a:spcBef>
                <a:spcPts val="600"/>
              </a:spcBef>
              <a:defRPr b="1" sz="9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Pig</a:t>
            </a:r>
          </a:p>
        </p:txBody>
      </p:sp>
      <p:sp>
        <p:nvSpPr>
          <p:cNvPr id="198" name="Rectangle 2"/>
          <p:cNvSpPr/>
          <p:nvPr/>
        </p:nvSpPr>
        <p:spPr>
          <a:xfrm>
            <a:off x="5638189" y="5029200"/>
            <a:ext cx="914401" cy="64008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TextBox 1"/>
          <p:cNvSpPr txBox="1"/>
          <p:nvPr/>
        </p:nvSpPr>
        <p:spPr>
          <a:xfrm>
            <a:off x="1371599" y="2480000"/>
            <a:ext cx="9448497" cy="189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b="1" sz="5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Pig Latin cleans the mess before Hive.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Pig is built for</a:t>
            </a:r>
          </a:p>
        </p:txBody>
      </p:sp>
      <p:sp>
        <p:nvSpPr>
          <p:cNvPr id="207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08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A readable, step-by-step pipeline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LOAD, FILTER, GROUP, JOIN, STORE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Compiles down to MapReduce, like Hive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TextBox 1"/>
          <p:cNvSpPr txBox="1"/>
          <p:nvPr/>
        </p:nvSpPr>
        <p:spPr>
          <a:xfrm>
            <a:off x="914399" y="502919"/>
            <a:ext cx="10362897" cy="66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3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cleanup pipeline in three stages</a:t>
            </a:r>
          </a:p>
        </p:txBody>
      </p:sp>
      <p:sp>
        <p:nvSpPr>
          <p:cNvPr id="213" name="TextBox 2"/>
          <p:cNvSpPr txBox="1"/>
          <p:nvPr/>
        </p:nvSpPr>
        <p:spPr>
          <a:xfrm>
            <a:off x="914400" y="1737359"/>
            <a:ext cx="2843784" cy="2422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800"/>
              </a:spcBef>
              <a:defRPr b="1" sz="64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1</a:t>
            </a:r>
          </a:p>
          <a:p>
            <a:pPr>
              <a:lnSpc>
                <a:spcPct val="104999"/>
              </a:lnSpc>
              <a:spcBef>
                <a:spcPts val="1000"/>
              </a:spcBef>
              <a:defRPr b="1" sz="24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LOAD</a:t>
            </a:r>
          </a:p>
          <a:p>
            <a:pPr>
              <a:lnSpc>
                <a:spcPct val="135000"/>
              </a:lnSpc>
              <a:spcBef>
                <a:spcPts val="600"/>
              </a:spcBef>
              <a:defRPr sz="19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Read the raw order log as-is</a:t>
            </a:r>
          </a:p>
        </p:txBody>
      </p:sp>
      <p:sp>
        <p:nvSpPr>
          <p:cNvPr id="214" name="TextBox 3"/>
          <p:cNvSpPr txBox="1"/>
          <p:nvPr/>
        </p:nvSpPr>
        <p:spPr>
          <a:xfrm>
            <a:off x="4672584" y="1737359"/>
            <a:ext cx="2843785" cy="2422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800"/>
              </a:spcBef>
              <a:defRPr b="1" sz="64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2</a:t>
            </a:r>
          </a:p>
          <a:p>
            <a:pPr>
              <a:lnSpc>
                <a:spcPct val="104999"/>
              </a:lnSpc>
              <a:spcBef>
                <a:spcPts val="1000"/>
              </a:spcBef>
              <a:defRPr b="1" sz="24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FILTER</a:t>
            </a:r>
          </a:p>
          <a:p>
            <a:pPr>
              <a:lnSpc>
                <a:spcPct val="135000"/>
              </a:lnSpc>
              <a:spcBef>
                <a:spcPts val="600"/>
              </a:spcBef>
              <a:defRPr sz="19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Drop rows with missing or negative times</a:t>
            </a:r>
          </a:p>
        </p:txBody>
      </p:sp>
      <p:sp>
        <p:nvSpPr>
          <p:cNvPr id="215" name="TextBox 4"/>
          <p:cNvSpPr txBox="1"/>
          <p:nvPr/>
        </p:nvSpPr>
        <p:spPr>
          <a:xfrm>
            <a:off x="8430768" y="1737359"/>
            <a:ext cx="2843785" cy="24225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800"/>
              </a:spcBef>
              <a:defRPr b="1" sz="64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3</a:t>
            </a:r>
          </a:p>
          <a:p>
            <a:pPr>
              <a:lnSpc>
                <a:spcPct val="104999"/>
              </a:lnSpc>
              <a:spcBef>
                <a:spcPts val="1000"/>
              </a:spcBef>
              <a:defRPr b="1" sz="24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STORE</a:t>
            </a:r>
          </a:p>
          <a:p>
            <a:pPr>
              <a:lnSpc>
                <a:spcPct val="135000"/>
              </a:lnSpc>
              <a:spcBef>
                <a:spcPts val="600"/>
              </a:spcBef>
              <a:defRPr sz="19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Write the clean table Hive queries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TextBox 1"/>
          <p:cNvSpPr txBox="1"/>
          <p:nvPr/>
        </p:nvSpPr>
        <p:spPr>
          <a:xfrm>
            <a:off x="914399" y="502919"/>
            <a:ext cx="10362897" cy="57495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32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The Pig Latin for that pipeline</a:t>
            </a:r>
          </a:p>
        </p:txBody>
      </p:sp>
      <p:sp>
        <p:nvSpPr>
          <p:cNvPr id="220" name="Rounded Rectangle 2"/>
          <p:cNvSpPr/>
          <p:nvPr/>
        </p:nvSpPr>
        <p:spPr>
          <a:xfrm>
            <a:off x="914400" y="1554480"/>
            <a:ext cx="10362896" cy="4572001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21" name="TextBox 3"/>
          <p:cNvSpPr txBox="1"/>
          <p:nvPr/>
        </p:nvSpPr>
        <p:spPr>
          <a:xfrm>
            <a:off x="1325879" y="1874518"/>
            <a:ext cx="9537194" cy="343154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raw = LOAD 'orders_raw.csv'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USING PigStorage(',')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AS (order_id:int,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 delivery_time_minutes:int);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clean = FILTER raw BY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  delivery_time_minutes &gt; 0;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STORE clean INTO</a:t>
            </a:r>
          </a:p>
          <a:p>
            <a:pPr>
              <a:lnSpc>
                <a:spcPct val="125000"/>
              </a:lnSpc>
              <a:spcBef>
                <a:spcPts val="200"/>
              </a:spcBef>
              <a:defRPr>
                <a:latin typeface="Courier New"/>
                <a:ea typeface="Courier New"/>
                <a:cs typeface="Courier New"/>
                <a:sym typeface="Courier New"/>
              </a:defRPr>
            </a:pPr>
            <a:r>
              <a:t>      '/warehouse/orders_clean';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TextBox 1"/>
          <p:cNvSpPr txBox="1"/>
          <p:nvPr/>
        </p:nvSpPr>
        <p:spPr>
          <a:xfrm>
            <a:off x="914399" y="2132583"/>
            <a:ext cx="10362897" cy="268427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spcBef>
                <a:spcPts val="1000"/>
              </a:spcBef>
              <a:defRPr b="1" sz="130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4% → 0%</a:t>
            </a:r>
          </a:p>
          <a:p>
            <a:pPr algn="ctr">
              <a:lnSpc>
                <a:spcPct val="125000"/>
              </a:lnSpc>
              <a:spcBef>
                <a:spcPts val="600"/>
              </a:spcBef>
              <a:defRPr sz="3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invalid rows, before and after the FILTER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TextBox 1"/>
          <p:cNvSpPr txBox="1"/>
          <p:nvPr/>
        </p:nvSpPr>
        <p:spPr>
          <a:xfrm>
            <a:off x="914399" y="502919"/>
            <a:ext cx="10362897" cy="66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3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Hive vs. Pig</a:t>
            </a:r>
          </a:p>
        </p:txBody>
      </p:sp>
      <p:sp>
        <p:nvSpPr>
          <p:cNvPr id="230" name="Rounded Rectangle 2"/>
          <p:cNvSpPr/>
          <p:nvPr/>
        </p:nvSpPr>
        <p:spPr>
          <a:xfrm>
            <a:off x="914400" y="1737360"/>
            <a:ext cx="4965192" cy="4206241"/>
          </a:xfrm>
          <a:prstGeom prst="roundRect">
            <a:avLst>
              <a:gd name="adj" fmla="val 7000"/>
            </a:avLst>
          </a:prstGeom>
          <a:solidFill>
            <a:srgbClr val="EAE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1" name="TextBox 3"/>
          <p:cNvSpPr txBox="1"/>
          <p:nvPr/>
        </p:nvSpPr>
        <p:spPr>
          <a:xfrm>
            <a:off x="1325879" y="2103120"/>
            <a:ext cx="4142234" cy="1362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1400"/>
              </a:spcBef>
              <a:defRPr b="1" sz="24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Hive</a:t>
            </a:r>
          </a:p>
          <a:p>
            <a:pPr>
              <a:lnSpc>
                <a:spcPct val="135000"/>
              </a:lnSpc>
              <a:spcBef>
                <a:spcPts val="600"/>
              </a:spcBef>
              <a:defRPr sz="2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Declarative SQL — for someone who already knows the question.</a:t>
            </a:r>
          </a:p>
        </p:txBody>
      </p:sp>
      <p:sp>
        <p:nvSpPr>
          <p:cNvPr id="232" name="Rounded Rectangle 4"/>
          <p:cNvSpPr/>
          <p:nvPr/>
        </p:nvSpPr>
        <p:spPr>
          <a:xfrm>
            <a:off x="6309359" y="1737360"/>
            <a:ext cx="4965193" cy="4206241"/>
          </a:xfrm>
          <a:prstGeom prst="roundRect">
            <a:avLst>
              <a:gd name="adj" fmla="val 7000"/>
            </a:avLst>
          </a:prstGeom>
          <a:solidFill>
            <a:srgbClr val="EAEAED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33" name="TextBox 5"/>
          <p:cNvSpPr txBox="1"/>
          <p:nvPr/>
        </p:nvSpPr>
        <p:spPr>
          <a:xfrm>
            <a:off x="6720840" y="2103120"/>
            <a:ext cx="4142233" cy="13621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04999"/>
              </a:lnSpc>
              <a:spcBef>
                <a:spcPts val="1400"/>
              </a:spcBef>
              <a:defRPr b="1" sz="24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Pig</a:t>
            </a:r>
          </a:p>
          <a:p>
            <a:pPr>
              <a:lnSpc>
                <a:spcPct val="135000"/>
              </a:lnSpc>
              <a:spcBef>
                <a:spcPts val="600"/>
              </a:spcBef>
              <a:defRPr sz="2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Procedural script — for someone who has to clean the answer first.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TextBox 1"/>
          <p:cNvSpPr txBox="1"/>
          <p:nvPr/>
        </p:nvSpPr>
        <p:spPr>
          <a:xfrm>
            <a:off x="914399" y="1641262"/>
            <a:ext cx="10362897" cy="366691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04999"/>
              </a:lnSpc>
              <a:spcBef>
                <a:spcPts val="2000"/>
              </a:spcBef>
              <a:defRPr b="1" sz="2200">
                <a:solidFill>
                  <a:srgbClr val="0071E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PART 4</a:t>
            </a:r>
          </a:p>
          <a:p>
            <a:pPr algn="ctr">
              <a:spcBef>
                <a:spcPts val="600"/>
              </a:spcBef>
              <a:defRPr b="1" sz="96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The Rest Of The Stack</a:t>
            </a:r>
          </a:p>
        </p:txBody>
      </p:sp>
      <p:sp>
        <p:nvSpPr>
          <p:cNvPr id="238" name="Rectangle 2"/>
          <p:cNvSpPr/>
          <p:nvPr/>
        </p:nvSpPr>
        <p:spPr>
          <a:xfrm>
            <a:off x="5638189" y="5029200"/>
            <a:ext cx="914401" cy="64008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Getting raw data into HDFS</a:t>
            </a:r>
          </a:p>
        </p:txBody>
      </p:sp>
      <p:sp>
        <p:nvSpPr>
          <p:cNvPr id="243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44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Sqoop — bulk transfer from a relational database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Flume — continuous log and event streaming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Both land data before Pig ever runs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Keeping it all running</a:t>
            </a:r>
          </a:p>
        </p:txBody>
      </p:sp>
      <p:sp>
        <p:nvSpPr>
          <p:cNvPr id="249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50" name="TextBox 3"/>
          <p:cNvSpPr txBox="1"/>
          <p:nvPr/>
        </p:nvSpPr>
        <p:spPr>
          <a:xfrm>
            <a:off x="914399" y="1828799"/>
            <a:ext cx="10362897" cy="272219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Oozie — schedules and chains the jobs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ZooKeeper — keeps cluster services agreeing who's in charge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Neither one touches the data itself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TextBox 1"/>
          <p:cNvSpPr txBox="1"/>
          <p:nvPr/>
        </p:nvSpPr>
        <p:spPr>
          <a:xfrm>
            <a:off x="914399" y="502919"/>
            <a:ext cx="10362897" cy="66164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38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A realistic nightly pipeline</a:t>
            </a:r>
          </a:p>
        </p:txBody>
      </p:sp>
      <p:sp>
        <p:nvSpPr>
          <p:cNvPr id="255" name="Rounded Rectangle 2"/>
          <p:cNvSpPr/>
          <p:nvPr/>
        </p:nvSpPr>
        <p:spPr>
          <a:xfrm>
            <a:off x="357503" y="1737360"/>
            <a:ext cx="11464294" cy="4297680"/>
          </a:xfrm>
          <a:prstGeom prst="roundRect">
            <a:avLst>
              <a:gd name="adj" fmla="val 7000"/>
            </a:avLst>
          </a:prstGeom>
          <a:solidFill>
            <a:srgbClr val="F5F5F7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grpSp>
        <p:nvGrpSpPr>
          <p:cNvPr id="258" name="Rounded Rectangle 3"/>
          <p:cNvGrpSpPr/>
          <p:nvPr/>
        </p:nvGrpSpPr>
        <p:grpSpPr>
          <a:xfrm>
            <a:off x="457200" y="2699999"/>
            <a:ext cx="1999467" cy="1400001"/>
            <a:chOff x="0" y="0"/>
            <a:chExt cx="1999466" cy="1400000"/>
          </a:xfrm>
        </p:grpSpPr>
        <p:sp>
          <p:nvSpPr>
            <p:cNvPr id="256" name="Rounded Rectangle"/>
            <p:cNvSpPr/>
            <p:nvPr/>
          </p:nvSpPr>
          <p:spPr>
            <a:xfrm>
              <a:off x="0" y="0"/>
              <a:ext cx="1999467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257" name="Sqoop / Flume"/>
            <p:cNvSpPr txBox="1"/>
            <p:nvPr/>
          </p:nvSpPr>
          <p:spPr>
            <a:xfrm>
              <a:off x="102863" y="445300"/>
              <a:ext cx="1793740" cy="50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/>
              </a:pPr>
              <a:r>
                <a:t>Sqoop /</a:t>
              </a:r>
              <a:br/>
              <a:r>
                <a:t>Flume</a:t>
              </a:r>
            </a:p>
          </p:txBody>
        </p:sp>
      </p:grpSp>
      <p:sp>
        <p:nvSpPr>
          <p:cNvPr id="259" name="TextBox 4"/>
          <p:cNvSpPr txBox="1"/>
          <p:nvPr/>
        </p:nvSpPr>
        <p:spPr>
          <a:xfrm>
            <a:off x="2461144" y="3233456"/>
            <a:ext cx="31108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62" name="Rounded Rectangle 5"/>
          <p:cNvGrpSpPr/>
          <p:nvPr/>
        </p:nvGrpSpPr>
        <p:grpSpPr>
          <a:xfrm>
            <a:off x="2776707" y="2699999"/>
            <a:ext cx="1999467" cy="1400001"/>
            <a:chOff x="0" y="0"/>
            <a:chExt cx="1999466" cy="1400000"/>
          </a:xfrm>
        </p:grpSpPr>
        <p:sp>
          <p:nvSpPr>
            <p:cNvPr id="260" name="Rounded Rectangle"/>
            <p:cNvSpPr/>
            <p:nvPr/>
          </p:nvSpPr>
          <p:spPr>
            <a:xfrm>
              <a:off x="0" y="0"/>
              <a:ext cx="1999467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261" name="HDFS (raw)"/>
            <p:cNvSpPr txBox="1"/>
            <p:nvPr/>
          </p:nvSpPr>
          <p:spPr>
            <a:xfrm>
              <a:off x="102863" y="445300"/>
              <a:ext cx="1793740" cy="50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/>
              </a:pPr>
              <a:r>
                <a:t>HDFS</a:t>
              </a:r>
              <a:br/>
              <a:r>
                <a:t>(raw)</a:t>
              </a:r>
            </a:p>
          </p:txBody>
        </p:sp>
      </p:grpSp>
      <p:sp>
        <p:nvSpPr>
          <p:cNvPr id="263" name="TextBox 6"/>
          <p:cNvSpPr txBox="1"/>
          <p:nvPr/>
        </p:nvSpPr>
        <p:spPr>
          <a:xfrm>
            <a:off x="4780651" y="3233456"/>
            <a:ext cx="31108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66" name="Rounded Rectangle 7"/>
          <p:cNvGrpSpPr/>
          <p:nvPr/>
        </p:nvGrpSpPr>
        <p:grpSpPr>
          <a:xfrm>
            <a:off x="5096214" y="2699999"/>
            <a:ext cx="1999468" cy="1400001"/>
            <a:chOff x="0" y="0"/>
            <a:chExt cx="1999466" cy="1400000"/>
          </a:xfrm>
        </p:grpSpPr>
        <p:sp>
          <p:nvSpPr>
            <p:cNvPr id="264" name="Rounded Rectangle"/>
            <p:cNvSpPr/>
            <p:nvPr/>
          </p:nvSpPr>
          <p:spPr>
            <a:xfrm>
              <a:off x="0" y="0"/>
              <a:ext cx="1999467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265" name="Pig (clean)"/>
            <p:cNvSpPr txBox="1"/>
            <p:nvPr/>
          </p:nvSpPr>
          <p:spPr>
            <a:xfrm>
              <a:off x="102863" y="445300"/>
              <a:ext cx="1793740" cy="50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/>
              </a:pPr>
              <a:r>
                <a:t>Pig</a:t>
              </a:r>
              <a:br/>
              <a:r>
                <a:t>(clean)</a:t>
              </a:r>
            </a:p>
          </p:txBody>
        </p:sp>
      </p:grpSp>
      <p:sp>
        <p:nvSpPr>
          <p:cNvPr id="267" name="TextBox 8"/>
          <p:cNvSpPr txBox="1"/>
          <p:nvPr/>
        </p:nvSpPr>
        <p:spPr>
          <a:xfrm>
            <a:off x="7100158" y="3233456"/>
            <a:ext cx="31108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70" name="Rounded Rectangle 9"/>
          <p:cNvGrpSpPr/>
          <p:nvPr/>
        </p:nvGrpSpPr>
        <p:grpSpPr>
          <a:xfrm>
            <a:off x="7415720" y="2699999"/>
            <a:ext cx="1999468" cy="1400001"/>
            <a:chOff x="0" y="0"/>
            <a:chExt cx="1999466" cy="1400000"/>
          </a:xfrm>
        </p:grpSpPr>
        <p:sp>
          <p:nvSpPr>
            <p:cNvPr id="268" name="Rounded Rectangle"/>
            <p:cNvSpPr/>
            <p:nvPr/>
          </p:nvSpPr>
          <p:spPr>
            <a:xfrm>
              <a:off x="0" y="0"/>
              <a:ext cx="1999467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269" name="Hive (query)"/>
            <p:cNvSpPr txBox="1"/>
            <p:nvPr/>
          </p:nvSpPr>
          <p:spPr>
            <a:xfrm>
              <a:off x="102863" y="445300"/>
              <a:ext cx="1793740" cy="5094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/>
            <a:p>
              <a:pPr algn="ctr">
                <a:defRPr b="1" sz="1400"/>
              </a:pPr>
              <a:r>
                <a:t>Hive</a:t>
              </a:r>
              <a:br/>
              <a:r>
                <a:t>(query)</a:t>
              </a:r>
            </a:p>
          </p:txBody>
        </p:sp>
      </p:grpSp>
      <p:sp>
        <p:nvSpPr>
          <p:cNvPr id="271" name="TextBox 10"/>
          <p:cNvSpPr txBox="1"/>
          <p:nvPr/>
        </p:nvSpPr>
        <p:spPr>
          <a:xfrm>
            <a:off x="9419665" y="3233456"/>
            <a:ext cx="311086" cy="3330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wrap="none" lIns="45719" rIns="45719" anchor="ctr">
            <a:spAutoFit/>
          </a:bodyPr>
          <a:lstStyle>
            <a:lvl1pPr algn="ctr">
              <a:defRPr>
                <a:solidFill>
                  <a:srgbClr val="86868B"/>
                </a:solidFill>
              </a:defRPr>
            </a:lvl1pPr>
          </a:lstStyle>
          <a:p>
            <a:pPr/>
            <a:r>
              <a:t>→</a:t>
            </a:r>
          </a:p>
        </p:txBody>
      </p:sp>
      <p:grpSp>
        <p:nvGrpSpPr>
          <p:cNvPr id="274" name="Rounded Rectangle 11"/>
          <p:cNvGrpSpPr/>
          <p:nvPr/>
        </p:nvGrpSpPr>
        <p:grpSpPr>
          <a:xfrm>
            <a:off x="9735228" y="2699999"/>
            <a:ext cx="1999468" cy="1400001"/>
            <a:chOff x="0" y="0"/>
            <a:chExt cx="1999466" cy="1400000"/>
          </a:xfrm>
        </p:grpSpPr>
        <p:sp>
          <p:nvSpPr>
            <p:cNvPr id="272" name="Rounded Rectangle"/>
            <p:cNvSpPr/>
            <p:nvPr/>
          </p:nvSpPr>
          <p:spPr>
            <a:xfrm>
              <a:off x="0" y="0"/>
              <a:ext cx="1999467" cy="1400001"/>
            </a:xfrm>
            <a:prstGeom prst="roundRect">
              <a:avLst>
                <a:gd name="adj" fmla="val 12000"/>
              </a:avLst>
            </a:prstGeom>
            <a:solidFill>
              <a:srgbClr val="EAEAED"/>
            </a:solidFill>
            <a:ln w="15875" cap="flat">
              <a:solidFill>
                <a:srgbClr val="0071E3"/>
              </a:solidFill>
              <a:prstDash val="solid"/>
              <a:round/>
            </a:ln>
            <a:effectLst>
              <a:outerShdw sx="100000" sy="100000" kx="0" ky="0" algn="b" rotWithShape="0" blurRad="38100" dist="23000" dir="5400000">
                <a:srgbClr val="000000">
                  <a:alpha val="35000"/>
                </a:srgbClr>
              </a:outerShdw>
            </a:effectLst>
          </p:spPr>
          <p:txBody>
            <a:bodyPr wrap="square" lIns="45719" tIns="45719" rIns="45719" bIns="45719" numCol="1" anchor="ctr">
              <a:noAutofit/>
            </a:bodyPr>
            <a:lstStyle/>
            <a:p>
              <a:pPr algn="ctr">
                <a:defRPr b="1" sz="1400"/>
              </a:pPr>
            </a:p>
          </p:txBody>
        </p:sp>
        <p:sp>
          <p:nvSpPr>
            <p:cNvPr id="273" name="Answers"/>
            <p:cNvSpPr txBox="1"/>
            <p:nvPr/>
          </p:nvSpPr>
          <p:spPr>
            <a:xfrm>
              <a:off x="102863" y="559600"/>
              <a:ext cx="1793740" cy="280800"/>
            </a:xfrm>
            <a:prstGeom prst="rect">
              <a:avLst/>
            </a:prstGeom>
            <a:noFill/>
            <a:ln w="12700" cap="flat">
              <a:noFill/>
              <a:miter lim="400000"/>
            </a:ln>
            <a:effectLst/>
            <a:extLst>
              <a:ext uri="{C572A759-6A51-4108-AA02-DFA0A04FC94B}">
                <ma14:wrappingTextBoxFlag xmlns:ma14="http://schemas.microsoft.com/office/mac/drawingml/2011/main" val="1"/>
              </a:ext>
            </a:extLst>
          </p:spPr>
          <p:txBody>
            <a:bodyPr wrap="square" lIns="45719" tIns="45719" rIns="45719" bIns="45719" numCol="1" anchor="ctr">
              <a:spAutoFit/>
            </a:bodyPr>
            <a:lstStyle>
              <a:lvl1pPr algn="ctr">
                <a:defRPr b="1" sz="1400"/>
              </a:lvl1pPr>
            </a:lstStyle>
            <a:p>
              <a:pPr/>
              <a:r>
                <a:t>Answers</a:t>
              </a:r>
            </a:p>
          </p:txBody>
        </p:sp>
      </p:grpSp>
    </p:spTree>
  </p:cSld>
  <p:clrMapOvr>
    <a:masterClrMapping/>
  </p:clrMapOvr>
  <p:transition xmlns:p14="http://schemas.microsoft.com/office/powerpoint/2010/main" spd="med" advClick="1"/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TextBox 1"/>
          <p:cNvSpPr txBox="1"/>
          <p:nvPr/>
        </p:nvSpPr>
        <p:spPr>
          <a:xfrm>
            <a:off x="1371599" y="2480000"/>
            <a:ext cx="9448497" cy="189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b="1" sz="5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Every unstructured-data problem already has its tool.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TextBox 1"/>
          <p:cNvSpPr txBox="1"/>
          <p:nvPr/>
        </p:nvSpPr>
        <p:spPr>
          <a:xfrm>
            <a:off x="1645919" y="1940671"/>
            <a:ext cx="8899857" cy="288521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lnSpc>
                <a:spcPct val="130000"/>
              </a:lnSpc>
              <a:spcBef>
                <a:spcPts val="2200"/>
              </a:spcBef>
              <a:defRPr i="1" sz="3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“Distributed systems don't remove the mess in your data — they just give you a place big enough to clean it up.”</a:t>
            </a:r>
          </a:p>
          <a:p>
            <a:pPr algn="ctr">
              <a:lnSpc>
                <a:spcPct val="104999"/>
              </a:lnSpc>
              <a:spcBef>
                <a:spcPts val="600"/>
              </a:spcBef>
              <a:defRPr sz="20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Big Data engineering maxim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TextBox 1"/>
          <p:cNvSpPr txBox="1"/>
          <p:nvPr/>
        </p:nvSpPr>
        <p:spPr>
          <a:xfrm>
            <a:off x="1371599" y="2480000"/>
            <a:ext cx="9448497" cy="189799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>
            <a:lvl1pPr algn="ctr">
              <a:lnSpc>
                <a:spcPct val="115000"/>
              </a:lnSpc>
              <a:spcBef>
                <a:spcPts val="600"/>
              </a:spcBef>
              <a:defRPr b="1" sz="54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Raw logs in. Pig cleans. Hive answers.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TextBox 1"/>
          <p:cNvSpPr txBox="1"/>
          <p:nvPr/>
        </p:nvSpPr>
        <p:spPr>
          <a:xfrm>
            <a:off x="914399" y="502919"/>
            <a:ext cx="10362897" cy="69900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04999"/>
              </a:lnSpc>
              <a:spcBef>
                <a:spcPts val="600"/>
              </a:spcBef>
              <a:defRPr b="1" sz="4000">
                <a:latin typeface="Helvetica Neue"/>
                <a:ea typeface="Helvetica Neue"/>
                <a:cs typeface="Helvetica Neue"/>
                <a:sym typeface="Helvetica Neue"/>
              </a:defRPr>
            </a:lvl1pPr>
          </a:lstStyle>
          <a:p>
            <a:pPr/>
            <a:r>
              <a:t>What to remember</a:t>
            </a:r>
          </a:p>
        </p:txBody>
      </p:sp>
      <p:sp>
        <p:nvSpPr>
          <p:cNvPr id="291" name="Rectangle 2"/>
          <p:cNvSpPr/>
          <p:nvPr/>
        </p:nvSpPr>
        <p:spPr>
          <a:xfrm>
            <a:off x="914399" y="1417319"/>
            <a:ext cx="822962" cy="54865"/>
          </a:xfrm>
          <a:prstGeom prst="rect">
            <a:avLst/>
          </a:prstGeom>
          <a:solidFill>
            <a:srgbClr val="0071E3"/>
          </a:solidFill>
          <a:ln w="12700">
            <a:miter lim="400000"/>
          </a:ln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p:spPr>
        <p:txBody>
          <a:bodyPr lIns="45719" rIns="45719" anchor="ctr"/>
          <a:lstStyle/>
          <a:p>
            <a:pPr algn="ctr">
              <a:defRPr>
                <a:solidFill>
                  <a:srgbClr val="FFFFFF"/>
                </a:solidFill>
              </a:defRPr>
            </a:pPr>
          </a:p>
        </p:txBody>
      </p:sp>
      <p:sp>
        <p:nvSpPr>
          <p:cNvPr id="292" name="TextBox 3"/>
          <p:cNvSpPr txBox="1"/>
          <p:nvPr/>
        </p:nvSpPr>
        <p:spPr>
          <a:xfrm>
            <a:off x="914399" y="1828799"/>
            <a:ext cx="10362897" cy="220602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/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Partition and bucket, or scan everything every time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Clean before you query, not inside every query</a:t>
            </a:r>
          </a:p>
          <a:p>
            <a:pPr>
              <a:lnSpc>
                <a:spcPct val="120000"/>
              </a:lnSpc>
              <a:spcBef>
                <a:spcPts val="2600"/>
              </a:spcBef>
              <a:defRPr sz="28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—  Hive and Pig still run on MapReduce underneath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TextBox 1"/>
          <p:cNvSpPr txBox="1"/>
          <p:nvPr/>
        </p:nvSpPr>
        <p:spPr>
          <a:xfrm>
            <a:off x="914399" y="2557322"/>
            <a:ext cx="10362897" cy="183479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>
            <a:spAutoFit/>
          </a:bodyPr>
          <a:lstStyle/>
          <a:p>
            <a:pPr algn="ctr">
              <a:spcBef>
                <a:spcPts val="1800"/>
              </a:spcBef>
              <a:defRPr b="1" sz="7200"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Thank you.</a:t>
            </a:r>
          </a:p>
          <a:p>
            <a:pPr algn="ctr">
              <a:lnSpc>
                <a:spcPct val="104999"/>
              </a:lnSpc>
              <a:spcBef>
                <a:spcPts val="1400"/>
              </a:spcBef>
              <a:defRPr sz="2600">
                <a:solidFill>
                  <a:srgbClr val="6E6E7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pPr>
            <a:r>
              <a:t>Next: scaling analytics beyond batch.</a:t>
            </a:r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3000" dir="5400000">
              <a:srgbClr val="000000">
                <a:alpha val="35000"/>
              </a:srgbClr>
            </a:outerShdw>
          </a:effectLst>
        </a:effectStyle>
        <a:effectStyle>
          <a:effectLst>
            <a:outerShdw sx="100000" sy="100000" kx="0" ky="0" algn="b" rotWithShape="0" blurRad="38100" dist="20000" dir="5400000">
              <a:srgbClr val="000000">
                <a:alpha val="38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3000" dir="5400000">
            <a:srgbClr val="000000">
              <a:alpha val="35000"/>
            </a:srgbClr>
          </a:outerShdw>
        </a:effectLst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25400" cap="flat">
          <a:solidFill>
            <a:schemeClr val="accent1"/>
          </a:solidFill>
          <a:prstDash val="solid"/>
          <a:round/>
        </a:ln>
        <a:effectLst>
          <a:outerShdw sx="100000" sy="100000" kx="0" ky="0" algn="b" rotWithShape="0" blurRad="38100" dist="20000" dir="5400000">
            <a:srgbClr val="000000">
              <a:alpha val="38000"/>
            </a:srgbClr>
          </a:outerShdw>
        </a:effectLst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4572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