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stakes before any architecture: one machine has two ceilings -- how much fits in its RAM, and how fast its one CPU runs. Real platform volume hits the RAM ceiling long before the CPU one matters. That distinction drives the whole session.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this before the mechanics slides -- the audience should hear 'this is the real production pattern,' not 'this is a classroom toy.'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core -- don't rush it. Everything in the demo maps back to these three words: map, shuffle/sort, reduce.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fault-tolerance point is the one beginners miss: it's safe to blindly re-run a task ONLY because the function is pure.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Library analogy: the NameNode is the card catalog, DataNodes are the shelves. Each block is replicated 3x across different DataNodes/racks -- a whole rack can fail and two copies still stand. A missed heartbeat triggers automatic re-replication; nobody pages a human. Honest caveat: the NameNode itself is a single point of failure -- production clusters run NameNode HA pairs specifically because of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Hadoop 1.0 used a single JobTracker doing all of this -- it hit scaling limits. Hadoop 2.0 split it into these three roles specifically to fix that. Payoff: YARN isn't wired to MapReduce specifically, so Spark, Hive, and other engines all run on the same cluster, sharing the same capacity.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single-machine script structurally cannot do this, no matter how it's written -- it has to pull all the data to itself first. This is the actual mechanism this session's demo is standing in for.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Someone in the audience will ask 'why not just get more RAM' -- answer it here, proactively, before the RAM-ceiling numbers make it concrete a few slides from now.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this code is not badly written. At toy scale (200 reviews, 8,000 words) it finishes in 0.014s. The flaw isn't speed -- it's that every review has to already be sitting in one process's memory before this can even start.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500M reviews/day, ~150 bytes each, 90-day trailing window = 6.75 TB. A single machine's RAM ceiling is 256 GB. 6.75 TB / 256 GB = 26.4x. No amount of loop optimization fixes this -- the data has to live somewhere else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stands in for HDFS's pre-sharded blocks; mclapply() stands in for one mapper task per node. Point at what crosses the 'network' in this simulation: only the small partial tallies in reduce_fn, never the raw review text.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numbers come straight from the Rmd's actual run -- round(shard_gb, 2) = 33.75, identical() = TRUE. Nothing here is illustrative fiction.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genuinely measured result from this week's Rmd, kept in rather than edited out. Nobody runs Hadoop on 8,000 words -- that's the 26x-over-RAM scenario, not this toy corpus, and this slide is why the distinction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MapReduce's limitations builds credibility. This is the specific gap Spark closed by keeping data in memory across steps. The AI bridge is the payoff for a mixed exec/engineer audience: this architecture underpins infrastructure they're using today.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idea for this section. Before reaching for a distributed system, ask the RAM-ceiling question first: does this actually not fit on one machine?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1920240"/>
            <a:ext cx="10362895" cy="3108960"/>
          </a:xfrm>
          <a:prstGeom prst="rect">
            <a:avLst/>
          </a:prstGeom>
          <a:noFill/>
        </p:spPr>
        <p:txBody>
          <a:bodyPr wrap="square" anchor="ctr" lIns="45720" rIns="45720">
            <a:spAutoFit/>
          </a:bodyPr>
          <a:lstStyle/>
          <a:p>
            <a:pPr algn="ctr">
              <a:lnSpc>
                <a:spcPct val="105000"/>
              </a:lnSpc>
              <a:spcAft>
                <a:spcPts val="1800"/>
              </a:spcAft>
              <a:defRPr sz="2000" b="1" i="0">
                <a:solidFill>
                  <a:srgbClr val="0071E3"/>
                </a:solidFill>
                <a:latin typeface="Helvetica Neue"/>
              </a:defRPr>
            </a:pPr>
            <a:r>
              <a:t>BDA POP · SESSION 7 · 09/15/2026</a:t>
            </a:r>
          </a:p>
          <a:p>
            <a:pPr algn="ctr">
              <a:lnSpc>
                <a:spcPct val="100000"/>
              </a:lnSpc>
              <a:spcAft>
                <a:spcPts val="1600"/>
              </a:spcAft>
              <a:defRPr sz="6400" b="1" i="0">
                <a:solidFill>
                  <a:srgbClr val="F5F5F7"/>
                </a:solidFill>
                <a:latin typeface="Helvetica Neue"/>
              </a:defRPr>
            </a:pPr>
            <a:r>
              <a:t>Hadoop &amp; MapReduce</a:t>
            </a:r>
          </a:p>
          <a:p>
            <a:pPr algn="ctr">
              <a:lnSpc>
                <a:spcPct val="120000"/>
              </a:lnSpc>
              <a:spcAft>
                <a:spcPts val="600"/>
              </a:spcAft>
              <a:defRPr sz="2600" b="0" i="0">
                <a:solidFill>
                  <a:srgbClr val="A1A1A6"/>
                </a:solidFill>
                <a:latin typeface="Helvetica Neue"/>
              </a:defRPr>
            </a:pPr>
            <a:r>
              <a:t>Distributed processing for data that doesn't fit on one machine</a:t>
            </a:r>
          </a:p>
        </p:txBody>
      </p:sp>
      <p:sp>
        <p:nvSpPr>
          <p:cNvPr id="3" name="TextBox 2"/>
          <p:cNvSpPr txBox="1"/>
          <p:nvPr/>
        </p:nvSpPr>
        <p:spPr>
          <a:xfrm>
            <a:off x="914400" y="6126480"/>
            <a:ext cx="10362895" cy="457200"/>
          </a:xfrm>
          <a:prstGeom prst="rect">
            <a:avLst/>
          </a:prstGeom>
          <a:noFill/>
        </p:spPr>
        <p:txBody>
          <a:bodyPr wrap="square" anchor="t" lIns="45720" rIns="45720">
            <a:spAutoFit/>
          </a:bodyPr>
          <a:lstStyle/>
          <a:p>
            <a:pPr algn="ctr">
              <a:lnSpc>
                <a:spcPct val="105000"/>
              </a:lnSpc>
              <a:spcAft>
                <a:spcPts val="600"/>
              </a:spcAft>
              <a:defRPr sz="1500" b="0" i="0">
                <a:solidFill>
                  <a:srgbClr val="A1A1A6"/>
                </a:solidFill>
                <a:latin typeface="Helvetica Neue"/>
              </a:defRPr>
            </a:pPr>
            <a:r>
              <a:t>Faizuddin Shaik  ·  September 15,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1371600" y="2011680"/>
            <a:ext cx="9448495" cy="2834640"/>
          </a:xfrm>
          <a:prstGeom prst="rect">
            <a:avLst/>
          </a:prstGeom>
          <a:noFill/>
        </p:spPr>
        <p:txBody>
          <a:bodyPr wrap="square" anchor="ctr" lIns="45720" rIns="45720">
            <a:spAutoFit/>
          </a:bodyPr>
          <a:lstStyle/>
          <a:p>
            <a:pPr algn="ctr">
              <a:lnSpc>
                <a:spcPct val="115000"/>
              </a:lnSpc>
              <a:spcAft>
                <a:spcPts val="600"/>
              </a:spcAft>
              <a:defRPr sz="5400" b="1" i="0">
                <a:solidFill>
                  <a:srgbClr val="F5F5F7"/>
                </a:solidFill>
                <a:latin typeface="Helvetica Neue"/>
              </a:defRPr>
            </a:pPr>
            <a:r>
              <a:t>Every platform hits a ceiling before it runs out of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502920"/>
            <a:ext cx="10362895" cy="914400"/>
          </a:xfrm>
          <a:prstGeom prst="rect">
            <a:avLst/>
          </a:prstGeom>
          <a:noFill/>
        </p:spPr>
        <p:txBody>
          <a:bodyPr wrap="square" anchor="t" lIns="45720" rIns="45720">
            <a:spAutoFit/>
          </a:bodyPr>
          <a:lstStyle/>
          <a:p>
            <a:pPr algn="l">
              <a:lnSpc>
                <a:spcPct val="105000"/>
              </a:lnSpc>
              <a:spcAft>
                <a:spcPts val="600"/>
              </a:spcAft>
              <a:defRPr sz="4000" b="1" i="0">
                <a:solidFill>
                  <a:srgbClr val="F5F5F7"/>
                </a:solidFill>
                <a:latin typeface="Helvetica Neue"/>
              </a:defRPr>
            </a:pPr>
            <a:r>
              <a:t>This Is Production, Not a Toy</a:t>
            </a:r>
          </a:p>
        </p:txBody>
      </p:sp>
      <p:sp>
        <p:nvSpPr>
          <p:cNvPr id="3" name="Rectangle 2"/>
          <p:cNvSpPr/>
          <p:nvPr/>
        </p:nvSpPr>
        <p:spPr>
          <a:xfrm>
            <a:off x="914400" y="1417320"/>
            <a:ext cx="822960" cy="54864"/>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4206240"/>
          </a:xfrm>
          <a:prstGeom prst="rect">
            <a:avLst/>
          </a:prstGeom>
          <a:noFill/>
        </p:spPr>
        <p:txBody>
          <a:bodyPr wrap="square" anchor="t" lIns="45720" rIns="45720">
            <a:spAutoFit/>
          </a:bodyPr>
          <a:lstStyle/>
          <a:p>
            <a:pPr algn="l">
              <a:lnSpc>
                <a:spcPct val="120000"/>
              </a:lnSpc>
              <a:spcAft>
                <a:spcPts val="2600"/>
              </a:spcAft>
              <a:defRPr sz="2800" b="0" i="0">
                <a:solidFill>
                  <a:srgbClr val="F5F5F7"/>
                </a:solidFill>
                <a:latin typeface="Helvetica Neue"/>
              </a:defRPr>
            </a:pPr>
            <a:r>
              <a:t>—  Google indexed the web this way in 2003–04</a:t>
            </a:r>
          </a:p>
          <a:p>
            <a:pPr algn="l">
              <a:lnSpc>
                <a:spcPct val="120000"/>
              </a:lnSpc>
              <a:spcAft>
                <a:spcPts val="2600"/>
              </a:spcAft>
              <a:defRPr sz="2800" b="0" i="0">
                <a:solidFill>
                  <a:srgbClr val="F5F5F7"/>
                </a:solidFill>
                <a:latin typeface="Helvetica Neue"/>
              </a:defRPr>
            </a:pPr>
            <a:r>
              <a:t>—  Facebook, Yahoo, Twitter all run Hadoop pipelines</a:t>
            </a:r>
          </a:p>
          <a:p>
            <a:pPr algn="l">
              <a:lnSpc>
                <a:spcPct val="120000"/>
              </a:lnSpc>
              <a:spcAft>
                <a:spcPts val="2600"/>
              </a:spcAft>
              <a:defRPr sz="2800" b="0" i="0">
                <a:solidFill>
                  <a:srgbClr val="F5F5F7"/>
                </a:solidFill>
                <a:latin typeface="Helvetica Neue"/>
              </a:defRPr>
            </a:pPr>
            <a:r>
              <a:t>—  Word-count is the building block for search &amp; sentiment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2194560"/>
            <a:ext cx="10362895" cy="2560320"/>
          </a:xfrm>
          <a:prstGeom prst="rect">
            <a:avLst/>
          </a:prstGeom>
          <a:noFill/>
        </p:spPr>
        <p:txBody>
          <a:bodyPr wrap="square" anchor="ctr" lIns="45720" rIns="45720">
            <a:spAutoFit/>
          </a:bodyPr>
          <a:lstStyle/>
          <a:p>
            <a:pPr algn="ctr">
              <a:lnSpc>
                <a:spcPct val="105000"/>
              </a:lnSpc>
              <a:spcAft>
                <a:spcPts val="2000"/>
              </a:spcAft>
              <a:defRPr sz="2200" b="1" i="0">
                <a:solidFill>
                  <a:srgbClr val="0071E3"/>
                </a:solidFill>
                <a:latin typeface="Helvetica Neue"/>
              </a:defRPr>
            </a:pPr>
            <a:r>
              <a:t>PART 1</a:t>
            </a:r>
          </a:p>
          <a:p>
            <a:pPr algn="ctr">
              <a:lnSpc>
                <a:spcPct val="100000"/>
              </a:lnSpc>
              <a:spcAft>
                <a:spcPts val="600"/>
              </a:spcAft>
              <a:defRPr sz="9600" b="1" i="0">
                <a:solidFill>
                  <a:srgbClr val="F5F5F7"/>
                </a:solidFill>
                <a:latin typeface="Helvetica Neue"/>
              </a:defRPr>
            </a:pPr>
            <a:r>
              <a:t>MapReduce</a:t>
            </a:r>
          </a:p>
        </p:txBody>
      </p:sp>
      <p:sp>
        <p:nvSpPr>
          <p:cNvPr id="3" name="Rectangle 2"/>
          <p:cNvSpPr/>
          <p:nvPr/>
        </p:nvSpPr>
        <p:spPr>
          <a:xfrm>
            <a:off x="5638190" y="5029200"/>
            <a:ext cx="914400" cy="64008"/>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502920"/>
            <a:ext cx="10362895" cy="914400"/>
          </a:xfrm>
          <a:prstGeom prst="rect">
            <a:avLst/>
          </a:prstGeom>
          <a:noFill/>
        </p:spPr>
        <p:txBody>
          <a:bodyPr wrap="square" anchor="t" lIns="45720" rIns="45720">
            <a:spAutoFit/>
          </a:bodyPr>
          <a:lstStyle/>
          <a:p>
            <a:pPr algn="l">
              <a:lnSpc>
                <a:spcPct val="105000"/>
              </a:lnSpc>
              <a:spcAft>
                <a:spcPts val="600"/>
              </a:spcAft>
              <a:defRPr sz="3800" b="1" i="0">
                <a:solidFill>
                  <a:srgbClr val="F5F5F7"/>
                </a:solidFill>
                <a:latin typeface="Helvetica Neue"/>
              </a:defRPr>
            </a:pPr>
            <a:r>
              <a:t>Three Phases, One Pattern</a:t>
            </a:r>
          </a:p>
        </p:txBody>
      </p:sp>
      <p:sp>
        <p:nvSpPr>
          <p:cNvPr id="3" name="TextBox 2"/>
          <p:cNvSpPr txBox="1"/>
          <p:nvPr/>
        </p:nvSpPr>
        <p:spPr>
          <a:xfrm>
            <a:off x="914400" y="1737360"/>
            <a:ext cx="2843784" cy="4206240"/>
          </a:xfrm>
          <a:prstGeom prst="rect">
            <a:avLst/>
          </a:prstGeom>
          <a:noFill/>
        </p:spPr>
        <p:txBody>
          <a:bodyPr wrap="square" anchor="t" lIns="45720" rIns="45720">
            <a:spAutoFit/>
          </a:bodyPr>
          <a:lstStyle/>
          <a:p>
            <a:pPr algn="l">
              <a:lnSpc>
                <a:spcPct val="105000"/>
              </a:lnSpc>
              <a:spcAft>
                <a:spcPts val="800"/>
              </a:spcAft>
              <a:defRPr sz="6400" b="1" i="0">
                <a:solidFill>
                  <a:srgbClr val="0071E3"/>
                </a:solidFill>
                <a:latin typeface="Helvetica Neue"/>
              </a:defRPr>
            </a:pPr>
            <a:r>
              <a:t>1</a:t>
            </a:r>
          </a:p>
          <a:p>
            <a:pPr algn="l">
              <a:lnSpc>
                <a:spcPct val="105000"/>
              </a:lnSpc>
              <a:spcAft>
                <a:spcPts val="1000"/>
              </a:spcAft>
              <a:defRPr sz="2400" b="1" i="0">
                <a:solidFill>
                  <a:srgbClr val="F5F5F7"/>
                </a:solidFill>
                <a:latin typeface="Helvetica Neue"/>
              </a:defRPr>
            </a:pPr>
            <a:r>
              <a:t>Map</a:t>
            </a:r>
          </a:p>
          <a:p>
            <a:pPr algn="l">
              <a:lnSpc>
                <a:spcPct val="135000"/>
              </a:lnSpc>
              <a:spcAft>
                <a:spcPts val="600"/>
              </a:spcAft>
              <a:defRPr sz="1900" b="0" i="0">
                <a:solidFill>
                  <a:srgbClr val="A1A1A6"/>
                </a:solidFill>
                <a:latin typeface="Helvetica Neue"/>
              </a:defRPr>
            </a:pPr>
            <a:r>
              <a:t>Run the same function on each input piece, independently</a:t>
            </a:r>
          </a:p>
        </p:txBody>
      </p:sp>
      <p:sp>
        <p:nvSpPr>
          <p:cNvPr id="4" name="TextBox 3"/>
          <p:cNvSpPr txBox="1"/>
          <p:nvPr/>
        </p:nvSpPr>
        <p:spPr>
          <a:xfrm>
            <a:off x="4672584" y="1737360"/>
            <a:ext cx="2843784" cy="4206240"/>
          </a:xfrm>
          <a:prstGeom prst="rect">
            <a:avLst/>
          </a:prstGeom>
          <a:noFill/>
        </p:spPr>
        <p:txBody>
          <a:bodyPr wrap="square" anchor="t" lIns="45720" rIns="45720">
            <a:spAutoFit/>
          </a:bodyPr>
          <a:lstStyle/>
          <a:p>
            <a:pPr algn="l">
              <a:lnSpc>
                <a:spcPct val="105000"/>
              </a:lnSpc>
              <a:spcAft>
                <a:spcPts val="800"/>
              </a:spcAft>
              <a:defRPr sz="6400" b="1" i="0">
                <a:solidFill>
                  <a:srgbClr val="0071E3"/>
                </a:solidFill>
                <a:latin typeface="Helvetica Neue"/>
              </a:defRPr>
            </a:pPr>
            <a:r>
              <a:t>2</a:t>
            </a:r>
          </a:p>
          <a:p>
            <a:pPr algn="l">
              <a:lnSpc>
                <a:spcPct val="105000"/>
              </a:lnSpc>
              <a:spcAft>
                <a:spcPts val="1000"/>
              </a:spcAft>
              <a:defRPr sz="2400" b="1" i="0">
                <a:solidFill>
                  <a:srgbClr val="F5F5F7"/>
                </a:solidFill>
                <a:latin typeface="Helvetica Neue"/>
              </a:defRPr>
            </a:pPr>
            <a:r>
              <a:t>Shuffle &amp; Sort</a:t>
            </a:r>
          </a:p>
          <a:p>
            <a:pPr algn="l">
              <a:lnSpc>
                <a:spcPct val="135000"/>
              </a:lnSpc>
              <a:spcAft>
                <a:spcPts val="600"/>
              </a:spcAft>
              <a:defRPr sz="1900" b="0" i="0">
                <a:solidFill>
                  <a:srgbClr val="A1A1A6"/>
                </a:solidFill>
                <a:latin typeface="Helvetica Neue"/>
              </a:defRPr>
            </a:pPr>
            <a:r>
              <a:t>Group every pair by key so all counts for one key land together</a:t>
            </a:r>
          </a:p>
        </p:txBody>
      </p:sp>
      <p:sp>
        <p:nvSpPr>
          <p:cNvPr id="5" name="TextBox 4"/>
          <p:cNvSpPr txBox="1"/>
          <p:nvPr/>
        </p:nvSpPr>
        <p:spPr>
          <a:xfrm>
            <a:off x="8430768" y="1737360"/>
            <a:ext cx="2843784" cy="4206240"/>
          </a:xfrm>
          <a:prstGeom prst="rect">
            <a:avLst/>
          </a:prstGeom>
          <a:noFill/>
        </p:spPr>
        <p:txBody>
          <a:bodyPr wrap="square" anchor="t" lIns="45720" rIns="45720">
            <a:spAutoFit/>
          </a:bodyPr>
          <a:lstStyle/>
          <a:p>
            <a:pPr algn="l">
              <a:lnSpc>
                <a:spcPct val="105000"/>
              </a:lnSpc>
              <a:spcAft>
                <a:spcPts val="800"/>
              </a:spcAft>
              <a:defRPr sz="6400" b="1" i="0">
                <a:solidFill>
                  <a:srgbClr val="0071E3"/>
                </a:solidFill>
                <a:latin typeface="Helvetica Neue"/>
              </a:defRPr>
            </a:pPr>
            <a:r>
              <a:t>3</a:t>
            </a:r>
          </a:p>
          <a:p>
            <a:pPr algn="l">
              <a:lnSpc>
                <a:spcPct val="105000"/>
              </a:lnSpc>
              <a:spcAft>
                <a:spcPts val="1000"/>
              </a:spcAft>
              <a:defRPr sz="2400" b="1" i="0">
                <a:solidFill>
                  <a:srgbClr val="F5F5F7"/>
                </a:solidFill>
                <a:latin typeface="Helvetica Neue"/>
              </a:defRPr>
            </a:pPr>
            <a:r>
              <a:t>Reduce</a:t>
            </a:r>
          </a:p>
          <a:p>
            <a:pPr algn="l">
              <a:lnSpc>
                <a:spcPct val="135000"/>
              </a:lnSpc>
              <a:spcAft>
                <a:spcPts val="600"/>
              </a:spcAft>
              <a:defRPr sz="1900" b="0" i="0">
                <a:solidFill>
                  <a:srgbClr val="A1A1A6"/>
                </a:solidFill>
                <a:latin typeface="Helvetica Neue"/>
              </a:defRPr>
            </a:pPr>
            <a:r>
              <a:t>Combine the grouped values into one final answer per key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502920"/>
            <a:ext cx="10362895" cy="914400"/>
          </a:xfrm>
          <a:prstGeom prst="rect">
            <a:avLst/>
          </a:prstGeom>
          <a:noFill/>
        </p:spPr>
        <p:txBody>
          <a:bodyPr wrap="square" anchor="t" lIns="45720" rIns="45720">
            <a:spAutoFit/>
          </a:bodyPr>
          <a:lstStyle/>
          <a:p>
            <a:pPr algn="l">
              <a:lnSpc>
                <a:spcPct val="105000"/>
              </a:lnSpc>
              <a:spcAft>
                <a:spcPts val="600"/>
              </a:spcAft>
              <a:defRPr sz="4000" b="1" i="0">
                <a:solidFill>
                  <a:srgbClr val="F5F5F7"/>
                </a:solidFill>
                <a:latin typeface="Helvetica Neue"/>
              </a:defRPr>
            </a:pPr>
            <a:r>
              <a:t>Why It's Safe to Run at Scale</a:t>
            </a:r>
          </a:p>
        </p:txBody>
      </p:sp>
      <p:sp>
        <p:nvSpPr>
          <p:cNvPr id="3" name="Rectangle 2"/>
          <p:cNvSpPr/>
          <p:nvPr/>
        </p:nvSpPr>
        <p:spPr>
          <a:xfrm>
            <a:off x="914400" y="1417320"/>
            <a:ext cx="822960" cy="54864"/>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4206240"/>
          </a:xfrm>
          <a:prstGeom prst="rect">
            <a:avLst/>
          </a:prstGeom>
          <a:noFill/>
        </p:spPr>
        <p:txBody>
          <a:bodyPr wrap="square" anchor="t" lIns="45720" rIns="45720">
            <a:spAutoFit/>
          </a:bodyPr>
          <a:lstStyle/>
          <a:p>
            <a:pPr algn="l">
              <a:lnSpc>
                <a:spcPct val="120000"/>
              </a:lnSpc>
              <a:spcAft>
                <a:spcPts val="2600"/>
              </a:spcAft>
              <a:defRPr sz="2800" b="0" i="0">
                <a:solidFill>
                  <a:srgbClr val="F5F5F7"/>
                </a:solidFill>
                <a:latin typeface="Helvetica Neue"/>
              </a:defRPr>
            </a:pPr>
            <a:r>
              <a:t>—  Data locality: a map task sees only its own piece</a:t>
            </a:r>
          </a:p>
          <a:p>
            <a:pPr algn="l">
              <a:lnSpc>
                <a:spcPct val="120000"/>
              </a:lnSpc>
              <a:spcAft>
                <a:spcPts val="2600"/>
              </a:spcAft>
              <a:defRPr sz="2800" b="0" i="0">
                <a:solidFill>
                  <a:srgbClr val="F5F5F7"/>
                </a:solidFill>
                <a:latin typeface="Helvetica Neue"/>
              </a:defRPr>
            </a:pPr>
            <a:r>
              <a:t>—  Fault tolerance: deterministic, so failed tasks just re-run</a:t>
            </a:r>
          </a:p>
          <a:p>
            <a:pPr algn="l">
              <a:lnSpc>
                <a:spcPct val="120000"/>
              </a:lnSpc>
              <a:spcAft>
                <a:spcPts val="2600"/>
              </a:spcAft>
              <a:defRPr sz="2800" b="0" i="0">
                <a:solidFill>
                  <a:srgbClr val="F5F5F7"/>
                </a:solidFill>
                <a:latin typeface="Helvetica Neue"/>
              </a:defRPr>
            </a:pPr>
            <a:r>
              <a:t>—  10 mappers, 2 crash: the other 8 finish the job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2194560"/>
            <a:ext cx="10362895" cy="2560320"/>
          </a:xfrm>
          <a:prstGeom prst="rect">
            <a:avLst/>
          </a:prstGeom>
          <a:noFill/>
        </p:spPr>
        <p:txBody>
          <a:bodyPr wrap="square" anchor="ctr" lIns="45720" rIns="45720">
            <a:spAutoFit/>
          </a:bodyPr>
          <a:lstStyle/>
          <a:p>
            <a:pPr algn="ctr">
              <a:lnSpc>
                <a:spcPct val="105000"/>
              </a:lnSpc>
              <a:spcAft>
                <a:spcPts val="2000"/>
              </a:spcAft>
              <a:defRPr sz="2200" b="1" i="0">
                <a:solidFill>
                  <a:srgbClr val="0071E3"/>
                </a:solidFill>
                <a:latin typeface="Helvetica Neue"/>
              </a:defRPr>
            </a:pPr>
            <a:r>
              <a:t>PART 2</a:t>
            </a:r>
          </a:p>
          <a:p>
            <a:pPr algn="ctr">
              <a:lnSpc>
                <a:spcPct val="100000"/>
              </a:lnSpc>
              <a:spcAft>
                <a:spcPts val="600"/>
              </a:spcAft>
              <a:defRPr sz="9600" b="1" i="0">
                <a:solidFill>
                  <a:srgbClr val="F5F5F7"/>
                </a:solidFill>
                <a:latin typeface="Helvetica Neue"/>
              </a:defRPr>
            </a:pPr>
            <a:r>
              <a:t>Hadoop's Architecture</a:t>
            </a:r>
          </a:p>
        </p:txBody>
      </p:sp>
      <p:sp>
        <p:nvSpPr>
          <p:cNvPr id="3" name="Rectangle 2"/>
          <p:cNvSpPr/>
          <p:nvPr/>
        </p:nvSpPr>
        <p:spPr>
          <a:xfrm>
            <a:off x="5638190" y="5029200"/>
            <a:ext cx="914400" cy="64008"/>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502920"/>
            <a:ext cx="10362895" cy="914400"/>
          </a:xfrm>
          <a:prstGeom prst="rect">
            <a:avLst/>
          </a:prstGeom>
          <a:noFill/>
        </p:spPr>
        <p:txBody>
          <a:bodyPr wrap="square" anchor="t" lIns="45720" rIns="45720">
            <a:spAutoFit/>
          </a:bodyPr>
          <a:lstStyle/>
          <a:p>
            <a:pPr algn="l">
              <a:lnSpc>
                <a:spcPct val="105000"/>
              </a:lnSpc>
              <a:spcAft>
                <a:spcPts val="600"/>
              </a:spcAft>
              <a:defRPr sz="3800" b="1" i="0">
                <a:solidFill>
                  <a:srgbClr val="F5F5F7"/>
                </a:solidFill>
                <a:latin typeface="Helvetica Neue"/>
              </a:defRPr>
            </a:pPr>
            <a:r>
              <a:t>HDFS: Distributed Storage</a:t>
            </a:r>
          </a:p>
        </p:txBody>
      </p:sp>
      <p:sp>
        <p:nvSpPr>
          <p:cNvPr id="3" name="Rounded Rectangle 2"/>
          <p:cNvSpPr/>
          <p:nvPr/>
        </p:nvSpPr>
        <p:spPr>
          <a:xfrm>
            <a:off x="914400" y="1737360"/>
            <a:ext cx="10362895" cy="4297680"/>
          </a:xfrm>
          <a:prstGeom prst="roundRect">
            <a:avLst>
              <a:gd name="adj" fmla="val 7000"/>
            </a:avLst>
          </a:prstGeom>
          <a:solidFill>
            <a:srgbClr val="161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480560" y="1828800"/>
            <a:ext cx="3200400" cy="1005840"/>
          </a:xfrm>
          <a:prstGeom prst="roundRect">
            <a:avLst>
              <a:gd name="adj" fmla="val 12000"/>
            </a:avLst>
          </a:prstGeom>
          <a:solidFill>
            <a:srgbClr val="1D1D1F"/>
          </a:solidFill>
          <a:ln w="19050">
            <a:solidFill>
              <a:srgbClr val="0071E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F5F7"/>
                </a:solidFill>
                <a:latin typeface="Helvetica Neue"/>
              </a:defRPr>
            </a:pPr>
            <a:r>
              <a:t>NameNode</a:t>
            </a:r>
          </a:p>
          <a:p>
            <a:pPr algn="ctr">
              <a:defRPr sz="1150">
                <a:solidFill>
                  <a:srgbClr val="A1A1A6"/>
                </a:solidFill>
                <a:latin typeface="Helvetica Neue"/>
              </a:defRPr>
            </a:pPr>
            <a:r>
              <a:t>Metadata only — never stores file data</a:t>
            </a:r>
          </a:p>
        </p:txBody>
      </p:sp>
      <p:sp>
        <p:nvSpPr>
          <p:cNvPr id="5" name="Rounded Rectangle 4"/>
          <p:cNvSpPr/>
          <p:nvPr/>
        </p:nvSpPr>
        <p:spPr>
          <a:xfrm>
            <a:off x="914400" y="4206240"/>
            <a:ext cx="3108960" cy="1188720"/>
          </a:xfrm>
          <a:prstGeom prst="roundRect">
            <a:avLst>
              <a:gd name="adj" fmla="val 12000"/>
            </a:avLst>
          </a:prstGeom>
          <a:solidFill>
            <a:srgbClr val="1D1D1F"/>
          </a:solidFill>
          <a:ln w="9525">
            <a:solidFill>
              <a:srgbClr val="0071E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F5F7"/>
                </a:solidFill>
                <a:latin typeface="Helvetica Neue"/>
              </a:defRPr>
            </a:pPr>
            <a:r>
              <a:t>DataNode A</a:t>
            </a:r>
          </a:p>
          <a:p>
            <a:pPr algn="ctr">
              <a:defRPr sz="1150">
                <a:solidFill>
                  <a:srgbClr val="A1A1A6"/>
                </a:solidFill>
                <a:latin typeface="Helvetica Neue"/>
              </a:defRPr>
            </a:pPr>
            <a:r>
              <a:t>Block 1</a:t>
            </a:r>
          </a:p>
        </p:txBody>
      </p:sp>
      <p:sp>
        <p:nvSpPr>
          <p:cNvPr id="6" name="Right Arrow 5"/>
          <p:cNvSpPr/>
          <p:nvPr/>
        </p:nvSpPr>
        <p:spPr>
          <a:xfrm rot="5400000">
            <a:off x="2194560" y="3063240"/>
            <a:ext cx="548640" cy="914400"/>
          </a:xfrm>
          <a:prstGeom prst="rightArrow">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480560" y="4206240"/>
            <a:ext cx="3108960" cy="1188720"/>
          </a:xfrm>
          <a:prstGeom prst="roundRect">
            <a:avLst>
              <a:gd name="adj" fmla="val 12000"/>
            </a:avLst>
          </a:prstGeom>
          <a:solidFill>
            <a:srgbClr val="1D1D1F"/>
          </a:solidFill>
          <a:ln w="9525">
            <a:solidFill>
              <a:srgbClr val="0071E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F5F7"/>
                </a:solidFill>
                <a:latin typeface="Helvetica Neue"/>
              </a:defRPr>
            </a:pPr>
            <a:r>
              <a:t>DataNode B</a:t>
            </a:r>
          </a:p>
          <a:p>
            <a:pPr algn="ctr">
              <a:defRPr sz="1150">
                <a:solidFill>
                  <a:srgbClr val="A1A1A6"/>
                </a:solidFill>
                <a:latin typeface="Helvetica Neue"/>
              </a:defRPr>
            </a:pPr>
            <a:r>
              <a:t>Block 1 (copy)</a:t>
            </a:r>
          </a:p>
        </p:txBody>
      </p:sp>
      <p:sp>
        <p:nvSpPr>
          <p:cNvPr id="8" name="Right Arrow 7"/>
          <p:cNvSpPr/>
          <p:nvPr/>
        </p:nvSpPr>
        <p:spPr>
          <a:xfrm rot="5400000">
            <a:off x="5760720" y="3063240"/>
            <a:ext cx="548640" cy="914400"/>
          </a:xfrm>
          <a:prstGeom prst="rightArrow">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0" y="4206240"/>
            <a:ext cx="3108960" cy="1188720"/>
          </a:xfrm>
          <a:prstGeom prst="roundRect">
            <a:avLst>
              <a:gd name="adj" fmla="val 12000"/>
            </a:avLst>
          </a:prstGeom>
          <a:solidFill>
            <a:srgbClr val="1D1D1F"/>
          </a:solidFill>
          <a:ln w="9525">
            <a:solidFill>
              <a:srgbClr val="0071E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F5F7"/>
                </a:solidFill>
                <a:latin typeface="Helvetica Neue"/>
              </a:defRPr>
            </a:pPr>
            <a:r>
              <a:t>DataNode C</a:t>
            </a:r>
          </a:p>
          <a:p>
            <a:pPr algn="ctr">
              <a:defRPr sz="1150">
                <a:solidFill>
                  <a:srgbClr val="A1A1A6"/>
                </a:solidFill>
                <a:latin typeface="Helvetica Neue"/>
              </a:defRPr>
            </a:pPr>
            <a:r>
              <a:t>Block 1 (copy)</a:t>
            </a:r>
          </a:p>
        </p:txBody>
      </p:sp>
      <p:sp>
        <p:nvSpPr>
          <p:cNvPr id="10" name="Right Arrow 9"/>
          <p:cNvSpPr/>
          <p:nvPr/>
        </p:nvSpPr>
        <p:spPr>
          <a:xfrm rot="5400000">
            <a:off x="9326880" y="3063240"/>
            <a:ext cx="548640" cy="914400"/>
          </a:xfrm>
          <a:prstGeom prst="rightArrow">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502920"/>
            <a:ext cx="10362895" cy="914400"/>
          </a:xfrm>
          <a:prstGeom prst="rect">
            <a:avLst/>
          </a:prstGeom>
          <a:noFill/>
        </p:spPr>
        <p:txBody>
          <a:bodyPr wrap="square" anchor="t" lIns="45720" rIns="45720">
            <a:spAutoFit/>
          </a:bodyPr>
          <a:lstStyle/>
          <a:p>
            <a:pPr algn="l">
              <a:lnSpc>
                <a:spcPct val="105000"/>
              </a:lnSpc>
              <a:spcAft>
                <a:spcPts val="600"/>
              </a:spcAft>
              <a:defRPr sz="3800" b="1" i="0">
                <a:solidFill>
                  <a:srgbClr val="F5F5F7"/>
                </a:solidFill>
                <a:latin typeface="Helvetica Neue"/>
              </a:defRPr>
            </a:pPr>
            <a:r>
              <a:t>YARN: Resource Management</a:t>
            </a:r>
          </a:p>
        </p:txBody>
      </p:sp>
      <p:sp>
        <p:nvSpPr>
          <p:cNvPr id="3" name="Rounded Rectangle 2"/>
          <p:cNvSpPr/>
          <p:nvPr/>
        </p:nvSpPr>
        <p:spPr>
          <a:xfrm>
            <a:off x="914400" y="1737360"/>
            <a:ext cx="10362895" cy="4297680"/>
          </a:xfrm>
          <a:prstGeom prst="roundRect">
            <a:avLst>
              <a:gd name="adj" fmla="val 7000"/>
            </a:avLst>
          </a:prstGeom>
          <a:solidFill>
            <a:srgbClr val="161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480560" y="1783080"/>
            <a:ext cx="3200400" cy="868680"/>
          </a:xfrm>
          <a:prstGeom prst="roundRect">
            <a:avLst>
              <a:gd name="adj" fmla="val 12000"/>
            </a:avLst>
          </a:prstGeom>
          <a:solidFill>
            <a:srgbClr val="1D1D1F"/>
          </a:solidFill>
          <a:ln w="19050">
            <a:solidFill>
              <a:srgbClr val="0071E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F5F7"/>
                </a:solidFill>
                <a:latin typeface="Helvetica Neue"/>
              </a:defRPr>
            </a:pPr>
            <a:r>
              <a:t>ResourceManager</a:t>
            </a:r>
          </a:p>
          <a:p>
            <a:pPr algn="ctr">
              <a:defRPr sz="1150">
                <a:solidFill>
                  <a:srgbClr val="A1A1A6"/>
                </a:solidFill>
                <a:latin typeface="Helvetica Neue"/>
              </a:defRPr>
            </a:pPr>
            <a:r>
              <a:t>One per cluster — hands out containers</a:t>
            </a:r>
          </a:p>
        </p:txBody>
      </p:sp>
      <p:sp>
        <p:nvSpPr>
          <p:cNvPr id="5" name="Right Arrow 4"/>
          <p:cNvSpPr/>
          <p:nvPr/>
        </p:nvSpPr>
        <p:spPr>
          <a:xfrm rot="5400000">
            <a:off x="5806440" y="2697480"/>
            <a:ext cx="548640" cy="502920"/>
          </a:xfrm>
          <a:prstGeom prst="rightArrow">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480560" y="3246120"/>
            <a:ext cx="3200400" cy="868680"/>
          </a:xfrm>
          <a:prstGeom prst="roundRect">
            <a:avLst>
              <a:gd name="adj" fmla="val 12000"/>
            </a:avLst>
          </a:prstGeom>
          <a:solidFill>
            <a:srgbClr val="1D1D1F"/>
          </a:solidFill>
          <a:ln w="9525">
            <a:solidFill>
              <a:srgbClr val="0071E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F5F7"/>
                </a:solidFill>
                <a:latin typeface="Helvetica Neue"/>
              </a:defRPr>
            </a:pPr>
            <a:r>
              <a:t>NodeManager</a:t>
            </a:r>
          </a:p>
          <a:p>
            <a:pPr algn="ctr">
              <a:defRPr sz="1150">
                <a:solidFill>
                  <a:srgbClr val="A1A1A6"/>
                </a:solidFill>
                <a:latin typeface="Helvetica Neue"/>
              </a:defRPr>
            </a:pPr>
            <a:r>
              <a:t>One per machine — runs containers</a:t>
            </a:r>
          </a:p>
        </p:txBody>
      </p:sp>
      <p:sp>
        <p:nvSpPr>
          <p:cNvPr id="7" name="Right Arrow 6"/>
          <p:cNvSpPr/>
          <p:nvPr/>
        </p:nvSpPr>
        <p:spPr>
          <a:xfrm rot="5400000">
            <a:off x="5806440" y="4160520"/>
            <a:ext cx="548640" cy="502920"/>
          </a:xfrm>
          <a:prstGeom prst="rightArrow">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80560" y="4709160"/>
            <a:ext cx="3200400" cy="868680"/>
          </a:xfrm>
          <a:prstGeom prst="roundRect">
            <a:avLst>
              <a:gd name="adj" fmla="val 12000"/>
            </a:avLst>
          </a:prstGeom>
          <a:solidFill>
            <a:srgbClr val="1D1D1F"/>
          </a:solidFill>
          <a:ln w="9525">
            <a:solidFill>
              <a:srgbClr val="0071E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F5F7"/>
                </a:solidFill>
                <a:latin typeface="Helvetica Neue"/>
              </a:defRPr>
            </a:pPr>
            <a:r>
              <a:t>ApplicationMaster</a:t>
            </a:r>
          </a:p>
          <a:p>
            <a:pPr algn="ctr">
              <a:defRPr sz="1150">
                <a:solidFill>
                  <a:srgbClr val="A1A1A6"/>
                </a:solidFill>
                <a:latin typeface="Helvetica Neue"/>
              </a:defRPr>
            </a:pPr>
            <a:r>
              <a:t>One per job — supervises its own tasks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1371600" y="2011680"/>
            <a:ext cx="9448495" cy="2834640"/>
          </a:xfrm>
          <a:prstGeom prst="rect">
            <a:avLst/>
          </a:prstGeom>
          <a:noFill/>
        </p:spPr>
        <p:txBody>
          <a:bodyPr wrap="square" anchor="ctr" lIns="45720" rIns="45720">
            <a:spAutoFit/>
          </a:bodyPr>
          <a:lstStyle/>
          <a:p>
            <a:pPr algn="ctr">
              <a:lnSpc>
                <a:spcPct val="115000"/>
              </a:lnSpc>
              <a:spcAft>
                <a:spcPts val="600"/>
              </a:spcAft>
              <a:defRPr sz="5400" b="1" i="0">
                <a:solidFill>
                  <a:srgbClr val="F5F5F7"/>
                </a:solidFill>
                <a:latin typeface="Helvetica Neue"/>
              </a:defRPr>
            </a:pPr>
            <a:r>
              <a:t>The computation moves to the data — not the other way around.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502920"/>
            <a:ext cx="10362895" cy="914400"/>
          </a:xfrm>
          <a:prstGeom prst="rect">
            <a:avLst/>
          </a:prstGeom>
          <a:noFill/>
        </p:spPr>
        <p:txBody>
          <a:bodyPr wrap="square" anchor="t" lIns="45720" rIns="45720">
            <a:spAutoFit/>
          </a:bodyPr>
          <a:lstStyle/>
          <a:p>
            <a:pPr algn="l">
              <a:lnSpc>
                <a:spcPct val="105000"/>
              </a:lnSpc>
              <a:spcAft>
                <a:spcPts val="600"/>
              </a:spcAft>
              <a:defRPr sz="3800" b="1" i="0">
                <a:solidFill>
                  <a:srgbClr val="F5F5F7"/>
                </a:solidFill>
                <a:latin typeface="Helvetica Neue"/>
              </a:defRPr>
            </a:pPr>
            <a:r>
              <a:t>Why Not Just Buy a Bigger Machine?</a:t>
            </a:r>
          </a:p>
        </p:txBody>
      </p:sp>
      <p:sp>
        <p:nvSpPr>
          <p:cNvPr id="3" name="Rounded Rectangle 2"/>
          <p:cNvSpPr/>
          <p:nvPr/>
        </p:nvSpPr>
        <p:spPr>
          <a:xfrm>
            <a:off x="914400" y="1737360"/>
            <a:ext cx="4965192" cy="4206240"/>
          </a:xfrm>
          <a:prstGeom prst="roundRect">
            <a:avLst>
              <a:gd name="adj" fmla="val 7000"/>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25880" y="2103120"/>
            <a:ext cx="4142232" cy="3474720"/>
          </a:xfrm>
          <a:prstGeom prst="rect">
            <a:avLst/>
          </a:prstGeom>
          <a:noFill/>
        </p:spPr>
        <p:txBody>
          <a:bodyPr wrap="square" anchor="t" lIns="45720" rIns="45720">
            <a:spAutoFit/>
          </a:bodyPr>
          <a:lstStyle/>
          <a:p>
            <a:pPr algn="l">
              <a:lnSpc>
                <a:spcPct val="105000"/>
              </a:lnSpc>
              <a:spcAft>
                <a:spcPts val="1400"/>
              </a:spcAft>
              <a:defRPr sz="2400" b="1" i="0">
                <a:solidFill>
                  <a:srgbClr val="0071E3"/>
                </a:solidFill>
                <a:latin typeface="Helvetica Neue"/>
              </a:defRPr>
            </a:pPr>
            <a:r>
              <a:t>Vertical Scaling</a:t>
            </a:r>
          </a:p>
          <a:p>
            <a:pPr algn="l">
              <a:lnSpc>
                <a:spcPct val="135000"/>
              </a:lnSpc>
              <a:spcAft>
                <a:spcPts val="600"/>
              </a:spcAft>
              <a:defRPr sz="2000" b="0" i="0">
                <a:solidFill>
                  <a:srgbClr val="A1A1A6"/>
                </a:solidFill>
                <a:latin typeface="Helvetica Neue"/>
              </a:defRPr>
            </a:pPr>
            <a:r>
              <a:t>One bigger box — hard RAM/CPU ceiling, cost climbs fastest near it</a:t>
            </a:r>
          </a:p>
        </p:txBody>
      </p:sp>
      <p:sp>
        <p:nvSpPr>
          <p:cNvPr id="5" name="Rounded Rectangle 4"/>
          <p:cNvSpPr/>
          <p:nvPr/>
        </p:nvSpPr>
        <p:spPr>
          <a:xfrm>
            <a:off x="6309360" y="1737360"/>
            <a:ext cx="4965192" cy="4206240"/>
          </a:xfrm>
          <a:prstGeom prst="roundRect">
            <a:avLst>
              <a:gd name="adj" fmla="val 7000"/>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20840" y="2103120"/>
            <a:ext cx="4142232" cy="3474720"/>
          </a:xfrm>
          <a:prstGeom prst="rect">
            <a:avLst/>
          </a:prstGeom>
          <a:noFill/>
        </p:spPr>
        <p:txBody>
          <a:bodyPr wrap="square" anchor="t" lIns="45720" rIns="45720">
            <a:spAutoFit/>
          </a:bodyPr>
          <a:lstStyle/>
          <a:p>
            <a:pPr algn="l">
              <a:lnSpc>
                <a:spcPct val="105000"/>
              </a:lnSpc>
              <a:spcAft>
                <a:spcPts val="1400"/>
              </a:spcAft>
              <a:defRPr sz="2400" b="1" i="0">
                <a:solidFill>
                  <a:srgbClr val="0071E3"/>
                </a:solidFill>
                <a:latin typeface="Helvetica Neue"/>
              </a:defRPr>
            </a:pPr>
            <a:r>
              <a:t>Horizontal Scaling</a:t>
            </a:r>
          </a:p>
          <a:p>
            <a:pPr algn="l">
              <a:lnSpc>
                <a:spcPct val="135000"/>
              </a:lnSpc>
              <a:spcAft>
                <a:spcPts val="600"/>
              </a:spcAft>
              <a:defRPr sz="2000" b="0" i="0">
                <a:solidFill>
                  <a:srgbClr val="A1A1A6"/>
                </a:solidFill>
                <a:latin typeface="Helvetica Neue"/>
              </a:defRPr>
            </a:pPr>
            <a:r>
              <a:t>More ordinary boxes — no fixed ceiling, the choice Hadoop is built around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2194560"/>
            <a:ext cx="10362895" cy="2560320"/>
          </a:xfrm>
          <a:prstGeom prst="rect">
            <a:avLst/>
          </a:prstGeom>
          <a:noFill/>
        </p:spPr>
        <p:txBody>
          <a:bodyPr wrap="square" anchor="ctr" lIns="45720" rIns="45720">
            <a:spAutoFit/>
          </a:bodyPr>
          <a:lstStyle/>
          <a:p>
            <a:pPr algn="ctr">
              <a:lnSpc>
                <a:spcPct val="105000"/>
              </a:lnSpc>
              <a:spcAft>
                <a:spcPts val="2000"/>
              </a:spcAft>
              <a:defRPr sz="2200" b="1" i="0">
                <a:solidFill>
                  <a:srgbClr val="0071E3"/>
                </a:solidFill>
                <a:latin typeface="Helvetica Neue"/>
              </a:defRPr>
            </a:pPr>
            <a:r>
              <a:t>PART 3</a:t>
            </a:r>
          </a:p>
          <a:p>
            <a:pPr algn="ctr">
              <a:lnSpc>
                <a:spcPct val="100000"/>
              </a:lnSpc>
              <a:spcAft>
                <a:spcPts val="600"/>
              </a:spcAft>
              <a:defRPr sz="9600" b="1" i="0">
                <a:solidFill>
                  <a:srgbClr val="F5F5F7"/>
                </a:solidFill>
                <a:latin typeface="Helvetica Neue"/>
              </a:defRPr>
            </a:pPr>
            <a:r>
              <a:t>Seeing It Break</a:t>
            </a:r>
          </a:p>
        </p:txBody>
      </p:sp>
      <p:sp>
        <p:nvSpPr>
          <p:cNvPr id="3" name="Rectangle 2"/>
          <p:cNvSpPr/>
          <p:nvPr/>
        </p:nvSpPr>
        <p:spPr>
          <a:xfrm>
            <a:off x="5638190" y="5029200"/>
            <a:ext cx="914400" cy="64008"/>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502920"/>
            <a:ext cx="10362895" cy="914400"/>
          </a:xfrm>
          <a:prstGeom prst="rect">
            <a:avLst/>
          </a:prstGeom>
          <a:noFill/>
        </p:spPr>
        <p:txBody>
          <a:bodyPr wrap="square" anchor="t" lIns="45720" rIns="45720">
            <a:spAutoFit/>
          </a:bodyPr>
          <a:lstStyle/>
          <a:p>
            <a:pPr algn="l">
              <a:lnSpc>
                <a:spcPct val="105000"/>
              </a:lnSpc>
              <a:spcAft>
                <a:spcPts val="600"/>
              </a:spcAft>
              <a:defRPr sz="3200" b="1" i="0">
                <a:solidFill>
                  <a:srgbClr val="F5F5F7"/>
                </a:solidFill>
                <a:latin typeface="Helvetica Neue"/>
              </a:defRPr>
            </a:pPr>
            <a:r>
              <a:t>The Naive Approach</a:t>
            </a:r>
          </a:p>
        </p:txBody>
      </p:sp>
      <p:sp>
        <p:nvSpPr>
          <p:cNvPr id="3" name="Rounded Rectangle 2"/>
          <p:cNvSpPr/>
          <p:nvPr/>
        </p:nvSpPr>
        <p:spPr>
          <a:xfrm>
            <a:off x="914400" y="1554480"/>
            <a:ext cx="10362895" cy="4572000"/>
          </a:xfrm>
          <a:prstGeom prst="roundRect">
            <a:avLst>
              <a:gd name="adj" fmla="val 7000"/>
            </a:avLst>
          </a:prstGeom>
          <a:solidFill>
            <a:srgbClr val="161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25880" y="1874519"/>
            <a:ext cx="9537192" cy="3931920"/>
          </a:xfrm>
          <a:prstGeom prst="rect">
            <a:avLst/>
          </a:prstGeom>
          <a:noFill/>
        </p:spPr>
        <p:txBody>
          <a:bodyPr wrap="square" anchor="t" lIns="45720" rIns="45720">
            <a:spAutoFit/>
          </a:bodyPr>
          <a:lstStyle/>
          <a:p>
            <a:pPr algn="l">
              <a:lnSpc>
                <a:spcPct val="125000"/>
              </a:lnSpc>
              <a:spcAft>
                <a:spcPts val="200"/>
              </a:spcAft>
              <a:defRPr sz="1800" b="0" i="0">
                <a:solidFill>
                  <a:srgbClr val="F5F5F7"/>
                </a:solidFill>
                <a:latin typeface="Courier New"/>
              </a:defRPr>
            </a:pPr>
            <a:r>
              <a:rPr>
                <a:latin typeface="Courier New"/>
              </a:rPr>
              <a:t>naive_wordcount &lt;- function(reviews) {</a:t>
            </a:r>
          </a:p>
          <a:p>
            <a:pPr algn="l">
              <a:lnSpc>
                <a:spcPct val="125000"/>
              </a:lnSpc>
              <a:spcAft>
                <a:spcPts val="200"/>
              </a:spcAft>
              <a:defRPr sz="1800" b="0" i="0">
                <a:solidFill>
                  <a:srgbClr val="F5F5F7"/>
                </a:solidFill>
                <a:latin typeface="Courier New"/>
              </a:defRPr>
            </a:pPr>
            <a:r>
              <a:rPr>
                <a:latin typeface="Courier New"/>
              </a:rPr>
              <a:t>  tally &lt;- new.env()</a:t>
            </a:r>
          </a:p>
          <a:p>
            <a:pPr algn="l">
              <a:lnSpc>
                <a:spcPct val="125000"/>
              </a:lnSpc>
              <a:spcAft>
                <a:spcPts val="200"/>
              </a:spcAft>
              <a:defRPr sz="1800" b="0" i="0">
                <a:solidFill>
                  <a:srgbClr val="F5F5F7"/>
                </a:solidFill>
                <a:latin typeface="Courier New"/>
              </a:defRPr>
            </a:pPr>
            <a:r>
              <a:rPr>
                <a:latin typeface="Courier New"/>
              </a:rPr>
              <a:t>  for (review in reviews) {</a:t>
            </a:r>
          </a:p>
          <a:p>
            <a:pPr algn="l">
              <a:lnSpc>
                <a:spcPct val="125000"/>
              </a:lnSpc>
              <a:spcAft>
                <a:spcPts val="200"/>
              </a:spcAft>
              <a:defRPr sz="1800" b="0" i="0">
                <a:solidFill>
                  <a:srgbClr val="F5F5F7"/>
                </a:solidFill>
                <a:latin typeface="Courier New"/>
              </a:defRPr>
            </a:pPr>
            <a:r>
              <a:rPr>
                <a:latin typeface="Courier New"/>
              </a:rPr>
              <a:t>    words &lt;- strsplit(review, " ")[[1]]</a:t>
            </a:r>
          </a:p>
          <a:p>
            <a:pPr algn="l">
              <a:lnSpc>
                <a:spcPct val="125000"/>
              </a:lnSpc>
              <a:spcAft>
                <a:spcPts val="200"/>
              </a:spcAft>
              <a:defRPr sz="1800" b="0" i="0">
                <a:solidFill>
                  <a:srgbClr val="F5F5F7"/>
                </a:solidFill>
                <a:latin typeface="Courier New"/>
              </a:defRPr>
            </a:pPr>
            <a:r>
              <a:rPr>
                <a:latin typeface="Courier New"/>
              </a:rPr>
              <a:t>    for (w in words) {</a:t>
            </a:r>
          </a:p>
          <a:p>
            <a:pPr algn="l">
              <a:lnSpc>
                <a:spcPct val="125000"/>
              </a:lnSpc>
              <a:spcAft>
                <a:spcPts val="200"/>
              </a:spcAft>
              <a:defRPr sz="1800" b="0" i="0">
                <a:solidFill>
                  <a:srgbClr val="F5F5F7"/>
                </a:solidFill>
                <a:latin typeface="Courier New"/>
              </a:defRPr>
            </a:pPr>
            <a:r>
              <a:rPr>
                <a:latin typeface="Courier New"/>
              </a:rPr>
              <a:t>      if (is.null(tally[[w]])) tally[[w]] &lt;- 0L</a:t>
            </a:r>
          </a:p>
          <a:p>
            <a:pPr algn="l">
              <a:lnSpc>
                <a:spcPct val="125000"/>
              </a:lnSpc>
              <a:spcAft>
                <a:spcPts val="200"/>
              </a:spcAft>
              <a:defRPr sz="1800" b="0" i="0">
                <a:solidFill>
                  <a:srgbClr val="F5F5F7"/>
                </a:solidFill>
                <a:latin typeface="Courier New"/>
              </a:defRPr>
            </a:pPr>
            <a:r>
              <a:rPr>
                <a:latin typeface="Courier New"/>
              </a:rPr>
              <a:t>      tally[[w]] &lt;- tally[[w]] + 1L</a:t>
            </a:r>
          </a:p>
          <a:p>
            <a:pPr algn="l">
              <a:lnSpc>
                <a:spcPct val="125000"/>
              </a:lnSpc>
              <a:spcAft>
                <a:spcPts val="200"/>
              </a:spcAft>
              <a:defRPr sz="1800" b="0" i="0">
                <a:solidFill>
                  <a:srgbClr val="F5F5F7"/>
                </a:solidFill>
                <a:latin typeface="Courier New"/>
              </a:defRPr>
            </a:pPr>
            <a:r>
              <a:rPr>
                <a:latin typeface="Courier New"/>
              </a:rPr>
              <a:t>    }</a:t>
            </a:r>
          </a:p>
          <a:p>
            <a:pPr algn="l">
              <a:lnSpc>
                <a:spcPct val="125000"/>
              </a:lnSpc>
              <a:spcAft>
                <a:spcPts val="200"/>
              </a:spcAft>
              <a:defRPr sz="1800" b="0" i="0">
                <a:solidFill>
                  <a:srgbClr val="F5F5F7"/>
                </a:solidFill>
                <a:latin typeface="Courier New"/>
              </a:defRPr>
            </a:pPr>
            <a:r>
              <a:rPr>
                <a:latin typeface="Courier New"/>
              </a:rPr>
              <a:t>  }</a:t>
            </a:r>
          </a:p>
          <a:p>
            <a:pPr algn="l">
              <a:lnSpc>
                <a:spcPct val="125000"/>
              </a:lnSpc>
              <a:spcAft>
                <a:spcPts val="200"/>
              </a:spcAft>
              <a:defRPr sz="1800" b="0" i="0">
                <a:solidFill>
                  <a:srgbClr val="F5F5F7"/>
                </a:solidFill>
                <a:latin typeface="Courier New"/>
              </a:defRPr>
            </a:pPr>
            <a:r>
              <a:rPr>
                <a:latin typeface="Courier New"/>
              </a:rPr>
              <a:t>  sort(unlist(as.list(tally)), decreasing = TRUE)</a:t>
            </a:r>
          </a:p>
          <a:p>
            <a:pPr algn="l">
              <a:lnSpc>
                <a:spcPct val="125000"/>
              </a:lnSpc>
              <a:spcAft>
                <a:spcPts val="200"/>
              </a:spcAft>
              <a:defRPr sz="1800" b="0" i="0">
                <a:solidFill>
                  <a:srgbClr val="F5F5F7"/>
                </a:solidFill>
                <a:latin typeface="Courier New"/>
              </a:defRPr>
            </a:pPr>
            <a:r>
              <a:rPr>
                <a:latin typeface="Courier New"/>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1463040"/>
            <a:ext cx="10362895" cy="4023360"/>
          </a:xfrm>
          <a:prstGeom prst="rect">
            <a:avLst/>
          </a:prstGeom>
          <a:noFill/>
        </p:spPr>
        <p:txBody>
          <a:bodyPr wrap="square" anchor="ctr" lIns="45720" rIns="45720">
            <a:spAutoFit/>
          </a:bodyPr>
          <a:lstStyle/>
          <a:p>
            <a:pPr algn="ctr">
              <a:lnSpc>
                <a:spcPct val="100000"/>
              </a:lnSpc>
              <a:spcAft>
                <a:spcPts val="1000"/>
              </a:spcAft>
              <a:defRPr sz="13000" b="1" i="0">
                <a:solidFill>
                  <a:srgbClr val="F5F5F7"/>
                </a:solidFill>
                <a:latin typeface="Helvetica Neue"/>
              </a:defRPr>
            </a:pPr>
            <a:r>
              <a:t>26.4×</a:t>
            </a:r>
          </a:p>
          <a:p>
            <a:pPr algn="ctr">
              <a:lnSpc>
                <a:spcPct val="125000"/>
              </a:lnSpc>
              <a:spcAft>
                <a:spcPts val="600"/>
              </a:spcAft>
              <a:defRPr sz="3000" b="0" i="0">
                <a:solidFill>
                  <a:srgbClr val="A1A1A6"/>
                </a:solidFill>
                <a:latin typeface="Helvetica Neue"/>
              </a:defRPr>
            </a:pPr>
            <a:r>
              <a:t>Over a single machine's 256 GB RAM ceiling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502920"/>
            <a:ext cx="10362895" cy="914400"/>
          </a:xfrm>
          <a:prstGeom prst="rect">
            <a:avLst/>
          </a:prstGeom>
          <a:noFill/>
        </p:spPr>
        <p:txBody>
          <a:bodyPr wrap="square" anchor="t" lIns="45720" rIns="45720">
            <a:spAutoFit/>
          </a:bodyPr>
          <a:lstStyle/>
          <a:p>
            <a:pPr algn="l">
              <a:lnSpc>
                <a:spcPct val="105000"/>
              </a:lnSpc>
              <a:spcAft>
                <a:spcPts val="600"/>
              </a:spcAft>
              <a:defRPr sz="3200" b="1" i="0">
                <a:solidFill>
                  <a:srgbClr val="F5F5F7"/>
                </a:solidFill>
                <a:latin typeface="Helvetica Neue"/>
              </a:defRPr>
            </a:pPr>
            <a:r>
              <a:t>The Fix: Partition Like HDFS Would</a:t>
            </a:r>
          </a:p>
        </p:txBody>
      </p:sp>
      <p:sp>
        <p:nvSpPr>
          <p:cNvPr id="3" name="Rounded Rectangle 2"/>
          <p:cNvSpPr/>
          <p:nvPr/>
        </p:nvSpPr>
        <p:spPr>
          <a:xfrm>
            <a:off x="914400" y="1554480"/>
            <a:ext cx="10362895" cy="4572000"/>
          </a:xfrm>
          <a:prstGeom prst="roundRect">
            <a:avLst>
              <a:gd name="adj" fmla="val 7000"/>
            </a:avLst>
          </a:prstGeom>
          <a:solidFill>
            <a:srgbClr val="161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25880" y="1874519"/>
            <a:ext cx="9537192" cy="3931920"/>
          </a:xfrm>
          <a:prstGeom prst="rect">
            <a:avLst/>
          </a:prstGeom>
          <a:noFill/>
        </p:spPr>
        <p:txBody>
          <a:bodyPr wrap="square" anchor="t" lIns="45720" rIns="45720">
            <a:spAutoFit/>
          </a:bodyPr>
          <a:lstStyle/>
          <a:p>
            <a:pPr algn="l">
              <a:lnSpc>
                <a:spcPct val="125000"/>
              </a:lnSpc>
              <a:spcAft>
                <a:spcPts val="200"/>
              </a:spcAft>
              <a:defRPr sz="1800" b="0" i="0">
                <a:solidFill>
                  <a:srgbClr val="F5F5F7"/>
                </a:solidFill>
                <a:latin typeface="Courier New"/>
              </a:defRPr>
            </a:pPr>
            <a:r>
              <a:rPr>
                <a:latin typeface="Courier New"/>
              </a:rPr>
              <a:t>partitions &lt;- split(review_text, cut(seq_along(review_text), 8, labels = FALSE))</a:t>
            </a:r>
          </a:p>
          <a:p>
            <a:pPr algn="l">
              <a:lnSpc>
                <a:spcPct val="125000"/>
              </a:lnSpc>
              <a:spcAft>
                <a:spcPts val="200"/>
              </a:spcAft>
              <a:defRPr sz="1800" b="0" i="0">
                <a:solidFill>
                  <a:srgbClr val="F5F5F7"/>
                </a:solidFill>
                <a:latin typeface="Courier New"/>
              </a:defRPr>
            </a:pPr>
            <a:r>
              <a:rPr>
                <a:latin typeface="Courier New"/>
              </a:rPr>
              <a:t/>
            </a:r>
          </a:p>
          <a:p>
            <a:pPr algn="l">
              <a:lnSpc>
                <a:spcPct val="125000"/>
              </a:lnSpc>
              <a:spcAft>
                <a:spcPts val="200"/>
              </a:spcAft>
              <a:defRPr sz="1800" b="0" i="0">
                <a:solidFill>
                  <a:srgbClr val="F5F5F7"/>
                </a:solidFill>
                <a:latin typeface="Courier New"/>
              </a:defRPr>
            </a:pPr>
            <a:r>
              <a:rPr>
                <a:latin typeface="Courier New"/>
              </a:rPr>
              <a:t>map_fn &lt;- function(reviews) table(unlist(strsplit(reviews, " ")))</a:t>
            </a:r>
          </a:p>
          <a:p>
            <a:pPr algn="l">
              <a:lnSpc>
                <a:spcPct val="125000"/>
              </a:lnSpc>
              <a:spcAft>
                <a:spcPts val="200"/>
              </a:spcAft>
              <a:defRPr sz="1800" b="0" i="0">
                <a:solidFill>
                  <a:srgbClr val="F5F5F7"/>
                </a:solidFill>
                <a:latin typeface="Courier New"/>
              </a:defRPr>
            </a:pPr>
            <a:r>
              <a:rPr>
                <a:latin typeface="Courier New"/>
              </a:rPr>
              <a:t/>
            </a:r>
          </a:p>
          <a:p>
            <a:pPr algn="l">
              <a:lnSpc>
                <a:spcPct val="125000"/>
              </a:lnSpc>
              <a:spcAft>
                <a:spcPts val="200"/>
              </a:spcAft>
              <a:defRPr sz="1800" b="0" i="0">
                <a:solidFill>
                  <a:srgbClr val="F5F5F7"/>
                </a:solidFill>
                <a:latin typeface="Courier New"/>
              </a:defRPr>
            </a:pPr>
            <a:r>
              <a:rPr>
                <a:latin typeface="Courier New"/>
              </a:rPr>
              <a:t>partial_counts &lt;- mclapply(partitions, map_fn, mc.cores = detectCores())</a:t>
            </a:r>
          </a:p>
          <a:p>
            <a:pPr algn="l">
              <a:lnSpc>
                <a:spcPct val="125000"/>
              </a:lnSpc>
              <a:spcAft>
                <a:spcPts val="200"/>
              </a:spcAft>
              <a:defRPr sz="1800" b="0" i="0">
                <a:solidFill>
                  <a:srgbClr val="F5F5F7"/>
                </a:solidFill>
                <a:latin typeface="Courier New"/>
              </a:defRPr>
            </a:pPr>
            <a:r>
              <a:rPr>
                <a:latin typeface="Courier New"/>
              </a:rPr>
              <a:t>final_counts   &lt;- Reduce(reduce_fn, partial_counts)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502920"/>
            <a:ext cx="10362895" cy="914400"/>
          </a:xfrm>
          <a:prstGeom prst="rect">
            <a:avLst/>
          </a:prstGeom>
          <a:noFill/>
        </p:spPr>
        <p:txBody>
          <a:bodyPr wrap="square" anchor="t" lIns="45720" rIns="45720">
            <a:spAutoFit/>
          </a:bodyPr>
          <a:lstStyle/>
          <a:p>
            <a:pPr algn="l">
              <a:lnSpc>
                <a:spcPct val="105000"/>
              </a:lnSpc>
              <a:spcAft>
                <a:spcPts val="600"/>
              </a:spcAft>
              <a:defRPr sz="3800" b="1" i="0">
                <a:solidFill>
                  <a:srgbClr val="F5F5F7"/>
                </a:solidFill>
                <a:latin typeface="Helvetica Neue"/>
              </a:defRPr>
            </a:pPr>
            <a:r>
              <a:t>Same Answer, Different Machine</a:t>
            </a:r>
          </a:p>
        </p:txBody>
      </p:sp>
      <p:sp>
        <p:nvSpPr>
          <p:cNvPr id="3" name="Rounded Rectangle 2"/>
          <p:cNvSpPr/>
          <p:nvPr/>
        </p:nvSpPr>
        <p:spPr>
          <a:xfrm>
            <a:off x="914400" y="1737360"/>
            <a:ext cx="4965192" cy="4206240"/>
          </a:xfrm>
          <a:prstGeom prst="roundRect">
            <a:avLst>
              <a:gd name="adj" fmla="val 7000"/>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25880" y="2103120"/>
            <a:ext cx="4142232" cy="3474720"/>
          </a:xfrm>
          <a:prstGeom prst="rect">
            <a:avLst/>
          </a:prstGeom>
          <a:noFill/>
        </p:spPr>
        <p:txBody>
          <a:bodyPr wrap="square" anchor="t" lIns="45720" rIns="45720">
            <a:spAutoFit/>
          </a:bodyPr>
          <a:lstStyle/>
          <a:p>
            <a:pPr algn="l">
              <a:lnSpc>
                <a:spcPct val="105000"/>
              </a:lnSpc>
              <a:spcAft>
                <a:spcPts val="1400"/>
              </a:spcAft>
              <a:defRPr sz="2400" b="1" i="0">
                <a:solidFill>
                  <a:srgbClr val="0071E3"/>
                </a:solidFill>
                <a:latin typeface="Helvetica Neue"/>
              </a:defRPr>
            </a:pPr>
            <a:r>
              <a:t>Correctness</a:t>
            </a:r>
          </a:p>
          <a:p>
            <a:pPr algn="l">
              <a:lnSpc>
                <a:spcPct val="135000"/>
              </a:lnSpc>
              <a:spcAft>
                <a:spcPts val="600"/>
              </a:spcAft>
              <a:defRPr sz="2000" b="0" i="0">
                <a:solidFill>
                  <a:srgbClr val="A1A1A6"/>
                </a:solidFill>
                <a:latin typeface="Helvetica Neue"/>
              </a:defRPr>
            </a:pPr>
            <a:r>
              <a:t>identical() confirms the exact same tally as the naive result</a:t>
            </a:r>
          </a:p>
        </p:txBody>
      </p:sp>
      <p:sp>
        <p:nvSpPr>
          <p:cNvPr id="5" name="Rounded Rectangle 4"/>
          <p:cNvSpPr/>
          <p:nvPr/>
        </p:nvSpPr>
        <p:spPr>
          <a:xfrm>
            <a:off x="6309360" y="1737360"/>
            <a:ext cx="4965192" cy="4206240"/>
          </a:xfrm>
          <a:prstGeom prst="roundRect">
            <a:avLst>
              <a:gd name="adj" fmla="val 7000"/>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20840" y="2103120"/>
            <a:ext cx="4142232" cy="3474720"/>
          </a:xfrm>
          <a:prstGeom prst="rect">
            <a:avLst/>
          </a:prstGeom>
          <a:noFill/>
        </p:spPr>
        <p:txBody>
          <a:bodyPr wrap="square" anchor="t" lIns="45720" rIns="45720">
            <a:spAutoFit/>
          </a:bodyPr>
          <a:lstStyle/>
          <a:p>
            <a:pPr algn="l">
              <a:lnSpc>
                <a:spcPct val="105000"/>
              </a:lnSpc>
              <a:spcAft>
                <a:spcPts val="1400"/>
              </a:spcAft>
              <a:defRPr sz="2400" b="1" i="0">
                <a:solidFill>
                  <a:srgbClr val="0071E3"/>
                </a:solidFill>
                <a:latin typeface="Helvetica Neue"/>
              </a:defRPr>
            </a:pPr>
            <a:r>
              <a:t>Shard Size</a:t>
            </a:r>
          </a:p>
          <a:p>
            <a:pPr algn="l">
              <a:lnSpc>
                <a:spcPct val="135000"/>
              </a:lnSpc>
              <a:spcAft>
                <a:spcPts val="600"/>
              </a:spcAft>
              <a:defRPr sz="2000" b="0" i="0">
                <a:solidFill>
                  <a:srgbClr val="A1A1A6"/>
                </a:solidFill>
                <a:latin typeface="Helvetica Neue"/>
              </a:defRPr>
            </a:pPr>
            <a:r>
              <a:t>33.75 GB per node at 200 nodes — well under the 256 GB ceiling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502920"/>
            <a:ext cx="10362895" cy="914400"/>
          </a:xfrm>
          <a:prstGeom prst="rect">
            <a:avLst/>
          </a:prstGeom>
          <a:noFill/>
        </p:spPr>
        <p:txBody>
          <a:bodyPr wrap="square" anchor="t" lIns="45720" rIns="45720">
            <a:spAutoFit/>
          </a:bodyPr>
          <a:lstStyle/>
          <a:p>
            <a:pPr algn="l">
              <a:lnSpc>
                <a:spcPct val="105000"/>
              </a:lnSpc>
              <a:spcAft>
                <a:spcPts val="600"/>
              </a:spcAft>
              <a:defRPr sz="4000" b="1" i="0">
                <a:solidFill>
                  <a:srgbClr val="F5F5F7"/>
                </a:solidFill>
                <a:latin typeface="Helvetica Neue"/>
              </a:defRPr>
            </a:pPr>
            <a:r>
              <a:t>An Honest Complication</a:t>
            </a:r>
          </a:p>
        </p:txBody>
      </p:sp>
      <p:sp>
        <p:nvSpPr>
          <p:cNvPr id="3" name="Rectangle 2"/>
          <p:cNvSpPr/>
          <p:nvPr/>
        </p:nvSpPr>
        <p:spPr>
          <a:xfrm>
            <a:off x="914400" y="1417320"/>
            <a:ext cx="822960" cy="54864"/>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4206240"/>
          </a:xfrm>
          <a:prstGeom prst="rect">
            <a:avLst/>
          </a:prstGeom>
          <a:noFill/>
        </p:spPr>
        <p:txBody>
          <a:bodyPr wrap="square" anchor="t" lIns="45720" rIns="45720">
            <a:spAutoFit/>
          </a:bodyPr>
          <a:lstStyle/>
          <a:p>
            <a:pPr algn="l">
              <a:lnSpc>
                <a:spcPct val="120000"/>
              </a:lnSpc>
              <a:spcAft>
                <a:spcPts val="2600"/>
              </a:spcAft>
              <a:defRPr sz="2800" b="0" i="0">
                <a:solidFill>
                  <a:srgbClr val="F5F5F7"/>
                </a:solidFill>
                <a:latin typeface="Helvetica Neue"/>
              </a:defRPr>
            </a:pPr>
            <a:r>
              <a:t>—  Naive, single loop: 0.014s on the toy 8,000-word corpus</a:t>
            </a:r>
          </a:p>
          <a:p>
            <a:pPr algn="l">
              <a:lnSpc>
                <a:spcPct val="120000"/>
              </a:lnSpc>
              <a:spcAft>
                <a:spcPts val="2600"/>
              </a:spcAft>
              <a:defRPr sz="2800" b="0" i="0">
                <a:solidFill>
                  <a:srgbClr val="F5F5F7"/>
                </a:solidFill>
                <a:latin typeface="Helvetica Neue"/>
              </a:defRPr>
            </a:pPr>
            <a:r>
              <a:t>—  Partitioned, 8 cores: 0.14s — slower, not faster</a:t>
            </a:r>
          </a:p>
          <a:p>
            <a:pPr algn="l">
              <a:lnSpc>
                <a:spcPct val="120000"/>
              </a:lnSpc>
              <a:spcAft>
                <a:spcPts val="2600"/>
              </a:spcAft>
              <a:defRPr sz="2800" b="0" i="0">
                <a:solidFill>
                  <a:srgbClr val="F5F5F7"/>
                </a:solidFill>
                <a:latin typeface="Helvetica Neue"/>
              </a:defRPr>
            </a:pPr>
            <a:r>
              <a:t>—  Distribution pays off only once local work outweighs coordination cost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502920"/>
            <a:ext cx="10362895" cy="914400"/>
          </a:xfrm>
          <a:prstGeom prst="rect">
            <a:avLst/>
          </a:prstGeom>
          <a:noFill/>
        </p:spPr>
        <p:txBody>
          <a:bodyPr wrap="square" anchor="t" lIns="45720" rIns="45720">
            <a:spAutoFit/>
          </a:bodyPr>
          <a:lstStyle/>
          <a:p>
            <a:pPr algn="l">
              <a:lnSpc>
                <a:spcPct val="105000"/>
              </a:lnSpc>
              <a:spcAft>
                <a:spcPts val="600"/>
              </a:spcAft>
              <a:defRPr sz="3800" b="1" i="0">
                <a:solidFill>
                  <a:srgbClr val="F5F5F7"/>
                </a:solidFill>
                <a:latin typeface="Helvetica Neue"/>
              </a:defRPr>
            </a:pPr>
            <a:r>
              <a:t>Where MapReduce Falls Short</a:t>
            </a:r>
          </a:p>
        </p:txBody>
      </p:sp>
      <p:sp>
        <p:nvSpPr>
          <p:cNvPr id="3" name="Rounded Rectangle 2"/>
          <p:cNvSpPr/>
          <p:nvPr/>
        </p:nvSpPr>
        <p:spPr>
          <a:xfrm>
            <a:off x="914400" y="1737360"/>
            <a:ext cx="4965192" cy="4206240"/>
          </a:xfrm>
          <a:prstGeom prst="roundRect">
            <a:avLst>
              <a:gd name="adj" fmla="val 7000"/>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25880" y="2103120"/>
            <a:ext cx="4142232" cy="3474720"/>
          </a:xfrm>
          <a:prstGeom prst="rect">
            <a:avLst/>
          </a:prstGeom>
          <a:noFill/>
        </p:spPr>
        <p:txBody>
          <a:bodyPr wrap="square" anchor="t" lIns="45720" rIns="45720">
            <a:spAutoFit/>
          </a:bodyPr>
          <a:lstStyle/>
          <a:p>
            <a:pPr algn="l">
              <a:lnSpc>
                <a:spcPct val="105000"/>
              </a:lnSpc>
              <a:spcAft>
                <a:spcPts val="1400"/>
              </a:spcAft>
              <a:defRPr sz="2400" b="1" i="0">
                <a:solidFill>
                  <a:srgbClr val="0071E3"/>
                </a:solidFill>
                <a:latin typeface="Helvetica Neue"/>
              </a:defRPr>
            </a:pPr>
            <a:r>
              <a:t>The Honest Weak Spot</a:t>
            </a:r>
          </a:p>
          <a:p>
            <a:pPr algn="l">
              <a:lnSpc>
                <a:spcPct val="135000"/>
              </a:lnSpc>
              <a:spcAft>
                <a:spcPts val="600"/>
              </a:spcAft>
              <a:defRPr sz="2000" b="0" i="0">
                <a:solidFill>
                  <a:srgbClr val="A1A1A6"/>
                </a:solidFill>
                <a:latin typeface="Helvetica Neue"/>
              </a:defRPr>
            </a:pPr>
            <a:r>
              <a:t>Every stage round-trips through disk — 100 passes means 100 round-trips</a:t>
            </a:r>
          </a:p>
        </p:txBody>
      </p:sp>
      <p:sp>
        <p:nvSpPr>
          <p:cNvPr id="5" name="Rounded Rectangle 4"/>
          <p:cNvSpPr/>
          <p:nvPr/>
        </p:nvSpPr>
        <p:spPr>
          <a:xfrm>
            <a:off x="6309360" y="1737360"/>
            <a:ext cx="4965192" cy="4206240"/>
          </a:xfrm>
          <a:prstGeom prst="roundRect">
            <a:avLst>
              <a:gd name="adj" fmla="val 7000"/>
            </a:avLst>
          </a:prstGeom>
          <a:solidFill>
            <a:srgbClr val="1D1D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20840" y="2103120"/>
            <a:ext cx="4142232" cy="3474720"/>
          </a:xfrm>
          <a:prstGeom prst="rect">
            <a:avLst/>
          </a:prstGeom>
          <a:noFill/>
        </p:spPr>
        <p:txBody>
          <a:bodyPr wrap="square" anchor="t" lIns="45720" rIns="45720">
            <a:spAutoFit/>
          </a:bodyPr>
          <a:lstStyle/>
          <a:p>
            <a:pPr algn="l">
              <a:lnSpc>
                <a:spcPct val="105000"/>
              </a:lnSpc>
              <a:spcAft>
                <a:spcPts val="1400"/>
              </a:spcAft>
              <a:defRPr sz="2400" b="1" i="0">
                <a:solidFill>
                  <a:srgbClr val="0071E3"/>
                </a:solidFill>
                <a:latin typeface="Helvetica Neue"/>
              </a:defRPr>
            </a:pPr>
            <a:r>
              <a:t>The Pattern Lives On</a:t>
            </a:r>
          </a:p>
          <a:p>
            <a:pPr algn="l">
              <a:lnSpc>
                <a:spcPct val="135000"/>
              </a:lnSpc>
              <a:spcAft>
                <a:spcPts val="600"/>
              </a:spcAft>
              <a:defRPr sz="2000" b="0" i="0">
                <a:solidFill>
                  <a:srgbClr val="A1A1A6"/>
                </a:solidFill>
                <a:latin typeface="Helvetica Neue"/>
              </a:defRPr>
            </a:pPr>
            <a:r>
              <a:t>Chunk → embed → route → assemble is map → shuffle → reduce for AI pipelines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1371600" y="2011680"/>
            <a:ext cx="9448495" cy="2834640"/>
          </a:xfrm>
          <a:prstGeom prst="rect">
            <a:avLst/>
          </a:prstGeom>
          <a:noFill/>
        </p:spPr>
        <p:txBody>
          <a:bodyPr wrap="square" anchor="ctr" lIns="45720" rIns="45720">
            <a:spAutoFit/>
          </a:bodyPr>
          <a:lstStyle/>
          <a:p>
            <a:pPr algn="ctr">
              <a:lnSpc>
                <a:spcPct val="115000"/>
              </a:lnSpc>
              <a:spcAft>
                <a:spcPts val="600"/>
              </a:spcAft>
              <a:defRPr sz="5400" b="1" i="0">
                <a:solidFill>
                  <a:srgbClr val="F5F5F7"/>
                </a:solidFill>
                <a:latin typeface="Helvetica Neue"/>
              </a:defRPr>
            </a:pPr>
            <a:r>
              <a:t>The pattern outlasts the engine.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TextBox 1"/>
          <p:cNvSpPr txBox="1"/>
          <p:nvPr/>
        </p:nvSpPr>
        <p:spPr>
          <a:xfrm>
            <a:off x="914400" y="2011680"/>
            <a:ext cx="10362895" cy="2926080"/>
          </a:xfrm>
          <a:prstGeom prst="rect">
            <a:avLst/>
          </a:prstGeom>
          <a:noFill/>
        </p:spPr>
        <p:txBody>
          <a:bodyPr wrap="square" anchor="ctr" lIns="45720" rIns="45720">
            <a:spAutoFit/>
          </a:bodyPr>
          <a:lstStyle/>
          <a:p>
            <a:pPr algn="ctr">
              <a:lnSpc>
                <a:spcPct val="100000"/>
              </a:lnSpc>
              <a:spcAft>
                <a:spcPts val="1800"/>
              </a:spcAft>
              <a:defRPr sz="7200" b="1" i="0">
                <a:solidFill>
                  <a:srgbClr val="F5F5F7"/>
                </a:solidFill>
                <a:latin typeface="Helvetica Neue"/>
              </a:defRPr>
            </a:pPr>
            <a:r>
              <a:t>Thank you.</a:t>
            </a:r>
          </a:p>
          <a:p>
            <a:pPr algn="ctr">
              <a:lnSpc>
                <a:spcPct val="105000"/>
              </a:lnSpc>
              <a:spcAft>
                <a:spcPts val="1400"/>
              </a:spcAft>
              <a:defRPr sz="2600" b="0" i="0">
                <a:solidFill>
                  <a:srgbClr val="A1A1A6"/>
                </a:solidFill>
                <a:latin typeface="Helvetica Neue"/>
              </a:defRPr>
            </a:pPr>
            <a:r>
              <a:t>Next: where a real cluster's shuffle step spends its time</a:t>
            </a:r>
          </a:p>
          <a:p>
            <a:pPr algn="ctr">
              <a:lnSpc>
                <a:spcPct val="105000"/>
              </a:lnSpc>
              <a:spcAft>
                <a:spcPts val="600"/>
              </a:spcAft>
              <a:defRPr sz="1800" b="0" i="0">
                <a:solidFill>
                  <a:srgbClr val="A1A1A6"/>
                </a:solidFill>
                <a:latin typeface="Helvetica Neue"/>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
      <vt:lpstr/>
      <vt:lpstr/>
      <vt:lpstr/>
      <vt:lpstr/>
      <vt:lpstr/>
      <vt:lpstr/>
      <vt:lpstr/>
      <vt:lpstr/>
      <vt:lpstr/>
      <vt:lpstr/>
      <vt:lpstr/>
      <vt:lpstr/>
      <vt:lpstr/>
      <vt:lpstr/>
      <vt:lpstr/>
      <vt:lpstr/>
      <vt:lpstr/>
      <vt:lpstr/>
      <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Template — Apple Keynote Style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